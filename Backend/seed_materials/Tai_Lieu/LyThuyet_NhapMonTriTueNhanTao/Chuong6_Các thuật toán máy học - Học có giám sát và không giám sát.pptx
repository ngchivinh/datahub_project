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  <p:sldMasterId id="2147483660" r:id="rId2"/>
  </p:sldMasterIdLst>
  <p:notesMasterIdLst>
    <p:notesMasterId r:id="rId41"/>
  </p:notesMasterIdLst>
  <p:sldIdLst>
    <p:sldId id="397" r:id="rId3"/>
    <p:sldId id="256" r:id="rId4"/>
    <p:sldId id="300" r:id="rId5"/>
    <p:sldId id="314" r:id="rId6"/>
    <p:sldId id="299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7" r:id="rId17"/>
    <p:sldId id="272" r:id="rId18"/>
    <p:sldId id="273" r:id="rId19"/>
    <p:sldId id="282" r:id="rId20"/>
    <p:sldId id="304" r:id="rId21"/>
    <p:sldId id="303" r:id="rId22"/>
    <p:sldId id="286" r:id="rId23"/>
    <p:sldId id="287" r:id="rId24"/>
    <p:sldId id="291" r:id="rId25"/>
    <p:sldId id="294" r:id="rId26"/>
    <p:sldId id="295" r:id="rId27"/>
    <p:sldId id="292" r:id="rId28"/>
    <p:sldId id="296" r:id="rId29"/>
    <p:sldId id="305" r:id="rId30"/>
    <p:sldId id="297" r:id="rId31"/>
    <p:sldId id="293" r:id="rId32"/>
    <p:sldId id="306" r:id="rId33"/>
    <p:sldId id="307" r:id="rId34"/>
    <p:sldId id="308" r:id="rId35"/>
    <p:sldId id="309" r:id="rId36"/>
    <p:sldId id="310" r:id="rId37"/>
    <p:sldId id="311" r:id="rId38"/>
    <p:sldId id="312" r:id="rId39"/>
    <p:sldId id="313" r:id="rId40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59" d="100"/>
          <a:sy n="59" d="100"/>
        </p:scale>
        <p:origin x="1428" y="48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slide" Target="slides/slide24.xml"/><Relationship Id="rId39" Type="http://schemas.openxmlformats.org/officeDocument/2006/relationships/slide" Target="slides/slide37.xml"/><Relationship Id="rId21" Type="http://schemas.openxmlformats.org/officeDocument/2006/relationships/slide" Target="slides/slide19.xml"/><Relationship Id="rId34" Type="http://schemas.openxmlformats.org/officeDocument/2006/relationships/slide" Target="slides/slide32.xml"/><Relationship Id="rId42" Type="http://schemas.openxmlformats.org/officeDocument/2006/relationships/presProps" Target="presProps.xml"/><Relationship Id="rId7" Type="http://schemas.openxmlformats.org/officeDocument/2006/relationships/slide" Target="slides/slide5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9" Type="http://schemas.openxmlformats.org/officeDocument/2006/relationships/slide" Target="slides/slide27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slide" Target="slides/slide22.xml"/><Relationship Id="rId32" Type="http://schemas.openxmlformats.org/officeDocument/2006/relationships/slide" Target="slides/slide30.xml"/><Relationship Id="rId37" Type="http://schemas.openxmlformats.org/officeDocument/2006/relationships/slide" Target="slides/slide35.xml"/><Relationship Id="rId40" Type="http://schemas.openxmlformats.org/officeDocument/2006/relationships/slide" Target="slides/slide38.xml"/><Relationship Id="rId45" Type="http://schemas.openxmlformats.org/officeDocument/2006/relationships/tableStyles" Target="tableStyles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slide" Target="slides/slide26.xml"/><Relationship Id="rId36" Type="http://schemas.openxmlformats.org/officeDocument/2006/relationships/slide" Target="slides/slide34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31" Type="http://schemas.openxmlformats.org/officeDocument/2006/relationships/slide" Target="slides/slide29.xml"/><Relationship Id="rId44" Type="http://schemas.openxmlformats.org/officeDocument/2006/relationships/theme" Target="theme/theme1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slide" Target="slides/slide25.xml"/><Relationship Id="rId30" Type="http://schemas.openxmlformats.org/officeDocument/2006/relationships/slide" Target="slides/slide28.xml"/><Relationship Id="rId35" Type="http://schemas.openxmlformats.org/officeDocument/2006/relationships/slide" Target="slides/slide33.xml"/><Relationship Id="rId43" Type="http://schemas.openxmlformats.org/officeDocument/2006/relationships/viewProps" Target="viewProps.xml"/><Relationship Id="rId8" Type="http://schemas.openxmlformats.org/officeDocument/2006/relationships/slide" Target="slides/slide6.xml"/><Relationship Id="rId3" Type="http://schemas.openxmlformats.org/officeDocument/2006/relationships/slide" Target="slides/slide1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slide" Target="slides/slide23.xml"/><Relationship Id="rId33" Type="http://schemas.openxmlformats.org/officeDocument/2006/relationships/slide" Target="slides/slide31.xml"/><Relationship Id="rId38" Type="http://schemas.openxmlformats.org/officeDocument/2006/relationships/slide" Target="slides/slide36.xml"/><Relationship Id="rId20" Type="http://schemas.openxmlformats.org/officeDocument/2006/relationships/slide" Target="slides/slide18.xml"/><Relationship Id="rId41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889BE7D-24BA-45C9-BB4D-D69FB0F5D523}" type="datetimeFigureOut">
              <a:rPr lang="en-US" smtClean="0"/>
              <a:pPr/>
              <a:t>10/20/2024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EAE0254-793D-4797-81EF-C32947FC1859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2886188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2014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060730-990D-4E06-86F2-70AB132917F6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5534332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2014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060730-990D-4E06-86F2-70AB132917F6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3307556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2014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060730-990D-4E06-86F2-70AB132917F6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1629136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2014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060730-990D-4E06-86F2-70AB132917F6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8355044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2014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060730-990D-4E06-86F2-70AB132917F6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929483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2014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060730-990D-4E06-86F2-70AB132917F6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4859874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2014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060730-990D-4E06-86F2-70AB132917F6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1962199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2014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060730-990D-4E06-86F2-70AB132917F6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6563661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2014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060730-990D-4E06-86F2-70AB132917F6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6374996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2014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060730-990D-4E06-86F2-70AB132917F6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1238744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2014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060730-990D-4E06-86F2-70AB132917F6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4181774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>
            <a:extLst>
              <a:ext uri="{FF2B5EF4-FFF2-40B4-BE49-F238E27FC236}">
                <a16:creationId xmlns:a16="http://schemas.microsoft.com/office/drawing/2014/main" id="{1F0D039D-F854-F10E-83DB-10DEBE9A32A3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5749"/>
          <a:stretch>
            <a:fillRect/>
          </a:stretch>
        </p:blipFill>
        <p:spPr bwMode="auto">
          <a:xfrm>
            <a:off x="5969000" y="3443008"/>
            <a:ext cx="3175000" cy="341499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" name="Picture 7">
            <a:extLst>
              <a:ext uri="{FF2B5EF4-FFF2-40B4-BE49-F238E27FC236}">
                <a16:creationId xmlns:a16="http://schemas.microsoft.com/office/drawing/2014/main" id="{5900C038-3301-4099-CA63-62E89A98624A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70432" y="232522"/>
            <a:ext cx="2030557" cy="83623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" name="文本框 4">
            <a:extLst>
              <a:ext uri="{FF2B5EF4-FFF2-40B4-BE49-F238E27FC236}">
                <a16:creationId xmlns:a16="http://schemas.microsoft.com/office/drawing/2014/main" id="{ECA2B33B-5251-ABFB-D9E0-F012617DFDDC}"/>
              </a:ext>
            </a:extLst>
          </p:cNvPr>
          <p:cNvSpPr txBox="1"/>
          <p:nvPr userDrawn="1"/>
        </p:nvSpPr>
        <p:spPr>
          <a:xfrm>
            <a:off x="3578714" y="1103916"/>
            <a:ext cx="2090637" cy="290464"/>
          </a:xfrm>
          <a:prstGeom prst="rect">
            <a:avLst/>
          </a:prstGeom>
          <a:noFill/>
        </p:spPr>
        <p:txBody>
          <a:bodyPr wrap="none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 eaLnBrk="1" hangingPunct="1">
              <a:lnSpc>
                <a:spcPct val="118000"/>
              </a:lnSpc>
              <a:buClr>
                <a:srgbClr val="000000"/>
              </a:buClr>
              <a:buSzPct val="100000"/>
              <a:buFont typeface="Times New Roman" panose="02020603050405020304" pitchFamily="18" charset="0"/>
              <a:buNone/>
              <a:defRPr/>
            </a:pPr>
            <a:r>
              <a:rPr lang="en-US" altLang="zh-CN" sz="1165" b="1" u="sng">
                <a:solidFill>
                  <a:srgbClr val="D51C29"/>
                </a:solidFill>
                <a:latin typeface="Calibri" panose="020F0502020204030204" pitchFamily="34" charset="0"/>
              </a:rPr>
              <a:t>KHOA CÔNG NGHỆ THÔNG TIN</a:t>
            </a:r>
          </a:p>
        </p:txBody>
      </p:sp>
      <p:pic>
        <p:nvPicPr>
          <p:cNvPr id="5" name="图片 2">
            <a:extLst>
              <a:ext uri="{FF2B5EF4-FFF2-40B4-BE49-F238E27FC236}">
                <a16:creationId xmlns:a16="http://schemas.microsoft.com/office/drawing/2014/main" id="{DB25FD48-04B1-55A1-2218-AABBCF582040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" y="1522600"/>
            <a:ext cx="1659659" cy="25997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6" name="图片 1">
            <a:extLst>
              <a:ext uri="{FF2B5EF4-FFF2-40B4-BE49-F238E27FC236}">
                <a16:creationId xmlns:a16="http://schemas.microsoft.com/office/drawing/2014/main" id="{88E2DED0-2F74-D900-3F07-ECD41D36906F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484467" y="0"/>
            <a:ext cx="659534" cy="89226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7927B826-0ED4-D845-037D-B5A514D0A436}"/>
              </a:ext>
            </a:extLst>
          </p:cNvPr>
          <p:cNvSpPr/>
          <p:nvPr userDrawn="1"/>
        </p:nvSpPr>
        <p:spPr>
          <a:xfrm>
            <a:off x="0" y="0"/>
            <a:ext cx="9144000" cy="6858000"/>
          </a:xfrm>
          <a:prstGeom prst="rect">
            <a:avLst/>
          </a:prstGeom>
          <a:noFill/>
          <a:ln w="571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lnSpc>
                <a:spcPct val="118000"/>
              </a:lnSpc>
              <a:buClr>
                <a:srgbClr val="000000"/>
              </a:buClr>
              <a:buSzPct val="100000"/>
              <a:buFont typeface="Times New Roman" panose="02020603050405020304" pitchFamily="18" charset="0"/>
              <a:buNone/>
              <a:defRPr/>
            </a:pPr>
            <a:endParaRPr lang="en-US" sz="1747"/>
          </a:p>
        </p:txBody>
      </p:sp>
    </p:spTree>
    <p:extLst>
      <p:ext uri="{BB962C8B-B14F-4D97-AF65-F5344CB8AC3E}">
        <p14:creationId xmlns:p14="http://schemas.microsoft.com/office/powerpoint/2010/main" val="1860660022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altLang="en-US">
                <a:solidFill>
                  <a:srgbClr val="000000"/>
                </a:solidFill>
              </a:rPr>
              <a:t>2014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E38A41B-7344-47A7-A209-AA5A6E081AA3}" type="slidenum">
              <a:rPr lang="en-US" altLang="en-US">
                <a:solidFill>
                  <a:srgbClr val="000000"/>
                </a:solidFill>
              </a:rPr>
              <a:pPr/>
              <a:t>‹#›</a:t>
            </a:fld>
            <a:endParaRPr lang="en-US" altLang="en-US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332899603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altLang="en-US">
                <a:solidFill>
                  <a:srgbClr val="000000"/>
                </a:solidFill>
              </a:rPr>
              <a:t>2014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8CFF4A13-F9F5-4F0A-8104-EE93C1BC8C25}" type="slidenum">
              <a:rPr lang="en-US" altLang="en-US">
                <a:solidFill>
                  <a:srgbClr val="000000"/>
                </a:solidFill>
              </a:rPr>
              <a:pPr/>
              <a:t>‹#›</a:t>
            </a:fld>
            <a:endParaRPr lang="en-US" altLang="en-US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53273976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altLang="en-US">
                <a:solidFill>
                  <a:srgbClr val="000000"/>
                </a:solidFill>
              </a:rPr>
              <a:t>2014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386D8FF2-9D8C-4EC6-B2C4-C24B37AA32AE}" type="slidenum">
              <a:rPr lang="en-US" altLang="en-US">
                <a:solidFill>
                  <a:srgbClr val="000000"/>
                </a:solidFill>
              </a:rPr>
              <a:pPr/>
              <a:t>‹#›</a:t>
            </a:fld>
            <a:endParaRPr lang="en-US" altLang="en-US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211686557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58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altLang="en-US">
                <a:solidFill>
                  <a:srgbClr val="000000"/>
                </a:solidFill>
              </a:rPr>
              <a:t>2014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837CF05E-FA38-40FC-A422-1F1F39CA163C}" type="slidenum">
              <a:rPr lang="en-US" altLang="en-US">
                <a:solidFill>
                  <a:srgbClr val="000000"/>
                </a:solidFill>
              </a:rPr>
              <a:pPr/>
              <a:t>‹#›</a:t>
            </a:fld>
            <a:endParaRPr lang="en-US" altLang="en-US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117790461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altLang="en-US">
                <a:solidFill>
                  <a:srgbClr val="000000"/>
                </a:solidFill>
              </a:rPr>
              <a:t>2014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22FF9442-1870-422F-AD6E-2C3D94DC4FB3}" type="slidenum">
              <a:rPr lang="en-US" altLang="en-US">
                <a:solidFill>
                  <a:srgbClr val="000000"/>
                </a:solidFill>
              </a:rPr>
              <a:pPr/>
              <a:t>‹#›</a:t>
            </a:fld>
            <a:endParaRPr lang="en-US" altLang="en-US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928385337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altLang="en-US">
                <a:solidFill>
                  <a:srgbClr val="000000"/>
                </a:solidFill>
              </a:rPr>
              <a:t>2014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84EE84F1-ED8B-400F-8317-9B5BC78899D4}" type="slidenum">
              <a:rPr lang="en-US" altLang="en-US">
                <a:solidFill>
                  <a:srgbClr val="000000"/>
                </a:solidFill>
              </a:rPr>
              <a:pPr/>
              <a:t>‹#›</a:t>
            </a:fld>
            <a:endParaRPr lang="en-US" altLang="en-US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460404504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altLang="en-US">
                <a:solidFill>
                  <a:srgbClr val="000000"/>
                </a:solidFill>
              </a:rPr>
              <a:t>2014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99F28756-B31F-4EB3-9CB3-CC474DFD3A9D}" type="slidenum">
              <a:rPr lang="en-US" altLang="en-US">
                <a:solidFill>
                  <a:srgbClr val="000000"/>
                </a:solidFill>
              </a:rPr>
              <a:pPr/>
              <a:t>‹#›</a:t>
            </a:fld>
            <a:endParaRPr lang="en-US" altLang="en-US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94926406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altLang="en-US">
                <a:solidFill>
                  <a:srgbClr val="000000"/>
                </a:solidFill>
              </a:rPr>
              <a:t>2014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CB7A2CB8-7689-4EDB-B107-C8D5A710E57E}" type="slidenum">
              <a:rPr lang="en-US" altLang="en-US">
                <a:solidFill>
                  <a:srgbClr val="000000"/>
                </a:solidFill>
              </a:rPr>
              <a:pPr/>
              <a:t>‹#›</a:t>
            </a:fld>
            <a:endParaRPr lang="en-US" altLang="en-US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275381943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altLang="en-US">
                <a:solidFill>
                  <a:srgbClr val="000000"/>
                </a:solidFill>
              </a:rPr>
              <a:t>2014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139A316-C6ED-4EDE-980A-E91349F98894}" type="slidenum">
              <a:rPr lang="en-US" altLang="en-US">
                <a:solidFill>
                  <a:srgbClr val="000000"/>
                </a:solidFill>
              </a:rPr>
              <a:pPr/>
              <a:t>‹#›</a:t>
            </a:fld>
            <a:endParaRPr lang="en-US" altLang="en-US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551339548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altLang="en-US">
                <a:solidFill>
                  <a:srgbClr val="000000"/>
                </a:solidFill>
              </a:rPr>
              <a:t>2014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25F7BAC0-25C4-43A6-AC85-408C6E8EFAD0}" type="slidenum">
              <a:rPr lang="en-US" altLang="en-US">
                <a:solidFill>
                  <a:srgbClr val="000000"/>
                </a:solidFill>
              </a:rPr>
              <a:pPr/>
              <a:t>‹#›</a:t>
            </a:fld>
            <a:endParaRPr lang="en-US" altLang="en-US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11265613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15100" y="609600"/>
            <a:ext cx="1943100" cy="54864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5800" y="609600"/>
            <a:ext cx="5676900" cy="548640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altLang="en-US">
                <a:solidFill>
                  <a:srgbClr val="000000"/>
                </a:solidFill>
              </a:rPr>
              <a:t>2014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39C4D762-185D-4C7E-87F5-8B1307D93292}" type="slidenum">
              <a:rPr lang="en-US" altLang="en-US">
                <a:solidFill>
                  <a:srgbClr val="000000"/>
                </a:solidFill>
              </a:rPr>
              <a:pPr/>
              <a:t>‹#›</a:t>
            </a:fld>
            <a:endParaRPr lang="en-US" altLang="en-US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0858720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0.xml"/><Relationship Id="rId3" Type="http://schemas.openxmlformats.org/officeDocument/2006/relationships/slideLayout" Target="../slideLayouts/slideLayout15.xml"/><Relationship Id="rId7" Type="http://schemas.openxmlformats.org/officeDocument/2006/relationships/slideLayout" Target="../slideLayouts/slideLayout19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4.xml"/><Relationship Id="rId1" Type="http://schemas.openxmlformats.org/officeDocument/2006/relationships/slideLayout" Target="../slideLayouts/slideLayout13.xml"/><Relationship Id="rId6" Type="http://schemas.openxmlformats.org/officeDocument/2006/relationships/slideLayout" Target="../slideLayouts/slideLayout18.xml"/><Relationship Id="rId11" Type="http://schemas.openxmlformats.org/officeDocument/2006/relationships/slideLayout" Target="../slideLayouts/slideLayout23.xml"/><Relationship Id="rId5" Type="http://schemas.openxmlformats.org/officeDocument/2006/relationships/slideLayout" Target="../slideLayouts/slideLayout17.xml"/><Relationship Id="rId10" Type="http://schemas.openxmlformats.org/officeDocument/2006/relationships/slideLayout" Target="../slideLayouts/slideLayout22.xml"/><Relationship Id="rId4" Type="http://schemas.openxmlformats.org/officeDocument/2006/relationships/slideLayout" Target="../slideLayouts/slideLayout16.xml"/><Relationship Id="rId9" Type="http://schemas.openxmlformats.org/officeDocument/2006/relationships/slideLayout" Target="../slideLayouts/slideLayout2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/>
              <a:t>2014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0060730-990D-4E06-86F2-70AB132917F6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9160536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73" r:id="rId12"/>
  </p:sldLayoutIdLst>
  <p:hf hdr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609600"/>
            <a:ext cx="7772400" cy="1143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title style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1981200"/>
            <a:ext cx="7772400" cy="411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text styles</a:t>
            </a:r>
          </a:p>
          <a:p>
            <a:pPr lvl="1"/>
            <a:r>
              <a:rPr lang="en-US" altLang="en-US"/>
              <a:t>Second level</a:t>
            </a:r>
          </a:p>
          <a:p>
            <a:pPr lvl="2"/>
            <a:r>
              <a:rPr lang="en-US" altLang="en-US"/>
              <a:t>Third level</a:t>
            </a:r>
          </a:p>
          <a:p>
            <a:pPr lvl="3"/>
            <a:r>
              <a:rPr lang="en-US" altLang="en-US"/>
              <a:t>Fourth level</a:t>
            </a:r>
          </a:p>
          <a:p>
            <a:pPr lvl="4"/>
            <a:r>
              <a:rPr lang="en-US" altLang="en-US"/>
              <a:t>Fifth level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/>
            </a:lvl1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>
                <a:solidFill>
                  <a:srgbClr val="000000"/>
                </a:solidFill>
              </a:rPr>
              <a:t>2014</a:t>
            </a:r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/>
            </a:lvl1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fld id="{8061CD67-DBC6-4D00-9E76-AB1995F9DD09}" type="slidenum">
              <a:rPr lang="en-US" altLang="en-US">
                <a:solidFill>
                  <a:srgbClr val="000000"/>
                </a:solidFill>
              </a:rPr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t>‹#›</a:t>
            </a:fld>
            <a:endParaRPr lang="en-US" altLang="en-US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77486710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hf hdr="0"/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5pPr>
      <a:lvl6pPr marL="457200"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6pPr>
      <a:lvl7pPr marL="914400"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7pPr>
      <a:lvl8pPr marL="1371600"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8pPr>
      <a:lvl9pPr marL="1828800"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5pPr>
      <a:lvl6pPr marL="25146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6pPr>
      <a:lvl7pPr marL="29718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7pPr>
      <a:lvl8pPr marL="34290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8pPr>
      <a:lvl9pPr marL="38862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emf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7.jpeg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wmf"/><Relationship Id="rId2" Type="http://schemas.openxmlformats.org/officeDocument/2006/relationships/oleObject" Target="../embeddings/oleObject1.bin"/><Relationship Id="rId1" Type="http://schemas.openxmlformats.org/officeDocument/2006/relationships/slideLayout" Target="../slideLayouts/slideLayout19.xml"/><Relationship Id="rId5" Type="http://schemas.openxmlformats.org/officeDocument/2006/relationships/image" Target="../media/image9.wmf"/><Relationship Id="rId4" Type="http://schemas.openxmlformats.org/officeDocument/2006/relationships/oleObject" Target="../embeddings/oleObject2.bin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9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9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wmf"/><Relationship Id="rId2" Type="http://schemas.openxmlformats.org/officeDocument/2006/relationships/oleObject" Target="../embeddings/oleObject3.bin"/><Relationship Id="rId1" Type="http://schemas.openxmlformats.org/officeDocument/2006/relationships/slideLayout" Target="../slideLayouts/slideLayout1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9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9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hyperlink" Target="http://www.boston.com/news/local/massachusetts/articles/2009/07/22/newly_discovered_image_offers_fresh_insights_about_1848_medical_miracle/" TargetMode="External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9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19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19.xml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.wmf"/><Relationship Id="rId3" Type="http://schemas.openxmlformats.org/officeDocument/2006/relationships/oleObject" Target="../embeddings/oleObject4.bin"/><Relationship Id="rId7" Type="http://schemas.openxmlformats.org/officeDocument/2006/relationships/oleObject" Target="../embeddings/oleObject6.bin"/><Relationship Id="rId12" Type="http://schemas.openxmlformats.org/officeDocument/2006/relationships/image" Target="../media/image18.wmf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16.xml"/><Relationship Id="rId6" Type="http://schemas.openxmlformats.org/officeDocument/2006/relationships/image" Target="../media/image15.wmf"/><Relationship Id="rId11" Type="http://schemas.openxmlformats.org/officeDocument/2006/relationships/oleObject" Target="../embeddings/oleObject8.bin"/><Relationship Id="rId5" Type="http://schemas.openxmlformats.org/officeDocument/2006/relationships/oleObject" Target="../embeddings/oleObject5.bin"/><Relationship Id="rId10" Type="http://schemas.openxmlformats.org/officeDocument/2006/relationships/image" Target="../media/image17.wmf"/><Relationship Id="rId4" Type="http://schemas.openxmlformats.org/officeDocument/2006/relationships/image" Target="../media/image14.wmf"/><Relationship Id="rId9" Type="http://schemas.openxmlformats.org/officeDocument/2006/relationships/oleObject" Target="../embeddings/oleObject7.bin"/></Relationships>
</file>

<file path=ppt/slides/_rels/slide17.xml.rels><?xml version="1.0" encoding="UTF-8" standalone="yes"?>
<Relationships xmlns="http://schemas.openxmlformats.org/package/2006/relationships"><Relationship Id="rId13" Type="http://schemas.openxmlformats.org/officeDocument/2006/relationships/image" Target="../media/image22.wmf"/><Relationship Id="rId18" Type="http://schemas.openxmlformats.org/officeDocument/2006/relationships/oleObject" Target="../embeddings/oleObject17.bin"/><Relationship Id="rId26" Type="http://schemas.openxmlformats.org/officeDocument/2006/relationships/oleObject" Target="../embeddings/oleObject22.bin"/><Relationship Id="rId3" Type="http://schemas.openxmlformats.org/officeDocument/2006/relationships/image" Target="../media/image14.wmf"/><Relationship Id="rId21" Type="http://schemas.openxmlformats.org/officeDocument/2006/relationships/image" Target="../media/image26.wmf"/><Relationship Id="rId34" Type="http://schemas.openxmlformats.org/officeDocument/2006/relationships/oleObject" Target="../embeddings/oleObject30.bin"/><Relationship Id="rId7" Type="http://schemas.openxmlformats.org/officeDocument/2006/relationships/image" Target="../media/image19.wmf"/><Relationship Id="rId12" Type="http://schemas.openxmlformats.org/officeDocument/2006/relationships/oleObject" Target="../embeddings/oleObject14.bin"/><Relationship Id="rId17" Type="http://schemas.openxmlformats.org/officeDocument/2006/relationships/image" Target="../media/image24.wmf"/><Relationship Id="rId25" Type="http://schemas.openxmlformats.org/officeDocument/2006/relationships/oleObject" Target="../embeddings/oleObject21.bin"/><Relationship Id="rId33" Type="http://schemas.openxmlformats.org/officeDocument/2006/relationships/oleObject" Target="../embeddings/oleObject29.bin"/><Relationship Id="rId2" Type="http://schemas.openxmlformats.org/officeDocument/2006/relationships/oleObject" Target="../embeddings/oleObject9.bin"/><Relationship Id="rId16" Type="http://schemas.openxmlformats.org/officeDocument/2006/relationships/oleObject" Target="../embeddings/oleObject16.bin"/><Relationship Id="rId20" Type="http://schemas.openxmlformats.org/officeDocument/2006/relationships/oleObject" Target="../embeddings/oleObject18.bin"/><Relationship Id="rId29" Type="http://schemas.openxmlformats.org/officeDocument/2006/relationships/oleObject" Target="../embeddings/oleObject25.bin"/><Relationship Id="rId1" Type="http://schemas.openxmlformats.org/officeDocument/2006/relationships/slideLayout" Target="../slideLayouts/slideLayout19.xml"/><Relationship Id="rId6" Type="http://schemas.openxmlformats.org/officeDocument/2006/relationships/oleObject" Target="../embeddings/oleObject11.bin"/><Relationship Id="rId11" Type="http://schemas.openxmlformats.org/officeDocument/2006/relationships/image" Target="../media/image21.wmf"/><Relationship Id="rId24" Type="http://schemas.openxmlformats.org/officeDocument/2006/relationships/oleObject" Target="../embeddings/oleObject20.bin"/><Relationship Id="rId32" Type="http://schemas.openxmlformats.org/officeDocument/2006/relationships/oleObject" Target="../embeddings/oleObject28.bin"/><Relationship Id="rId5" Type="http://schemas.openxmlformats.org/officeDocument/2006/relationships/image" Target="../media/image15.wmf"/><Relationship Id="rId15" Type="http://schemas.openxmlformats.org/officeDocument/2006/relationships/image" Target="../media/image23.wmf"/><Relationship Id="rId23" Type="http://schemas.openxmlformats.org/officeDocument/2006/relationships/image" Target="../media/image27.wmf"/><Relationship Id="rId28" Type="http://schemas.openxmlformats.org/officeDocument/2006/relationships/oleObject" Target="../embeddings/oleObject24.bin"/><Relationship Id="rId10" Type="http://schemas.openxmlformats.org/officeDocument/2006/relationships/oleObject" Target="../embeddings/oleObject13.bin"/><Relationship Id="rId19" Type="http://schemas.openxmlformats.org/officeDocument/2006/relationships/image" Target="../media/image25.wmf"/><Relationship Id="rId31" Type="http://schemas.openxmlformats.org/officeDocument/2006/relationships/oleObject" Target="../embeddings/oleObject27.bin"/><Relationship Id="rId4" Type="http://schemas.openxmlformats.org/officeDocument/2006/relationships/oleObject" Target="../embeddings/oleObject10.bin"/><Relationship Id="rId9" Type="http://schemas.openxmlformats.org/officeDocument/2006/relationships/image" Target="../media/image20.wmf"/><Relationship Id="rId14" Type="http://schemas.openxmlformats.org/officeDocument/2006/relationships/oleObject" Target="../embeddings/oleObject15.bin"/><Relationship Id="rId22" Type="http://schemas.openxmlformats.org/officeDocument/2006/relationships/oleObject" Target="../embeddings/oleObject19.bin"/><Relationship Id="rId27" Type="http://schemas.openxmlformats.org/officeDocument/2006/relationships/oleObject" Target="../embeddings/oleObject23.bin"/><Relationship Id="rId30" Type="http://schemas.openxmlformats.org/officeDocument/2006/relationships/oleObject" Target="../embeddings/oleObject26.bin"/><Relationship Id="rId8" Type="http://schemas.openxmlformats.org/officeDocument/2006/relationships/oleObject" Target="../embeddings/oleObject12.bin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9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wmf"/><Relationship Id="rId2" Type="http://schemas.openxmlformats.org/officeDocument/2006/relationships/oleObject" Target="../embeddings/oleObject31.bin"/><Relationship Id="rId1" Type="http://schemas.openxmlformats.org/officeDocument/2006/relationships/slideLayout" Target="../slideLayouts/slideLayout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9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19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9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19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wmf"/><Relationship Id="rId7" Type="http://schemas.openxmlformats.org/officeDocument/2006/relationships/image" Target="../media/image33.wmf"/><Relationship Id="rId2" Type="http://schemas.openxmlformats.org/officeDocument/2006/relationships/oleObject" Target="../embeddings/oleObject32.bin"/><Relationship Id="rId1" Type="http://schemas.openxmlformats.org/officeDocument/2006/relationships/slideLayout" Target="../slideLayouts/slideLayout19.xml"/><Relationship Id="rId6" Type="http://schemas.openxmlformats.org/officeDocument/2006/relationships/oleObject" Target="../embeddings/oleObject34.bin"/><Relationship Id="rId5" Type="http://schemas.openxmlformats.org/officeDocument/2006/relationships/image" Target="../media/image32.wmf"/><Relationship Id="rId4" Type="http://schemas.openxmlformats.org/officeDocument/2006/relationships/oleObject" Target="../embeddings/oleObject33.bin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9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19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hyperlink" Target="http://www.ploscompbiol.org/article/info:doi/10.1371/journal.pcbi.0030116" TargetMode="External"/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19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wmf"/><Relationship Id="rId2" Type="http://schemas.openxmlformats.org/officeDocument/2006/relationships/oleObject" Target="../embeddings/oleObject35.bin"/><Relationship Id="rId1" Type="http://schemas.openxmlformats.org/officeDocument/2006/relationships/slideLayout" Target="../slideLayouts/slideLayout19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9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9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9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9.xml"/></Relationships>
</file>

<file path=ppt/slides/_rels/slide34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39.bin"/><Relationship Id="rId3" Type="http://schemas.openxmlformats.org/officeDocument/2006/relationships/image" Target="../media/image37.wmf"/><Relationship Id="rId7" Type="http://schemas.openxmlformats.org/officeDocument/2006/relationships/image" Target="../media/image39.wmf"/><Relationship Id="rId2" Type="http://schemas.openxmlformats.org/officeDocument/2006/relationships/oleObject" Target="../embeddings/oleObject36.bin"/><Relationship Id="rId1" Type="http://schemas.openxmlformats.org/officeDocument/2006/relationships/slideLayout" Target="../slideLayouts/slideLayout19.xml"/><Relationship Id="rId6" Type="http://schemas.openxmlformats.org/officeDocument/2006/relationships/oleObject" Target="../embeddings/oleObject38.bin"/><Relationship Id="rId11" Type="http://schemas.openxmlformats.org/officeDocument/2006/relationships/image" Target="../media/image41.wmf"/><Relationship Id="rId5" Type="http://schemas.openxmlformats.org/officeDocument/2006/relationships/image" Target="../media/image38.wmf"/><Relationship Id="rId10" Type="http://schemas.openxmlformats.org/officeDocument/2006/relationships/oleObject" Target="../embeddings/oleObject40.bin"/><Relationship Id="rId4" Type="http://schemas.openxmlformats.org/officeDocument/2006/relationships/oleObject" Target="../embeddings/oleObject37.bin"/><Relationship Id="rId9" Type="http://schemas.openxmlformats.org/officeDocument/2006/relationships/image" Target="../media/image40.wmf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9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9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9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Title 1">
            <a:extLst>
              <a:ext uri="{FF2B5EF4-FFF2-40B4-BE49-F238E27FC236}">
                <a16:creationId xmlns:a16="http://schemas.microsoft.com/office/drawing/2014/main" id="{8BA12DEF-55F4-33FD-8EE8-F461AE59CC1F}"/>
              </a:ext>
            </a:extLst>
          </p:cNvPr>
          <p:cNvSpPr>
            <a:spLocks noGrp="1" noChangeArrowheads="1"/>
          </p:cNvSpPr>
          <p:nvPr>
            <p:ph type="ctrTitle" idx="4294967295"/>
          </p:nvPr>
        </p:nvSpPr>
        <p:spPr>
          <a:xfrm>
            <a:off x="609600" y="1344706"/>
            <a:ext cx="8153399" cy="4303059"/>
          </a:xfrm>
        </p:spPr>
        <p:txBody>
          <a:bodyPr/>
          <a:lstStyle/>
          <a:p>
            <a:pPr eaLnBrk="1" hangingPunct="1"/>
            <a:r>
              <a:rPr lang="en-US" altLang="en-US" dirty="0"/>
              <a:t>BÀI 7 –THUẬT TOÁN MÁY HỌC – </a:t>
            </a:r>
            <a:br>
              <a:rPr lang="en-US" altLang="en-US" dirty="0"/>
            </a:br>
            <a:r>
              <a:rPr lang="en-US" altLang="en-US" dirty="0"/>
              <a:t>HỌC CÓ/KHÔNG CÓ GIÁM SÁT</a:t>
            </a:r>
            <a:endParaRPr lang="en-US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2014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060730-990D-4E06-86F2-70AB132917F6}" type="slidenum">
              <a:rPr lang="en-US" smtClean="0"/>
              <a:pPr/>
              <a:t>2</a:t>
            </a:fld>
            <a:endParaRPr lang="en-US"/>
          </a:p>
        </p:txBody>
      </p:sp>
      <p:sp>
        <p:nvSpPr>
          <p:cNvPr id="5" name="AutoShape 2"/>
          <p:cNvSpPr>
            <a:spLocks noChangeArrowheads="1"/>
          </p:cNvSpPr>
          <p:nvPr/>
        </p:nvSpPr>
        <p:spPr bwMode="auto">
          <a:xfrm>
            <a:off x="304800" y="152400"/>
            <a:ext cx="8534400" cy="1981200"/>
          </a:xfrm>
          <a:prstGeom prst="roundRect">
            <a:avLst>
              <a:gd name="adj" fmla="val 16667"/>
            </a:avLst>
          </a:prstGeom>
          <a:solidFill>
            <a:srgbClr val="FFCCFF"/>
          </a:solidFill>
          <a:ln w="34925">
            <a:solidFill>
              <a:srgbClr val="FF3300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sz="2400">
              <a:solidFill>
                <a:srgbClr val="000000"/>
              </a:solidFill>
            </a:endParaRPr>
          </a:p>
        </p:txBody>
      </p:sp>
      <p:sp>
        <p:nvSpPr>
          <p:cNvPr id="6" name="AutoShape 3"/>
          <p:cNvSpPr>
            <a:spLocks noChangeArrowheads="1"/>
          </p:cNvSpPr>
          <p:nvPr/>
        </p:nvSpPr>
        <p:spPr bwMode="auto">
          <a:xfrm>
            <a:off x="304800" y="2209800"/>
            <a:ext cx="8534400" cy="3657600"/>
          </a:xfrm>
          <a:prstGeom prst="roundRect">
            <a:avLst>
              <a:gd name="adj" fmla="val 16667"/>
            </a:avLst>
          </a:prstGeom>
          <a:noFill/>
          <a:ln w="34925">
            <a:solidFill>
              <a:srgbClr val="FF33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sz="2400">
              <a:solidFill>
                <a:srgbClr val="000000"/>
              </a:solidFill>
            </a:endParaRPr>
          </a:p>
        </p:txBody>
      </p:sp>
      <p:sp>
        <p:nvSpPr>
          <p:cNvPr id="7" name="Rectangle 4"/>
          <p:cNvSpPr>
            <a:spLocks noChangeArrowheads="1"/>
          </p:cNvSpPr>
          <p:nvPr/>
        </p:nvSpPr>
        <p:spPr bwMode="auto">
          <a:xfrm>
            <a:off x="762000" y="228600"/>
            <a:ext cx="7772400" cy="1600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/>
          <a:lstStyle>
            <a:lvl1pPr algn="ctr">
              <a:defRPr sz="4400">
                <a:solidFill>
                  <a:schemeClr val="tx2"/>
                </a:solidFill>
                <a:latin typeface="Times New Roman" pitchFamily="18" charset="0"/>
              </a:defRPr>
            </a:lvl1pPr>
            <a:lvl2pPr algn="ctr">
              <a:defRPr sz="4400">
                <a:solidFill>
                  <a:schemeClr val="tx2"/>
                </a:solidFill>
                <a:latin typeface="Times New Roman" pitchFamily="18" charset="0"/>
              </a:defRPr>
            </a:lvl2pPr>
            <a:lvl3pPr algn="ctr">
              <a:defRPr sz="4400">
                <a:solidFill>
                  <a:schemeClr val="tx2"/>
                </a:solidFill>
                <a:latin typeface="Times New Roman" pitchFamily="18" charset="0"/>
              </a:defRPr>
            </a:lvl3pPr>
            <a:lvl4pPr algn="ctr">
              <a:defRPr sz="4400">
                <a:solidFill>
                  <a:schemeClr val="tx2"/>
                </a:solidFill>
                <a:latin typeface="Times New Roman" pitchFamily="18" charset="0"/>
              </a:defRPr>
            </a:lvl4pPr>
            <a:lvl5pPr algn="ctr">
              <a:defRPr sz="4400">
                <a:solidFill>
                  <a:schemeClr val="tx2"/>
                </a:solidFill>
                <a:latin typeface="Times New Roman" pitchFamily="18" charset="0"/>
              </a:defRPr>
            </a:lvl5pPr>
            <a:lvl6pPr marL="457200" algn="ctr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imes New Roman" pitchFamily="18" charset="0"/>
              </a:defRPr>
            </a:lvl6pPr>
            <a:lvl7pPr marL="914400" algn="ctr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imes New Roman" pitchFamily="18" charset="0"/>
              </a:defRPr>
            </a:lvl7pPr>
            <a:lvl8pPr marL="1371600" algn="ctr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imes New Roman" pitchFamily="18" charset="0"/>
              </a:defRPr>
            </a:lvl8pPr>
            <a:lvl9pPr marL="1828800" algn="ctr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imes New Roman" pitchFamily="18" charset="0"/>
              </a:defRPr>
            </a:lvl9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sz="3200" b="1" dirty="0">
                <a:solidFill>
                  <a:srgbClr val="0000FF"/>
                </a:solidFill>
                <a:latin typeface="Arial" pitchFamily="34" charset="0"/>
                <a:cs typeface="Arial" pitchFamily="34" charset="0"/>
              </a:rPr>
              <a:t>Systems Biology for Clinical Decision </a:t>
            </a:r>
            <a:r>
              <a:rPr lang="en-US" sz="3200" b="1">
                <a:solidFill>
                  <a:srgbClr val="0000FF"/>
                </a:solidFill>
                <a:latin typeface="Arial" pitchFamily="34" charset="0"/>
                <a:cs typeface="Arial" pitchFamily="34" charset="0"/>
              </a:rPr>
              <a:t>Support Systems</a:t>
            </a:r>
            <a:endParaRPr lang="en-US" altLang="en-US" sz="3200" dirty="0">
              <a:solidFill>
                <a:srgbClr val="0000FF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8" name="Rectangle 5"/>
          <p:cNvSpPr>
            <a:spLocks noChangeArrowheads="1"/>
          </p:cNvSpPr>
          <p:nvPr/>
        </p:nvSpPr>
        <p:spPr bwMode="auto">
          <a:xfrm>
            <a:off x="685800" y="1295400"/>
            <a:ext cx="7543800" cy="4191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2075" tIns="46038" rIns="92075" bIns="46038"/>
          <a:lstStyle>
            <a:lvl1pPr marL="342900" indent="-34290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itchFamily="18" charset="0"/>
              </a:defRPr>
            </a:lvl2pPr>
            <a:lvl3pPr marL="108585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eaLnBrk="0" fontAlgn="base" hangingPunct="0">
              <a:spcAft>
                <a:spcPct val="0"/>
              </a:spcAft>
              <a:buClr>
                <a:srgbClr val="000000"/>
              </a:buClr>
              <a:buNone/>
            </a:pPr>
            <a:endParaRPr lang="en-US" altLang="en-US" sz="2000" dirty="0">
              <a:solidFill>
                <a:srgbClr val="000000"/>
              </a:solidFill>
            </a:endParaRPr>
          </a:p>
        </p:txBody>
      </p:sp>
      <p:sp>
        <p:nvSpPr>
          <p:cNvPr id="9" name="Rectangle 5"/>
          <p:cNvSpPr>
            <a:spLocks noChangeArrowheads="1"/>
          </p:cNvSpPr>
          <p:nvPr/>
        </p:nvSpPr>
        <p:spPr bwMode="auto">
          <a:xfrm>
            <a:off x="838200" y="2438400"/>
            <a:ext cx="7543800" cy="3200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2075" tIns="46038" rIns="92075" bIns="46038"/>
          <a:lstStyle>
            <a:lvl1pPr marL="342900" indent="-34290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itchFamily="18" charset="0"/>
              </a:defRPr>
            </a:lvl2pPr>
            <a:lvl3pPr marL="108585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eaLnBrk="0" fontAlgn="base" hangingPunct="0">
              <a:spcAft>
                <a:spcPct val="0"/>
              </a:spcAft>
              <a:buClr>
                <a:srgbClr val="000000"/>
              </a:buClr>
            </a:pPr>
            <a:r>
              <a:rPr lang="en-US" altLang="en-US" sz="2800" dirty="0">
                <a:solidFill>
                  <a:srgbClr val="000000"/>
                </a:solidFill>
              </a:rPr>
              <a:t>Outlines:</a:t>
            </a:r>
          </a:p>
          <a:p>
            <a:pPr lvl="1" eaLnBrk="0" fontAlgn="base" hangingPunct="0">
              <a:spcAft>
                <a:spcPct val="0"/>
              </a:spcAft>
              <a:buClr>
                <a:srgbClr val="000000"/>
              </a:buClr>
            </a:pPr>
            <a:r>
              <a:rPr lang="en-US" altLang="en-US" sz="2400" dirty="0">
                <a:solidFill>
                  <a:srgbClr val="000000"/>
                </a:solidFill>
              </a:rPr>
              <a:t>Machine learning; bridge between systems biology / medicine, and clinical decision support systems</a:t>
            </a:r>
          </a:p>
          <a:p>
            <a:pPr lvl="1" eaLnBrk="0" fontAlgn="base" hangingPunct="0">
              <a:spcAft>
                <a:spcPct val="0"/>
              </a:spcAft>
              <a:buClr>
                <a:srgbClr val="000000"/>
              </a:buClr>
            </a:pPr>
            <a:r>
              <a:rPr lang="en-US" altLang="en-US" sz="2400" dirty="0">
                <a:solidFill>
                  <a:srgbClr val="000000"/>
                </a:solidFill>
              </a:rPr>
              <a:t>Brief introduction to fundamental techniques in machine learning  </a:t>
            </a:r>
          </a:p>
          <a:p>
            <a:pPr lvl="2" eaLnBrk="0" fontAlgn="base" hangingPunct="0">
              <a:spcAft>
                <a:spcPct val="0"/>
              </a:spcAft>
              <a:buClr>
                <a:srgbClr val="000000"/>
              </a:buClr>
            </a:pPr>
            <a:r>
              <a:rPr lang="en-US" altLang="en-US" sz="1600" dirty="0">
                <a:solidFill>
                  <a:srgbClr val="000000"/>
                </a:solidFill>
              </a:rPr>
              <a:t>Clustering/unsupervised learning</a:t>
            </a:r>
          </a:p>
          <a:p>
            <a:pPr lvl="2" eaLnBrk="0" fontAlgn="base" hangingPunct="0">
              <a:spcAft>
                <a:spcPct val="0"/>
              </a:spcAft>
              <a:buClr>
                <a:srgbClr val="000000"/>
              </a:buClr>
            </a:pPr>
            <a:r>
              <a:rPr lang="en-US" altLang="en-US" sz="1600" dirty="0">
                <a:solidFill>
                  <a:srgbClr val="000000"/>
                </a:solidFill>
              </a:rPr>
              <a:t>Classification/supervised learning</a:t>
            </a:r>
          </a:p>
        </p:txBody>
      </p:sp>
    </p:spTree>
    <p:extLst>
      <p:ext uri="{BB962C8B-B14F-4D97-AF65-F5344CB8AC3E}">
        <p14:creationId xmlns:p14="http://schemas.microsoft.com/office/powerpoint/2010/main" val="415464758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en-US">
                <a:solidFill>
                  <a:srgbClr val="000000"/>
                </a:solidFill>
              </a:rPr>
              <a:t>2014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F28756-B31F-4EB3-9CB3-CC474DFD3A9D}" type="slidenum">
              <a:rPr lang="en-US" altLang="en-US" smtClean="0">
                <a:solidFill>
                  <a:srgbClr val="000000"/>
                </a:solidFill>
              </a:rPr>
              <a:pPr/>
              <a:t>3</a:t>
            </a:fld>
            <a:endParaRPr lang="en-US" altLang="en-US">
              <a:solidFill>
                <a:srgbClr val="000000"/>
              </a:solidFill>
            </a:endParaRPr>
          </a:p>
        </p:txBody>
      </p:sp>
      <p:sp>
        <p:nvSpPr>
          <p:cNvPr id="5" name="AutoShape 2"/>
          <p:cNvSpPr>
            <a:spLocks noChangeArrowheads="1"/>
          </p:cNvSpPr>
          <p:nvPr/>
        </p:nvSpPr>
        <p:spPr bwMode="auto">
          <a:xfrm>
            <a:off x="304800" y="152400"/>
            <a:ext cx="8610600" cy="914400"/>
          </a:xfrm>
          <a:prstGeom prst="roundRect">
            <a:avLst>
              <a:gd name="adj" fmla="val 16667"/>
            </a:avLst>
          </a:prstGeom>
          <a:solidFill>
            <a:srgbClr val="FFCCFF"/>
          </a:solidFill>
          <a:ln w="34925">
            <a:solidFill>
              <a:srgbClr val="FF3300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sz="2400">
              <a:solidFill>
                <a:srgbClr val="000000"/>
              </a:solidFill>
            </a:endParaRPr>
          </a:p>
        </p:txBody>
      </p:sp>
      <p:sp>
        <p:nvSpPr>
          <p:cNvPr id="6" name="AutoShape 3"/>
          <p:cNvSpPr>
            <a:spLocks noChangeArrowheads="1"/>
          </p:cNvSpPr>
          <p:nvPr/>
        </p:nvSpPr>
        <p:spPr bwMode="auto">
          <a:xfrm>
            <a:off x="304800" y="1143000"/>
            <a:ext cx="8610600" cy="4724400"/>
          </a:xfrm>
          <a:prstGeom prst="roundRect">
            <a:avLst>
              <a:gd name="adj" fmla="val 16667"/>
            </a:avLst>
          </a:prstGeom>
          <a:noFill/>
          <a:ln w="34925">
            <a:solidFill>
              <a:srgbClr val="FF33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sz="2400">
              <a:solidFill>
                <a:srgbClr val="000000"/>
              </a:solidFill>
            </a:endParaRPr>
          </a:p>
        </p:txBody>
      </p:sp>
      <p:sp>
        <p:nvSpPr>
          <p:cNvPr id="7" name="Rectangle 4"/>
          <p:cNvSpPr>
            <a:spLocks noChangeArrowheads="1"/>
          </p:cNvSpPr>
          <p:nvPr/>
        </p:nvSpPr>
        <p:spPr bwMode="auto">
          <a:xfrm>
            <a:off x="762000" y="228600"/>
            <a:ext cx="7772400" cy="685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/>
          <a:lstStyle>
            <a:lvl1pPr algn="ctr">
              <a:defRPr sz="4400">
                <a:solidFill>
                  <a:schemeClr val="tx2"/>
                </a:solidFill>
                <a:latin typeface="Times New Roman" pitchFamily="18" charset="0"/>
              </a:defRPr>
            </a:lvl1pPr>
            <a:lvl2pPr algn="ctr">
              <a:defRPr sz="4400">
                <a:solidFill>
                  <a:schemeClr val="tx2"/>
                </a:solidFill>
                <a:latin typeface="Times New Roman" pitchFamily="18" charset="0"/>
              </a:defRPr>
            </a:lvl2pPr>
            <a:lvl3pPr algn="ctr">
              <a:defRPr sz="4400">
                <a:solidFill>
                  <a:schemeClr val="tx2"/>
                </a:solidFill>
                <a:latin typeface="Times New Roman" pitchFamily="18" charset="0"/>
              </a:defRPr>
            </a:lvl3pPr>
            <a:lvl4pPr algn="ctr">
              <a:defRPr sz="4400">
                <a:solidFill>
                  <a:schemeClr val="tx2"/>
                </a:solidFill>
                <a:latin typeface="Times New Roman" pitchFamily="18" charset="0"/>
              </a:defRPr>
            </a:lvl4pPr>
            <a:lvl5pPr algn="ctr">
              <a:defRPr sz="4400">
                <a:solidFill>
                  <a:schemeClr val="tx2"/>
                </a:solidFill>
                <a:latin typeface="Times New Roman" pitchFamily="18" charset="0"/>
              </a:defRPr>
            </a:lvl5pPr>
            <a:lvl6pPr marL="457200" algn="ctr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imes New Roman" pitchFamily="18" charset="0"/>
              </a:defRPr>
            </a:lvl6pPr>
            <a:lvl7pPr marL="914400" algn="ctr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imes New Roman" pitchFamily="18" charset="0"/>
              </a:defRPr>
            </a:lvl7pPr>
            <a:lvl8pPr marL="1371600" algn="ctr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imes New Roman" pitchFamily="18" charset="0"/>
              </a:defRPr>
            </a:lvl8pPr>
            <a:lvl9pPr marL="1828800" algn="ctr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imes New Roman" pitchFamily="18" charset="0"/>
              </a:defRPr>
            </a:lvl9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2800" dirty="0">
                <a:solidFill>
                  <a:srgbClr val="0000FF"/>
                </a:solidFill>
                <a:latin typeface="Arial" charset="0"/>
              </a:rPr>
              <a:t>Big Picture</a:t>
            </a:r>
          </a:p>
        </p:txBody>
      </p:sp>
      <p:sp>
        <p:nvSpPr>
          <p:cNvPr id="8" name="Rectangle 5"/>
          <p:cNvSpPr>
            <a:spLocks noChangeArrowheads="1"/>
          </p:cNvSpPr>
          <p:nvPr/>
        </p:nvSpPr>
        <p:spPr bwMode="auto">
          <a:xfrm>
            <a:off x="685800" y="1295400"/>
            <a:ext cx="7543800" cy="4191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2075" tIns="46038" rIns="92075" bIns="46038"/>
          <a:lstStyle>
            <a:lvl1pPr marL="342900" indent="-34290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itchFamily="18" charset="0"/>
              </a:defRPr>
            </a:lvl2pPr>
            <a:lvl3pPr marL="108585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eaLnBrk="0" fontAlgn="base" hangingPunct="0">
              <a:spcAft>
                <a:spcPct val="0"/>
              </a:spcAft>
              <a:buClr>
                <a:srgbClr val="000000"/>
              </a:buClr>
              <a:buNone/>
            </a:pPr>
            <a:endParaRPr lang="en-US" altLang="en-US" sz="2000" dirty="0">
              <a:solidFill>
                <a:srgbClr val="000000"/>
              </a:solidFill>
            </a:endParaRPr>
          </a:p>
        </p:txBody>
      </p:sp>
      <p:sp>
        <p:nvSpPr>
          <p:cNvPr id="10" name="Text Box 11"/>
          <p:cNvSpPr txBox="1">
            <a:spLocks noChangeArrowheads="1"/>
          </p:cNvSpPr>
          <p:nvPr/>
        </p:nvSpPr>
        <p:spPr bwMode="auto">
          <a:xfrm>
            <a:off x="1823545" y="3864263"/>
            <a:ext cx="945931" cy="39600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36869" tIns="18434" rIns="36869" bIns="18434"/>
          <a:lstStyle/>
          <a:p>
            <a:pPr eaLnBrk="0" hangingPunct="0"/>
            <a:r>
              <a:rPr lang="en-US" altLang="ko-KR" sz="1100" b="1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  <a:ea typeface="Batang" pitchFamily="18" charset="-127"/>
              </a:rPr>
              <a:t>Biomedical Signals</a:t>
            </a:r>
            <a:endParaRPr lang="en-US" sz="1100" b="1">
              <a:effectLst>
                <a:outerShdw blurRad="38100" dist="38100" dir="2700000" algn="tl">
                  <a:srgbClr val="C0C0C0"/>
                </a:outerShdw>
              </a:effectLst>
              <a:latin typeface="Times New Roman" pitchFamily="18" charset="0"/>
            </a:endParaRPr>
          </a:p>
        </p:txBody>
      </p:sp>
      <p:sp>
        <p:nvSpPr>
          <p:cNvPr id="11" name="Rectangle 12"/>
          <p:cNvSpPr>
            <a:spLocks noChangeArrowheads="1"/>
          </p:cNvSpPr>
          <p:nvPr/>
        </p:nvSpPr>
        <p:spPr bwMode="auto">
          <a:xfrm>
            <a:off x="5791200" y="4267200"/>
            <a:ext cx="945931" cy="424295"/>
          </a:xfrm>
          <a:prstGeom prst="rect">
            <a:avLst/>
          </a:prstGeom>
          <a:gradFill rotWithShape="1">
            <a:gsLst>
              <a:gs pos="0">
                <a:schemeClr val="accent1"/>
              </a:gs>
              <a:gs pos="100000">
                <a:schemeClr val="accent1">
                  <a:gamma/>
                  <a:shade val="26275"/>
                  <a:invGamma/>
                </a:schemeClr>
              </a:gs>
            </a:gsLst>
            <a:lin ang="5400000" scaled="1"/>
          </a:gradFill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 lIns="36869" tIns="18434" rIns="36869" bIns="18434" anchor="ctr"/>
          <a:lstStyle/>
          <a:p>
            <a:pPr algn="ctr" eaLnBrk="0" hangingPunct="0"/>
            <a:r>
              <a:rPr lang="en-US" altLang="ko-KR" sz="1200" b="1" dirty="0"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itchFamily="18" charset="0"/>
                <a:ea typeface="Batang" pitchFamily="18" charset="-127"/>
              </a:rPr>
              <a:t>Machine Learning </a:t>
            </a:r>
            <a:endParaRPr lang="en-US" sz="1200" b="1" dirty="0">
              <a:solidFill>
                <a:srgbClr val="FFFF00"/>
              </a:solidFill>
              <a:effectLst>
                <a:outerShdw blurRad="38100" dist="38100" dir="2700000" algn="tl">
                  <a:srgbClr val="000000"/>
                </a:outerShdw>
              </a:effectLst>
              <a:latin typeface="Times New Roman" pitchFamily="18" charset="0"/>
            </a:endParaRPr>
          </a:p>
        </p:txBody>
      </p:sp>
      <p:sp>
        <p:nvSpPr>
          <p:cNvPr id="12" name="Text Box 13"/>
          <p:cNvSpPr txBox="1">
            <a:spLocks noChangeArrowheads="1"/>
          </p:cNvSpPr>
          <p:nvPr/>
        </p:nvSpPr>
        <p:spPr bwMode="auto">
          <a:xfrm>
            <a:off x="1831429" y="5125027"/>
            <a:ext cx="1064171" cy="56572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36869" tIns="18434" rIns="36869" bIns="18434"/>
          <a:lstStyle/>
          <a:p>
            <a:pPr eaLnBrk="0" hangingPunct="0"/>
            <a:r>
              <a:rPr lang="en-US" altLang="ko-KR" sz="1100" b="1" dirty="0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  <a:ea typeface="Batang" pitchFamily="18" charset="-127"/>
              </a:rPr>
              <a:t>Electronic Health Records (HER)</a:t>
            </a:r>
            <a:endParaRPr lang="en-US" sz="1100" b="1" dirty="0">
              <a:effectLst>
                <a:outerShdw blurRad="38100" dist="38100" dir="2700000" algn="tl">
                  <a:srgbClr val="C0C0C0"/>
                </a:outerShdw>
              </a:effectLst>
              <a:latin typeface="Times New Roman" pitchFamily="18" charset="0"/>
            </a:endParaRPr>
          </a:p>
        </p:txBody>
      </p:sp>
      <p:sp>
        <p:nvSpPr>
          <p:cNvPr id="13" name="Text Box 15"/>
          <p:cNvSpPr txBox="1">
            <a:spLocks noChangeArrowheads="1"/>
          </p:cNvSpPr>
          <p:nvPr/>
        </p:nvSpPr>
        <p:spPr bwMode="auto">
          <a:xfrm>
            <a:off x="2895600" y="3581400"/>
            <a:ext cx="882869" cy="735445"/>
          </a:xfrm>
          <a:prstGeom prst="rect">
            <a:avLst/>
          </a:prstGeom>
          <a:gradFill flip="none" rotWithShape="1">
            <a:gsLst>
              <a:gs pos="0">
                <a:schemeClr val="tx2"/>
              </a:gs>
              <a:gs pos="50000">
                <a:schemeClr val="accent1">
                  <a:tint val="44500"/>
                  <a:satMod val="160000"/>
                </a:schemeClr>
              </a:gs>
              <a:gs pos="100000">
                <a:schemeClr val="accent1">
                  <a:tint val="23500"/>
                  <a:satMod val="160000"/>
                </a:schemeClr>
              </a:gs>
            </a:gsLst>
            <a:lin ang="16200000" scaled="1"/>
            <a:tileRect/>
          </a:gradFill>
          <a:ln w="9525">
            <a:solidFill>
              <a:schemeClr val="tx1">
                <a:alpha val="83000"/>
              </a:schemeClr>
            </a:solidFill>
            <a:miter lim="800000"/>
            <a:headEnd/>
            <a:tailEnd/>
          </a:ln>
          <a:effectLst/>
        </p:spPr>
        <p:txBody>
          <a:bodyPr lIns="57607" tIns="28804" rIns="57607" bIns="28804"/>
          <a:lstStyle/>
          <a:p>
            <a:pPr algn="ctr" eaLnBrk="0" hangingPunct="0"/>
            <a:r>
              <a:rPr lang="en-US" altLang="ko-KR" sz="1100" b="1" dirty="0">
                <a:latin typeface="Times New Roman" pitchFamily="18" charset="0"/>
                <a:ea typeface="Batang" pitchFamily="18" charset="-127"/>
              </a:rPr>
              <a:t>Signal Processing</a:t>
            </a:r>
          </a:p>
          <a:p>
            <a:pPr algn="ctr" eaLnBrk="0" hangingPunct="0"/>
            <a:r>
              <a:rPr lang="en-US" altLang="ko-KR" sz="1100" b="1" dirty="0">
                <a:latin typeface="Times New Roman" pitchFamily="18" charset="0"/>
                <a:ea typeface="Batang" pitchFamily="18" charset="-127"/>
              </a:rPr>
              <a:t>&amp; Feature Extraction</a:t>
            </a:r>
            <a:endParaRPr lang="en-US" sz="1100" b="1" dirty="0">
              <a:latin typeface="Times New Roman" pitchFamily="18" charset="0"/>
            </a:endParaRPr>
          </a:p>
        </p:txBody>
      </p:sp>
      <p:sp>
        <p:nvSpPr>
          <p:cNvPr id="15" name="Text Box 17"/>
          <p:cNvSpPr txBox="1">
            <a:spLocks noChangeArrowheads="1"/>
          </p:cNvSpPr>
          <p:nvPr/>
        </p:nvSpPr>
        <p:spPr bwMode="auto">
          <a:xfrm>
            <a:off x="1834056" y="4600535"/>
            <a:ext cx="1064172" cy="4136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36869" tIns="18434" rIns="36869" bIns="18434"/>
          <a:lstStyle/>
          <a:p>
            <a:pPr eaLnBrk="0" hangingPunct="0"/>
            <a:r>
              <a:rPr lang="en-US" altLang="ko-KR" sz="1100" b="1" dirty="0">
                <a:latin typeface="Times New Roman" pitchFamily="18" charset="0"/>
                <a:ea typeface="Batang" pitchFamily="18" charset="-127"/>
              </a:rPr>
              <a:t>Biomedical Images/Videos</a:t>
            </a:r>
            <a:endParaRPr lang="en-US" sz="1100" b="1" dirty="0">
              <a:latin typeface="Times New Roman" pitchFamily="18" charset="0"/>
            </a:endParaRPr>
          </a:p>
        </p:txBody>
      </p:sp>
      <p:sp>
        <p:nvSpPr>
          <p:cNvPr id="16" name="Text Box 18"/>
          <p:cNvSpPr txBox="1">
            <a:spLocks noChangeArrowheads="1"/>
          </p:cNvSpPr>
          <p:nvPr/>
        </p:nvSpPr>
        <p:spPr bwMode="auto">
          <a:xfrm>
            <a:off x="3276600" y="2133600"/>
            <a:ext cx="882869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lIns="57607" tIns="28804" rIns="57607" bIns="28804"/>
          <a:lstStyle/>
          <a:p>
            <a:pPr algn="ctr" eaLnBrk="0" hangingPunct="0"/>
            <a:r>
              <a:rPr lang="en-US" altLang="ko-KR" sz="1100" b="1" dirty="0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  <a:ea typeface="Batang" pitchFamily="18" charset="-127"/>
              </a:rPr>
              <a:t>Feature Extraction</a:t>
            </a:r>
            <a:endParaRPr lang="en-US" sz="1100" b="1" dirty="0">
              <a:effectLst>
                <a:outerShdw blurRad="38100" dist="38100" dir="2700000" algn="tl">
                  <a:srgbClr val="C0C0C0"/>
                </a:outerShdw>
              </a:effectLst>
              <a:latin typeface="Times New Roman" pitchFamily="18" charset="0"/>
            </a:endParaRPr>
          </a:p>
        </p:txBody>
      </p:sp>
      <p:sp>
        <p:nvSpPr>
          <p:cNvPr id="17" name="Text Box 19"/>
          <p:cNvSpPr txBox="1">
            <a:spLocks noChangeArrowheads="1"/>
          </p:cNvSpPr>
          <p:nvPr/>
        </p:nvSpPr>
        <p:spPr bwMode="auto">
          <a:xfrm>
            <a:off x="3841531" y="3977409"/>
            <a:ext cx="693683" cy="1921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36869" tIns="18434" rIns="36869" bIns="18434"/>
          <a:lstStyle/>
          <a:p>
            <a:pPr eaLnBrk="0" hangingPunct="0"/>
            <a:r>
              <a:rPr lang="en-US" altLang="ko-KR" sz="900" b="1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  <a:ea typeface="Batang" pitchFamily="18" charset="-127"/>
              </a:rPr>
              <a:t>Features</a:t>
            </a:r>
            <a:endParaRPr lang="en-US" sz="900" b="1">
              <a:effectLst>
                <a:outerShdw blurRad="38100" dist="38100" dir="2700000" algn="tl">
                  <a:srgbClr val="C0C0C0"/>
                </a:outerShdw>
              </a:effectLst>
              <a:latin typeface="Times New Roman" pitchFamily="18" charset="0"/>
            </a:endParaRPr>
          </a:p>
        </p:txBody>
      </p:sp>
      <p:sp>
        <p:nvSpPr>
          <p:cNvPr id="34" name="AutoShape 21"/>
          <p:cNvSpPr>
            <a:spLocks noChangeArrowheads="1"/>
          </p:cNvSpPr>
          <p:nvPr/>
        </p:nvSpPr>
        <p:spPr bwMode="auto">
          <a:xfrm>
            <a:off x="4516164" y="3192203"/>
            <a:ext cx="965638" cy="2558738"/>
          </a:xfrm>
          <a:prstGeom prst="can">
            <a:avLst>
              <a:gd name="adj" fmla="val 59965"/>
            </a:avLst>
          </a:prstGeom>
          <a:gradFill rotWithShape="1">
            <a:gsLst>
              <a:gs pos="0">
                <a:schemeClr val="accent1"/>
              </a:gs>
              <a:gs pos="100000">
                <a:schemeClr val="accent1">
                  <a:gamma/>
                  <a:shade val="26275"/>
                  <a:invGamma/>
                </a:schemeClr>
              </a:gs>
            </a:gsLst>
            <a:lin ang="5400000" scaled="1"/>
          </a:gradFill>
          <a:ln w="9525">
            <a:solidFill>
              <a:srgbClr val="000000"/>
            </a:solidFill>
            <a:round/>
            <a:headEnd/>
            <a:tailEnd/>
          </a:ln>
        </p:spPr>
        <p:txBody>
          <a:bodyPr lIns="36869" tIns="18434" rIns="36869" bIns="18434" anchor="ctr"/>
          <a:lstStyle/>
          <a:p>
            <a:pPr algn="ctr" eaLnBrk="0" hangingPunct="0"/>
            <a:r>
              <a:rPr lang="en-US" altLang="ko-KR" sz="1400" b="1" dirty="0"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itchFamily="18" charset="0"/>
                <a:ea typeface="Batang" pitchFamily="18" charset="-127"/>
              </a:rPr>
              <a:t>Integrated</a:t>
            </a:r>
          </a:p>
          <a:p>
            <a:pPr algn="ctr" eaLnBrk="0" hangingPunct="0"/>
            <a:r>
              <a:rPr lang="en-US" altLang="ko-KR" sz="1400" b="1" dirty="0"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itchFamily="18" charset="0"/>
                <a:ea typeface="Batang" pitchFamily="18" charset="-127"/>
              </a:rPr>
              <a:t>Features</a:t>
            </a:r>
            <a:endParaRPr lang="en-US" sz="1400" b="1" dirty="0">
              <a:solidFill>
                <a:srgbClr val="FFFF00"/>
              </a:solidFill>
              <a:effectLst>
                <a:outerShdw blurRad="38100" dist="38100" dir="2700000" algn="tl">
                  <a:srgbClr val="000000"/>
                </a:outerShdw>
              </a:effectLst>
              <a:latin typeface="Times New Roman" pitchFamily="18" charset="0"/>
            </a:endParaRPr>
          </a:p>
        </p:txBody>
      </p:sp>
      <p:sp>
        <p:nvSpPr>
          <p:cNvPr id="35" name="AutoShape 22"/>
          <p:cNvSpPr>
            <a:spLocks noChangeArrowheads="1"/>
          </p:cNvSpPr>
          <p:nvPr/>
        </p:nvSpPr>
        <p:spPr bwMode="auto">
          <a:xfrm>
            <a:off x="762000" y="1371600"/>
            <a:ext cx="965638" cy="2035440"/>
          </a:xfrm>
          <a:prstGeom prst="can">
            <a:avLst>
              <a:gd name="adj" fmla="val 59965"/>
            </a:avLst>
          </a:prstGeom>
          <a:gradFill rotWithShape="1">
            <a:gsLst>
              <a:gs pos="0">
                <a:schemeClr val="accent1"/>
              </a:gs>
              <a:gs pos="100000">
                <a:schemeClr val="accent1">
                  <a:gamma/>
                  <a:shade val="26275"/>
                  <a:invGamma/>
                </a:schemeClr>
              </a:gs>
            </a:gsLst>
            <a:lin ang="5400000" scaled="1"/>
          </a:gradFill>
          <a:ln w="9525">
            <a:solidFill>
              <a:srgbClr val="000000"/>
            </a:solidFill>
            <a:round/>
            <a:headEnd/>
            <a:tailEnd/>
          </a:ln>
        </p:spPr>
        <p:txBody>
          <a:bodyPr lIns="36869" tIns="18434" rIns="36869" bIns="18434" anchor="ctr"/>
          <a:lstStyle/>
          <a:p>
            <a:pPr algn="ctr" eaLnBrk="0" hangingPunct="0"/>
            <a:r>
              <a:rPr lang="en-US" altLang="ko-KR" sz="1400" b="1" dirty="0">
                <a:solidFill>
                  <a:srgbClr val="FFFF00"/>
                </a:solidFill>
                <a:latin typeface="Times New Roman" pitchFamily="18" charset="0"/>
                <a:ea typeface="Batang" pitchFamily="18" charset="-127"/>
              </a:rPr>
              <a:t>Molecular / Cellular Data</a:t>
            </a:r>
            <a:endParaRPr lang="en-US" sz="1400" b="1" dirty="0">
              <a:solidFill>
                <a:srgbClr val="FFFF00"/>
              </a:solidFill>
              <a:latin typeface="Times New Roman" pitchFamily="18" charset="0"/>
            </a:endParaRPr>
          </a:p>
        </p:txBody>
      </p:sp>
      <p:sp>
        <p:nvSpPr>
          <p:cNvPr id="36" name="AutoShape 23"/>
          <p:cNvSpPr>
            <a:spLocks noChangeArrowheads="1"/>
          </p:cNvSpPr>
          <p:nvPr/>
        </p:nvSpPr>
        <p:spPr bwMode="auto">
          <a:xfrm>
            <a:off x="7050964" y="3449138"/>
            <a:ext cx="1499421" cy="2035440"/>
          </a:xfrm>
          <a:prstGeom prst="can">
            <a:avLst>
              <a:gd name="adj" fmla="val 59965"/>
            </a:avLst>
          </a:prstGeom>
          <a:gradFill rotWithShape="1">
            <a:gsLst>
              <a:gs pos="0">
                <a:schemeClr val="accent1"/>
              </a:gs>
              <a:gs pos="100000">
                <a:schemeClr val="accent1">
                  <a:gamma/>
                  <a:shade val="26275"/>
                  <a:invGamma/>
                </a:schemeClr>
              </a:gs>
            </a:gsLst>
            <a:lin ang="5400000" scaled="1"/>
          </a:gradFill>
          <a:ln w="9525">
            <a:solidFill>
              <a:srgbClr val="000000"/>
            </a:solidFill>
            <a:round/>
            <a:headEnd/>
            <a:tailEnd/>
          </a:ln>
        </p:spPr>
        <p:txBody>
          <a:bodyPr lIns="36869" tIns="18434" rIns="36869" bIns="18434" anchor="ctr"/>
          <a:lstStyle/>
          <a:p>
            <a:pPr algn="ctr" eaLnBrk="0" hangingPunct="0"/>
            <a:r>
              <a:rPr lang="en-US" altLang="ko-KR" sz="1400" b="1" dirty="0"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itchFamily="18" charset="0"/>
                <a:ea typeface="Batang" pitchFamily="18" charset="-127"/>
              </a:rPr>
              <a:t>Recommendations / Predictions</a:t>
            </a:r>
            <a:endParaRPr lang="en-US" sz="1400" b="1" dirty="0">
              <a:solidFill>
                <a:srgbClr val="FFFF00"/>
              </a:solidFill>
              <a:effectLst>
                <a:outerShdw blurRad="38100" dist="38100" dir="2700000" algn="tl">
                  <a:srgbClr val="000000"/>
                </a:outerShdw>
              </a:effectLst>
              <a:latin typeface="Times New Roman" pitchFamily="18" charset="0"/>
            </a:endParaRPr>
          </a:p>
        </p:txBody>
      </p:sp>
      <p:sp>
        <p:nvSpPr>
          <p:cNvPr id="19" name="Text Box 26"/>
          <p:cNvSpPr txBox="1">
            <a:spLocks noChangeArrowheads="1"/>
          </p:cNvSpPr>
          <p:nvPr/>
        </p:nvSpPr>
        <p:spPr bwMode="auto">
          <a:xfrm>
            <a:off x="3844159" y="4532746"/>
            <a:ext cx="693683" cy="1921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36869" tIns="18434" rIns="36869" bIns="18434"/>
          <a:lstStyle/>
          <a:p>
            <a:pPr eaLnBrk="0" hangingPunct="0"/>
            <a:r>
              <a:rPr lang="en-US" altLang="ko-KR" sz="900" b="1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  <a:ea typeface="Batang" pitchFamily="18" charset="-127"/>
              </a:rPr>
              <a:t>Features</a:t>
            </a:r>
            <a:endParaRPr lang="en-US" sz="900" b="1">
              <a:effectLst>
                <a:outerShdw blurRad="38100" dist="38100" dir="2700000" algn="tl">
                  <a:srgbClr val="C0C0C0"/>
                </a:outerShdw>
              </a:effectLst>
              <a:latin typeface="Times New Roman" pitchFamily="18" charset="0"/>
            </a:endParaRPr>
          </a:p>
        </p:txBody>
      </p:sp>
      <p:sp>
        <p:nvSpPr>
          <p:cNvPr id="20" name="Text Box 27"/>
          <p:cNvSpPr txBox="1">
            <a:spLocks noChangeArrowheads="1"/>
          </p:cNvSpPr>
          <p:nvPr/>
        </p:nvSpPr>
        <p:spPr bwMode="auto">
          <a:xfrm>
            <a:off x="3849414" y="5068454"/>
            <a:ext cx="693683" cy="1921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36869" tIns="18434" rIns="36869" bIns="18434"/>
          <a:lstStyle/>
          <a:p>
            <a:pPr eaLnBrk="0" hangingPunct="0"/>
            <a:r>
              <a:rPr lang="en-US" altLang="ko-KR" sz="900" b="1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  <a:ea typeface="Batang" pitchFamily="18" charset="-127"/>
              </a:rPr>
              <a:t>Features</a:t>
            </a:r>
            <a:endParaRPr lang="en-US" sz="900" b="1">
              <a:effectLst>
                <a:outerShdw blurRad="38100" dist="38100" dir="2700000" algn="tl">
                  <a:srgbClr val="C0C0C0"/>
                </a:outerShdw>
              </a:effectLst>
              <a:latin typeface="Times New Roman" pitchFamily="18" charset="0"/>
            </a:endParaRPr>
          </a:p>
        </p:txBody>
      </p:sp>
      <p:sp>
        <p:nvSpPr>
          <p:cNvPr id="21" name="Text Box 28"/>
          <p:cNvSpPr txBox="1">
            <a:spLocks noChangeArrowheads="1"/>
          </p:cNvSpPr>
          <p:nvPr/>
        </p:nvSpPr>
        <p:spPr bwMode="auto">
          <a:xfrm>
            <a:off x="4267200" y="2514600"/>
            <a:ext cx="693683" cy="1921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36869" tIns="18434" rIns="36869" bIns="18434"/>
          <a:lstStyle/>
          <a:p>
            <a:pPr eaLnBrk="0" hangingPunct="0"/>
            <a:r>
              <a:rPr lang="en-US" altLang="ko-KR" sz="900" b="1" dirty="0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  <a:ea typeface="Batang" pitchFamily="18" charset="-127"/>
              </a:rPr>
              <a:t>Features</a:t>
            </a:r>
            <a:endParaRPr lang="en-US" sz="900" b="1" dirty="0">
              <a:effectLst>
                <a:outerShdw blurRad="38100" dist="38100" dir="2700000" algn="tl">
                  <a:srgbClr val="C0C0C0"/>
                </a:outerShdw>
              </a:effectLst>
              <a:latin typeface="Times New Roman" pitchFamily="18" charset="0"/>
            </a:endParaRPr>
          </a:p>
        </p:txBody>
      </p:sp>
      <p:sp>
        <p:nvSpPr>
          <p:cNvPr id="23" name="Line 30"/>
          <p:cNvSpPr>
            <a:spLocks noChangeShapeType="1"/>
          </p:cNvSpPr>
          <p:nvPr/>
        </p:nvSpPr>
        <p:spPr bwMode="auto">
          <a:xfrm>
            <a:off x="1636987" y="4702464"/>
            <a:ext cx="189186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24" name="Line 31"/>
          <p:cNvSpPr>
            <a:spLocks noChangeShapeType="1"/>
          </p:cNvSpPr>
          <p:nvPr/>
        </p:nvSpPr>
        <p:spPr bwMode="auto">
          <a:xfrm>
            <a:off x="1642242" y="5351318"/>
            <a:ext cx="189186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26" name="Line 33"/>
          <p:cNvSpPr>
            <a:spLocks noChangeShapeType="1"/>
          </p:cNvSpPr>
          <p:nvPr/>
        </p:nvSpPr>
        <p:spPr bwMode="auto">
          <a:xfrm>
            <a:off x="3781509" y="4203700"/>
            <a:ext cx="756745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27" name="Line 34"/>
          <p:cNvSpPr>
            <a:spLocks noChangeShapeType="1"/>
          </p:cNvSpPr>
          <p:nvPr/>
        </p:nvSpPr>
        <p:spPr bwMode="auto">
          <a:xfrm>
            <a:off x="3718035" y="4759036"/>
            <a:ext cx="756745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28" name="Line 35"/>
          <p:cNvSpPr>
            <a:spLocks noChangeShapeType="1"/>
          </p:cNvSpPr>
          <p:nvPr/>
        </p:nvSpPr>
        <p:spPr bwMode="auto">
          <a:xfrm>
            <a:off x="3789392" y="5294745"/>
            <a:ext cx="756745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30" name="Line 37"/>
          <p:cNvSpPr>
            <a:spLocks noChangeShapeType="1"/>
          </p:cNvSpPr>
          <p:nvPr/>
        </p:nvSpPr>
        <p:spPr bwMode="auto">
          <a:xfrm>
            <a:off x="2514600" y="4114800"/>
            <a:ext cx="315310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31" name="Line 38"/>
          <p:cNvSpPr>
            <a:spLocks noChangeShapeType="1"/>
          </p:cNvSpPr>
          <p:nvPr/>
        </p:nvSpPr>
        <p:spPr bwMode="auto">
          <a:xfrm>
            <a:off x="2621411" y="4815609"/>
            <a:ext cx="315310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32" name="Line 39"/>
          <p:cNvSpPr>
            <a:spLocks noChangeShapeType="1"/>
          </p:cNvSpPr>
          <p:nvPr/>
        </p:nvSpPr>
        <p:spPr bwMode="auto">
          <a:xfrm>
            <a:off x="5475889" y="4493491"/>
            <a:ext cx="315310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33" name="Line 41"/>
          <p:cNvSpPr>
            <a:spLocks noChangeShapeType="1"/>
          </p:cNvSpPr>
          <p:nvPr/>
        </p:nvSpPr>
        <p:spPr bwMode="auto">
          <a:xfrm>
            <a:off x="6737131" y="4493491"/>
            <a:ext cx="315310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37" name="Rectangle 36"/>
          <p:cNvSpPr/>
          <p:nvPr/>
        </p:nvSpPr>
        <p:spPr>
          <a:xfrm>
            <a:off x="5638800" y="2819400"/>
            <a:ext cx="3124200" cy="2819400"/>
          </a:xfrm>
          <a:prstGeom prst="rect">
            <a:avLst/>
          </a:prstGeom>
          <a:noFill/>
          <a:ln>
            <a:solidFill>
              <a:srgbClr val="FF0000"/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8" name="Line 30"/>
          <p:cNvSpPr>
            <a:spLocks noChangeShapeType="1"/>
          </p:cNvSpPr>
          <p:nvPr/>
        </p:nvSpPr>
        <p:spPr bwMode="auto">
          <a:xfrm>
            <a:off x="1676400" y="4038600"/>
            <a:ext cx="189186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39" name="AutoShape 22"/>
          <p:cNvSpPr>
            <a:spLocks noChangeArrowheads="1"/>
          </p:cNvSpPr>
          <p:nvPr/>
        </p:nvSpPr>
        <p:spPr bwMode="auto">
          <a:xfrm>
            <a:off x="685800" y="3657600"/>
            <a:ext cx="965638" cy="2035440"/>
          </a:xfrm>
          <a:prstGeom prst="can">
            <a:avLst>
              <a:gd name="adj" fmla="val 59965"/>
            </a:avLst>
          </a:prstGeom>
          <a:gradFill rotWithShape="1">
            <a:gsLst>
              <a:gs pos="0">
                <a:schemeClr val="accent1"/>
              </a:gs>
              <a:gs pos="100000">
                <a:schemeClr val="accent1">
                  <a:gamma/>
                  <a:shade val="26275"/>
                  <a:invGamma/>
                </a:schemeClr>
              </a:gs>
            </a:gsLst>
            <a:lin ang="5400000" scaled="1"/>
          </a:gradFill>
          <a:ln w="9525">
            <a:solidFill>
              <a:srgbClr val="000000"/>
            </a:solidFill>
            <a:round/>
            <a:headEnd/>
            <a:tailEnd/>
          </a:ln>
        </p:spPr>
        <p:txBody>
          <a:bodyPr lIns="36869" tIns="18434" rIns="36869" bIns="18434" anchor="ctr"/>
          <a:lstStyle/>
          <a:p>
            <a:pPr algn="ctr" eaLnBrk="0" hangingPunct="0"/>
            <a:r>
              <a:rPr lang="en-US" altLang="ko-KR" sz="1400" b="1" dirty="0">
                <a:solidFill>
                  <a:srgbClr val="FFFF00"/>
                </a:solidFill>
                <a:latin typeface="Times New Roman" pitchFamily="18" charset="0"/>
                <a:ea typeface="Batang" pitchFamily="18" charset="-127"/>
              </a:rPr>
              <a:t>Raw</a:t>
            </a:r>
          </a:p>
          <a:p>
            <a:pPr algn="ctr" eaLnBrk="0" hangingPunct="0"/>
            <a:r>
              <a:rPr lang="en-US" altLang="ko-KR" sz="1400" b="1" dirty="0">
                <a:solidFill>
                  <a:srgbClr val="FFFF00"/>
                </a:solidFill>
                <a:latin typeface="Times New Roman" pitchFamily="18" charset="0"/>
                <a:ea typeface="Batang" pitchFamily="18" charset="-127"/>
              </a:rPr>
              <a:t>Clinical</a:t>
            </a:r>
          </a:p>
          <a:p>
            <a:pPr algn="ctr" eaLnBrk="0" hangingPunct="0"/>
            <a:r>
              <a:rPr lang="en-US" altLang="ko-KR" sz="1400" b="1" dirty="0">
                <a:solidFill>
                  <a:srgbClr val="FFFF00"/>
                </a:solidFill>
                <a:latin typeface="Times New Roman" pitchFamily="18" charset="0"/>
                <a:ea typeface="Batang" pitchFamily="18" charset="-127"/>
              </a:rPr>
              <a:t>Data</a:t>
            </a:r>
            <a:endParaRPr lang="en-US" sz="1400" b="1" dirty="0">
              <a:solidFill>
                <a:srgbClr val="FFFF00"/>
              </a:solidFill>
              <a:latin typeface="Times New Roman" pitchFamily="18" charset="0"/>
            </a:endParaRPr>
          </a:p>
        </p:txBody>
      </p:sp>
      <p:sp>
        <p:nvSpPr>
          <p:cNvPr id="40" name="Line 37"/>
          <p:cNvSpPr>
            <a:spLocks noChangeShapeType="1"/>
          </p:cNvSpPr>
          <p:nvPr/>
        </p:nvSpPr>
        <p:spPr bwMode="auto">
          <a:xfrm>
            <a:off x="2588962" y="5334000"/>
            <a:ext cx="315310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41" name="Text Box 18"/>
          <p:cNvSpPr txBox="1">
            <a:spLocks noChangeArrowheads="1"/>
          </p:cNvSpPr>
          <p:nvPr/>
        </p:nvSpPr>
        <p:spPr bwMode="auto">
          <a:xfrm>
            <a:off x="2905698" y="4343400"/>
            <a:ext cx="882869" cy="735445"/>
          </a:xfrm>
          <a:prstGeom prst="rect">
            <a:avLst/>
          </a:prstGeom>
          <a:gradFill>
            <a:gsLst>
              <a:gs pos="0">
                <a:schemeClr val="tx2">
                  <a:lumMod val="50000"/>
                </a:schemeClr>
              </a:gs>
              <a:gs pos="50000">
                <a:schemeClr val="accent1">
                  <a:tint val="44500"/>
                  <a:satMod val="160000"/>
                </a:schemeClr>
              </a:gs>
              <a:gs pos="100000">
                <a:schemeClr val="accent1">
                  <a:tint val="23500"/>
                  <a:satMod val="160000"/>
                </a:schemeClr>
              </a:gs>
            </a:gsLst>
            <a:lin ang="16200000" scaled="1"/>
          </a:gra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lIns="57607" tIns="28804" rIns="57607" bIns="28804"/>
          <a:lstStyle/>
          <a:p>
            <a:pPr algn="ctr" eaLnBrk="0" hangingPunct="0"/>
            <a:r>
              <a:rPr lang="en-US" altLang="ko-KR" sz="1100" b="1" dirty="0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  <a:ea typeface="Batang" pitchFamily="18" charset="-127"/>
              </a:rPr>
              <a:t>Image Processing</a:t>
            </a:r>
          </a:p>
          <a:p>
            <a:pPr algn="ctr" eaLnBrk="0" hangingPunct="0"/>
            <a:r>
              <a:rPr lang="en-US" altLang="ko-KR" sz="1100" b="1" dirty="0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  <a:ea typeface="Batang" pitchFamily="18" charset="-127"/>
              </a:rPr>
              <a:t>&amp; Feature Extraction</a:t>
            </a:r>
            <a:endParaRPr lang="en-US" sz="1100" b="1" dirty="0">
              <a:effectLst>
                <a:outerShdw blurRad="38100" dist="38100" dir="2700000" algn="tl">
                  <a:srgbClr val="C0C0C0"/>
                </a:outerShdw>
              </a:effectLst>
              <a:latin typeface="Times New Roman" pitchFamily="18" charset="0"/>
            </a:endParaRPr>
          </a:p>
        </p:txBody>
      </p:sp>
      <p:sp>
        <p:nvSpPr>
          <p:cNvPr id="42" name="Rectangle 12"/>
          <p:cNvSpPr>
            <a:spLocks noChangeArrowheads="1"/>
          </p:cNvSpPr>
          <p:nvPr/>
        </p:nvSpPr>
        <p:spPr bwMode="auto">
          <a:xfrm>
            <a:off x="2057400" y="1981200"/>
            <a:ext cx="945931" cy="762000"/>
          </a:xfrm>
          <a:prstGeom prst="rect">
            <a:avLst/>
          </a:prstGeom>
          <a:gradFill rotWithShape="1">
            <a:gsLst>
              <a:gs pos="0">
                <a:schemeClr val="accent1"/>
              </a:gs>
              <a:gs pos="100000">
                <a:schemeClr val="accent1">
                  <a:gamma/>
                  <a:shade val="26275"/>
                  <a:invGamma/>
                </a:schemeClr>
              </a:gs>
            </a:gsLst>
            <a:lin ang="5400000" scaled="1"/>
          </a:gradFill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 lIns="36869" tIns="18434" rIns="36869" bIns="18434" anchor="ctr"/>
          <a:lstStyle/>
          <a:p>
            <a:pPr algn="ctr" eaLnBrk="0" hangingPunct="0"/>
            <a:r>
              <a:rPr lang="en-US" altLang="ko-KR" sz="1200" b="1" dirty="0"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itchFamily="18" charset="0"/>
                <a:ea typeface="Batang" pitchFamily="18" charset="-127"/>
              </a:rPr>
              <a:t>Modeling / Machine Learning </a:t>
            </a:r>
            <a:endParaRPr lang="en-US" sz="1200" b="1" dirty="0">
              <a:solidFill>
                <a:srgbClr val="FFFF00"/>
              </a:solidFill>
              <a:effectLst>
                <a:outerShdw blurRad="38100" dist="38100" dir="2700000" algn="tl">
                  <a:srgbClr val="000000"/>
                </a:outerShdw>
              </a:effectLst>
              <a:latin typeface="Times New Roman" pitchFamily="18" charset="0"/>
            </a:endParaRPr>
          </a:p>
        </p:txBody>
      </p:sp>
      <p:sp>
        <p:nvSpPr>
          <p:cNvPr id="43" name="Line 39"/>
          <p:cNvSpPr>
            <a:spLocks noChangeShapeType="1"/>
          </p:cNvSpPr>
          <p:nvPr/>
        </p:nvSpPr>
        <p:spPr bwMode="auto">
          <a:xfrm>
            <a:off x="1742089" y="2359891"/>
            <a:ext cx="315310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44" name="Line 41"/>
          <p:cNvSpPr>
            <a:spLocks noChangeShapeType="1"/>
          </p:cNvSpPr>
          <p:nvPr/>
        </p:nvSpPr>
        <p:spPr bwMode="auto">
          <a:xfrm>
            <a:off x="3003331" y="2359891"/>
            <a:ext cx="315310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45" name="Text Box 18"/>
          <p:cNvSpPr txBox="1">
            <a:spLocks noChangeArrowheads="1"/>
          </p:cNvSpPr>
          <p:nvPr/>
        </p:nvSpPr>
        <p:spPr bwMode="auto">
          <a:xfrm>
            <a:off x="2905698" y="5105400"/>
            <a:ext cx="882869" cy="457200"/>
          </a:xfrm>
          <a:prstGeom prst="rect">
            <a:avLst/>
          </a:prstGeom>
          <a:gradFill>
            <a:gsLst>
              <a:gs pos="0">
                <a:schemeClr val="tx2">
                  <a:lumMod val="50000"/>
                </a:schemeClr>
              </a:gs>
              <a:gs pos="50000">
                <a:schemeClr val="accent1">
                  <a:tint val="44500"/>
                  <a:satMod val="160000"/>
                </a:schemeClr>
              </a:gs>
              <a:gs pos="100000">
                <a:schemeClr val="accent1">
                  <a:tint val="23500"/>
                  <a:satMod val="160000"/>
                </a:schemeClr>
              </a:gs>
            </a:gsLst>
            <a:lin ang="16200000" scaled="1"/>
          </a:gra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lIns="57607" tIns="28804" rIns="57607" bIns="28804"/>
          <a:lstStyle/>
          <a:p>
            <a:pPr algn="ctr" eaLnBrk="0" hangingPunct="0"/>
            <a:r>
              <a:rPr lang="en-US" altLang="ko-KR" sz="1100" b="1" dirty="0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  <a:ea typeface="Batang" pitchFamily="18" charset="-127"/>
              </a:rPr>
              <a:t>Feature Extraction</a:t>
            </a:r>
            <a:endParaRPr lang="en-US" sz="1100" b="1" dirty="0">
              <a:effectLst>
                <a:outerShdw blurRad="38100" dist="38100" dir="2700000" algn="tl">
                  <a:srgbClr val="C0C0C0"/>
                </a:outerShdw>
              </a:effectLst>
              <a:latin typeface="Times New Roman" pitchFamily="18" charset="0"/>
            </a:endParaRPr>
          </a:p>
        </p:txBody>
      </p:sp>
      <p:cxnSp>
        <p:nvCxnSpPr>
          <p:cNvPr id="47" name="Straight Arrow Connector 46"/>
          <p:cNvCxnSpPr>
            <a:stCxn id="16" idx="3"/>
          </p:cNvCxnSpPr>
          <p:nvPr/>
        </p:nvCxnSpPr>
        <p:spPr>
          <a:xfrm>
            <a:off x="4159469" y="2362200"/>
            <a:ext cx="336331" cy="990600"/>
          </a:xfrm>
          <a:prstGeom prst="straightConnector1">
            <a:avLst/>
          </a:prstGeom>
          <a:ln w="317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9" name="Rectangle 48"/>
          <p:cNvSpPr/>
          <p:nvPr/>
        </p:nvSpPr>
        <p:spPr>
          <a:xfrm>
            <a:off x="1905000" y="1905000"/>
            <a:ext cx="1219200" cy="990600"/>
          </a:xfrm>
          <a:prstGeom prst="rect">
            <a:avLst/>
          </a:prstGeom>
          <a:noFill/>
          <a:ln>
            <a:solidFill>
              <a:srgbClr val="FF0000"/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0" name="TextBox 49"/>
          <p:cNvSpPr txBox="1"/>
          <p:nvPr/>
        </p:nvSpPr>
        <p:spPr>
          <a:xfrm>
            <a:off x="2133600" y="1219200"/>
            <a:ext cx="2597699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buFont typeface="Arial" pitchFamily="34" charset="0"/>
              <a:buChar char="•"/>
            </a:pP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  A “holistic” approach</a:t>
            </a:r>
          </a:p>
        </p:txBody>
      </p:sp>
    </p:spTree>
    <p:extLst>
      <p:ext uri="{BB962C8B-B14F-4D97-AF65-F5344CB8AC3E}">
        <p14:creationId xmlns:p14="http://schemas.microsoft.com/office/powerpoint/2010/main" val="7082039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en-US">
                <a:solidFill>
                  <a:srgbClr val="000000"/>
                </a:solidFill>
              </a:rPr>
              <a:t>2014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F28756-B31F-4EB3-9CB3-CC474DFD3A9D}" type="slidenum">
              <a:rPr lang="en-US" altLang="en-US" smtClean="0">
                <a:solidFill>
                  <a:srgbClr val="000000"/>
                </a:solidFill>
              </a:rPr>
              <a:pPr/>
              <a:t>4</a:t>
            </a:fld>
            <a:endParaRPr lang="en-US" altLang="en-US">
              <a:solidFill>
                <a:srgbClr val="000000"/>
              </a:solidFill>
            </a:endParaRPr>
          </a:p>
        </p:txBody>
      </p:sp>
      <p:sp>
        <p:nvSpPr>
          <p:cNvPr id="5" name="AutoShape 2"/>
          <p:cNvSpPr>
            <a:spLocks noChangeArrowheads="1"/>
          </p:cNvSpPr>
          <p:nvPr/>
        </p:nvSpPr>
        <p:spPr bwMode="auto">
          <a:xfrm>
            <a:off x="304800" y="152400"/>
            <a:ext cx="8610600" cy="914400"/>
          </a:xfrm>
          <a:prstGeom prst="roundRect">
            <a:avLst>
              <a:gd name="adj" fmla="val 16667"/>
            </a:avLst>
          </a:prstGeom>
          <a:solidFill>
            <a:srgbClr val="FFCCFF"/>
          </a:solidFill>
          <a:ln w="34925">
            <a:solidFill>
              <a:srgbClr val="FF3300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sz="2400">
              <a:solidFill>
                <a:srgbClr val="000000"/>
              </a:solidFill>
            </a:endParaRPr>
          </a:p>
        </p:txBody>
      </p:sp>
      <p:sp>
        <p:nvSpPr>
          <p:cNvPr id="6" name="AutoShape 3"/>
          <p:cNvSpPr>
            <a:spLocks noChangeArrowheads="1"/>
          </p:cNvSpPr>
          <p:nvPr/>
        </p:nvSpPr>
        <p:spPr bwMode="auto">
          <a:xfrm>
            <a:off x="304800" y="1143000"/>
            <a:ext cx="8610600" cy="4724400"/>
          </a:xfrm>
          <a:prstGeom prst="roundRect">
            <a:avLst>
              <a:gd name="adj" fmla="val 16667"/>
            </a:avLst>
          </a:prstGeom>
          <a:noFill/>
          <a:ln w="34925">
            <a:solidFill>
              <a:srgbClr val="FF33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sz="2400">
              <a:solidFill>
                <a:srgbClr val="000000"/>
              </a:solidFill>
            </a:endParaRPr>
          </a:p>
        </p:txBody>
      </p:sp>
      <p:sp>
        <p:nvSpPr>
          <p:cNvPr id="7" name="Rectangle 4"/>
          <p:cNvSpPr>
            <a:spLocks noChangeArrowheads="1"/>
          </p:cNvSpPr>
          <p:nvPr/>
        </p:nvSpPr>
        <p:spPr bwMode="auto">
          <a:xfrm>
            <a:off x="762000" y="228600"/>
            <a:ext cx="7772400" cy="685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/>
          <a:lstStyle>
            <a:lvl1pPr algn="ctr">
              <a:defRPr sz="4400">
                <a:solidFill>
                  <a:schemeClr val="tx2"/>
                </a:solidFill>
                <a:latin typeface="Times New Roman" pitchFamily="18" charset="0"/>
              </a:defRPr>
            </a:lvl1pPr>
            <a:lvl2pPr algn="ctr">
              <a:defRPr sz="4400">
                <a:solidFill>
                  <a:schemeClr val="tx2"/>
                </a:solidFill>
                <a:latin typeface="Times New Roman" pitchFamily="18" charset="0"/>
              </a:defRPr>
            </a:lvl2pPr>
            <a:lvl3pPr algn="ctr">
              <a:defRPr sz="4400">
                <a:solidFill>
                  <a:schemeClr val="tx2"/>
                </a:solidFill>
                <a:latin typeface="Times New Roman" pitchFamily="18" charset="0"/>
              </a:defRPr>
            </a:lvl3pPr>
            <a:lvl4pPr algn="ctr">
              <a:defRPr sz="4400">
                <a:solidFill>
                  <a:schemeClr val="tx2"/>
                </a:solidFill>
                <a:latin typeface="Times New Roman" pitchFamily="18" charset="0"/>
              </a:defRPr>
            </a:lvl4pPr>
            <a:lvl5pPr algn="ctr">
              <a:defRPr sz="4400">
                <a:solidFill>
                  <a:schemeClr val="tx2"/>
                </a:solidFill>
                <a:latin typeface="Times New Roman" pitchFamily="18" charset="0"/>
              </a:defRPr>
            </a:lvl5pPr>
            <a:lvl6pPr marL="457200" algn="ctr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imes New Roman" pitchFamily="18" charset="0"/>
              </a:defRPr>
            </a:lvl6pPr>
            <a:lvl7pPr marL="914400" algn="ctr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imes New Roman" pitchFamily="18" charset="0"/>
              </a:defRPr>
            </a:lvl7pPr>
            <a:lvl8pPr marL="1371600" algn="ctr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imes New Roman" pitchFamily="18" charset="0"/>
              </a:defRPr>
            </a:lvl8pPr>
            <a:lvl9pPr marL="1828800" algn="ctr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imes New Roman" pitchFamily="18" charset="0"/>
              </a:defRPr>
            </a:lvl9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2800" i="1" dirty="0">
                <a:solidFill>
                  <a:srgbClr val="0000FF"/>
                </a:solidFill>
                <a:latin typeface="Arial" charset="0"/>
              </a:rPr>
              <a:t>Big Picture (cont’d)</a:t>
            </a:r>
          </a:p>
        </p:txBody>
      </p:sp>
      <p:sp>
        <p:nvSpPr>
          <p:cNvPr id="8" name="Rectangle 5"/>
          <p:cNvSpPr>
            <a:spLocks noChangeArrowheads="1"/>
          </p:cNvSpPr>
          <p:nvPr/>
        </p:nvSpPr>
        <p:spPr bwMode="auto">
          <a:xfrm>
            <a:off x="685800" y="1295400"/>
            <a:ext cx="7543800" cy="4191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2075" tIns="46038" rIns="92075" bIns="46038"/>
          <a:lstStyle>
            <a:lvl1pPr marL="342900" indent="-34290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itchFamily="18" charset="0"/>
              </a:defRPr>
            </a:lvl2pPr>
            <a:lvl3pPr marL="108585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eaLnBrk="0" fontAlgn="base" hangingPunct="0">
              <a:spcAft>
                <a:spcPct val="0"/>
              </a:spcAft>
              <a:buClr>
                <a:srgbClr val="000000"/>
              </a:buClr>
              <a:buNone/>
            </a:pPr>
            <a:endParaRPr lang="en-US" altLang="en-US" sz="2000" dirty="0">
              <a:solidFill>
                <a:srgbClr val="000000"/>
              </a:solidFill>
            </a:endParaRPr>
          </a:p>
        </p:txBody>
      </p:sp>
      <p:pic>
        <p:nvPicPr>
          <p:cNvPr id="4813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4971" y="2065434"/>
            <a:ext cx="6247809" cy="344090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48131" name="Picture 3"/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9963" r="34909"/>
          <a:stretch/>
        </p:blipFill>
        <p:spPr bwMode="auto">
          <a:xfrm>
            <a:off x="4038600" y="1214927"/>
            <a:ext cx="4381856" cy="13733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48133" name="Picture 5" descr="http://www.nature.com/nature/journal/v507/n7492/images/cover_nature.jpg"/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76058"/>
          <a:stretch/>
        </p:blipFill>
        <p:spPr bwMode="auto">
          <a:xfrm>
            <a:off x="604971" y="3166276"/>
            <a:ext cx="1428750" cy="44924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78529563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en-US">
                <a:solidFill>
                  <a:srgbClr val="000000"/>
                </a:solidFill>
              </a:rPr>
              <a:t>2014</a:t>
            </a: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4294967295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/>
          <a:p>
            <a:r>
              <a:rPr lang="en-US" altLang="en-US">
                <a:solidFill>
                  <a:srgbClr val="000000"/>
                </a:solidFill>
              </a:rPr>
              <a:t>Dept of Comp Med &amp; Bioinf, Kayvan Najarian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F28756-B31F-4EB3-9CB3-CC474DFD3A9D}" type="slidenum">
              <a:rPr lang="en-US" altLang="en-US" smtClean="0">
                <a:solidFill>
                  <a:srgbClr val="000000"/>
                </a:solidFill>
              </a:rPr>
              <a:pPr/>
              <a:t>5</a:t>
            </a:fld>
            <a:endParaRPr lang="en-US" altLang="en-US">
              <a:solidFill>
                <a:srgbClr val="000000"/>
              </a:solidFill>
            </a:endParaRPr>
          </a:p>
        </p:txBody>
      </p:sp>
      <p:sp>
        <p:nvSpPr>
          <p:cNvPr id="5" name="AutoShape 2"/>
          <p:cNvSpPr>
            <a:spLocks noChangeArrowheads="1"/>
          </p:cNvSpPr>
          <p:nvPr/>
        </p:nvSpPr>
        <p:spPr bwMode="auto">
          <a:xfrm>
            <a:off x="304800" y="152400"/>
            <a:ext cx="8610600" cy="914400"/>
          </a:xfrm>
          <a:prstGeom prst="roundRect">
            <a:avLst>
              <a:gd name="adj" fmla="val 16667"/>
            </a:avLst>
          </a:prstGeom>
          <a:solidFill>
            <a:srgbClr val="FFCCFF"/>
          </a:solidFill>
          <a:ln w="34925">
            <a:solidFill>
              <a:srgbClr val="FF3300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sz="2400">
              <a:solidFill>
                <a:srgbClr val="000000"/>
              </a:solidFill>
            </a:endParaRPr>
          </a:p>
        </p:txBody>
      </p:sp>
      <p:sp>
        <p:nvSpPr>
          <p:cNvPr id="6" name="AutoShape 3"/>
          <p:cNvSpPr>
            <a:spLocks noChangeArrowheads="1"/>
          </p:cNvSpPr>
          <p:nvPr/>
        </p:nvSpPr>
        <p:spPr bwMode="auto">
          <a:xfrm>
            <a:off x="304800" y="1143000"/>
            <a:ext cx="8610600" cy="4724400"/>
          </a:xfrm>
          <a:prstGeom prst="roundRect">
            <a:avLst>
              <a:gd name="adj" fmla="val 16667"/>
            </a:avLst>
          </a:prstGeom>
          <a:noFill/>
          <a:ln w="34925">
            <a:solidFill>
              <a:srgbClr val="FF33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sz="2400">
              <a:solidFill>
                <a:srgbClr val="000000"/>
              </a:solidFill>
            </a:endParaRPr>
          </a:p>
        </p:txBody>
      </p:sp>
      <p:sp>
        <p:nvSpPr>
          <p:cNvPr id="7" name="Rectangle 4"/>
          <p:cNvSpPr>
            <a:spLocks noChangeArrowheads="1"/>
          </p:cNvSpPr>
          <p:nvPr/>
        </p:nvSpPr>
        <p:spPr bwMode="auto">
          <a:xfrm>
            <a:off x="762000" y="228600"/>
            <a:ext cx="7772400" cy="685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/>
          <a:lstStyle>
            <a:lvl1pPr algn="ctr">
              <a:defRPr sz="4400">
                <a:solidFill>
                  <a:schemeClr val="tx2"/>
                </a:solidFill>
                <a:latin typeface="Times New Roman" pitchFamily="18" charset="0"/>
              </a:defRPr>
            </a:lvl1pPr>
            <a:lvl2pPr algn="ctr">
              <a:defRPr sz="4400">
                <a:solidFill>
                  <a:schemeClr val="tx2"/>
                </a:solidFill>
                <a:latin typeface="Times New Roman" pitchFamily="18" charset="0"/>
              </a:defRPr>
            </a:lvl2pPr>
            <a:lvl3pPr algn="ctr">
              <a:defRPr sz="4400">
                <a:solidFill>
                  <a:schemeClr val="tx2"/>
                </a:solidFill>
                <a:latin typeface="Times New Roman" pitchFamily="18" charset="0"/>
              </a:defRPr>
            </a:lvl3pPr>
            <a:lvl4pPr algn="ctr">
              <a:defRPr sz="4400">
                <a:solidFill>
                  <a:schemeClr val="tx2"/>
                </a:solidFill>
                <a:latin typeface="Times New Roman" pitchFamily="18" charset="0"/>
              </a:defRPr>
            </a:lvl4pPr>
            <a:lvl5pPr algn="ctr">
              <a:defRPr sz="4400">
                <a:solidFill>
                  <a:schemeClr val="tx2"/>
                </a:solidFill>
                <a:latin typeface="Times New Roman" pitchFamily="18" charset="0"/>
              </a:defRPr>
            </a:lvl5pPr>
            <a:lvl6pPr marL="457200" algn="ctr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imes New Roman" pitchFamily="18" charset="0"/>
              </a:defRPr>
            </a:lvl6pPr>
            <a:lvl7pPr marL="914400" algn="ctr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imes New Roman" pitchFamily="18" charset="0"/>
              </a:defRPr>
            </a:lvl7pPr>
            <a:lvl8pPr marL="1371600" algn="ctr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imes New Roman" pitchFamily="18" charset="0"/>
              </a:defRPr>
            </a:lvl8pPr>
            <a:lvl9pPr marL="1828800" algn="ctr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imes New Roman" pitchFamily="18" charset="0"/>
              </a:defRPr>
            </a:lvl9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2800" dirty="0">
                <a:solidFill>
                  <a:srgbClr val="0000FF"/>
                </a:solidFill>
                <a:latin typeface="Arial" charset="0"/>
              </a:rPr>
              <a:t>Machine Learning</a:t>
            </a:r>
          </a:p>
        </p:txBody>
      </p:sp>
      <p:sp>
        <p:nvSpPr>
          <p:cNvPr id="8" name="Rectangle 5"/>
          <p:cNvSpPr>
            <a:spLocks noChangeArrowheads="1"/>
          </p:cNvSpPr>
          <p:nvPr/>
        </p:nvSpPr>
        <p:spPr bwMode="auto">
          <a:xfrm>
            <a:off x="685800" y="1295400"/>
            <a:ext cx="7543800" cy="4191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2075" tIns="46038" rIns="92075" bIns="46038"/>
          <a:lstStyle>
            <a:lvl1pPr marL="342900" indent="-34290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itchFamily="18" charset="0"/>
              </a:defRPr>
            </a:lvl2pPr>
            <a:lvl3pPr marL="108585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eaLnBrk="0" fontAlgn="base" hangingPunct="0">
              <a:spcAft>
                <a:spcPct val="0"/>
              </a:spcAft>
              <a:buClr>
                <a:srgbClr val="000000"/>
              </a:buClr>
              <a:buNone/>
            </a:pPr>
            <a:endParaRPr lang="en-US" altLang="en-US" sz="2000" dirty="0">
              <a:solidFill>
                <a:srgbClr val="000000"/>
              </a:solidFill>
            </a:endParaRPr>
          </a:p>
        </p:txBody>
      </p:sp>
      <p:sp>
        <p:nvSpPr>
          <p:cNvPr id="38" name="Rectangle 5"/>
          <p:cNvSpPr>
            <a:spLocks noChangeArrowheads="1"/>
          </p:cNvSpPr>
          <p:nvPr/>
        </p:nvSpPr>
        <p:spPr bwMode="auto">
          <a:xfrm>
            <a:off x="838200" y="1392715"/>
            <a:ext cx="7543800" cy="4191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2075" tIns="46038" rIns="92075" bIns="46038"/>
          <a:lstStyle>
            <a:lvl1pPr marL="342900" indent="-34290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itchFamily="18" charset="0"/>
              </a:defRPr>
            </a:lvl2pPr>
            <a:lvl3pPr marL="108585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eaLnBrk="0" fontAlgn="base" hangingPunct="0">
              <a:spcAft>
                <a:spcPct val="0"/>
              </a:spcAft>
              <a:buClr>
                <a:srgbClr val="000000"/>
              </a:buClr>
            </a:pPr>
            <a:r>
              <a:rPr lang="en-US" altLang="en-US" sz="2400" dirty="0">
                <a:solidFill>
                  <a:srgbClr val="000000"/>
                </a:solidFill>
              </a:rPr>
              <a:t>Learning / extracting patterns from data</a:t>
            </a:r>
          </a:p>
          <a:p>
            <a:pPr eaLnBrk="0" fontAlgn="base" hangingPunct="0">
              <a:spcAft>
                <a:spcPct val="0"/>
              </a:spcAft>
              <a:buClr>
                <a:srgbClr val="000000"/>
              </a:buClr>
            </a:pPr>
            <a:r>
              <a:rPr lang="en-US" altLang="en-US" sz="2400" dirty="0">
                <a:solidFill>
                  <a:srgbClr val="000000"/>
                </a:solidFill>
              </a:rPr>
              <a:t>Applied when data are analyzed for:</a:t>
            </a:r>
          </a:p>
          <a:p>
            <a:pPr lvl="1" eaLnBrk="0" fontAlgn="base" hangingPunct="0">
              <a:spcAft>
                <a:spcPct val="0"/>
              </a:spcAft>
              <a:buClr>
                <a:srgbClr val="000000"/>
              </a:buClr>
            </a:pPr>
            <a:r>
              <a:rPr lang="en-US" altLang="en-US" sz="2000" dirty="0">
                <a:solidFill>
                  <a:srgbClr val="000000"/>
                </a:solidFill>
              </a:rPr>
              <a:t>Pattern recognition</a:t>
            </a:r>
          </a:p>
          <a:p>
            <a:pPr lvl="1" eaLnBrk="0" fontAlgn="base" hangingPunct="0">
              <a:spcAft>
                <a:spcPct val="0"/>
              </a:spcAft>
              <a:buClr>
                <a:srgbClr val="000000"/>
              </a:buClr>
            </a:pPr>
            <a:r>
              <a:rPr lang="en-US" altLang="en-US" sz="2000" dirty="0">
                <a:solidFill>
                  <a:srgbClr val="000000"/>
                </a:solidFill>
              </a:rPr>
              <a:t>Classification and clustering</a:t>
            </a:r>
          </a:p>
          <a:p>
            <a:pPr lvl="1" eaLnBrk="0" fontAlgn="base" hangingPunct="0">
              <a:spcAft>
                <a:spcPct val="0"/>
              </a:spcAft>
              <a:buClr>
                <a:srgbClr val="000000"/>
              </a:buClr>
            </a:pPr>
            <a:r>
              <a:rPr lang="en-US" altLang="en-US" sz="2000" dirty="0">
                <a:solidFill>
                  <a:srgbClr val="000000"/>
                </a:solidFill>
              </a:rPr>
              <a:t>Prediction</a:t>
            </a:r>
          </a:p>
          <a:p>
            <a:pPr lvl="1" eaLnBrk="0" fontAlgn="base" hangingPunct="0">
              <a:spcAft>
                <a:spcPct val="0"/>
              </a:spcAft>
              <a:buClr>
                <a:srgbClr val="000000"/>
              </a:buClr>
            </a:pPr>
            <a:r>
              <a:rPr lang="en-US" altLang="en-US" sz="2000" dirty="0">
                <a:solidFill>
                  <a:srgbClr val="000000"/>
                </a:solidFill>
              </a:rPr>
              <a:t>Forming recommendation</a:t>
            </a:r>
          </a:p>
          <a:p>
            <a:pPr eaLnBrk="0" fontAlgn="base" hangingPunct="0">
              <a:spcAft>
                <a:spcPct val="0"/>
              </a:spcAft>
              <a:buClr>
                <a:srgbClr val="000000"/>
              </a:buClr>
            </a:pPr>
            <a:r>
              <a:rPr lang="en-US" altLang="en-US" sz="2400" dirty="0">
                <a:solidFill>
                  <a:srgbClr val="000000"/>
                </a:solidFill>
              </a:rPr>
              <a:t>Inspired by biology</a:t>
            </a:r>
          </a:p>
          <a:p>
            <a:pPr eaLnBrk="0" fontAlgn="base" hangingPunct="0">
              <a:spcAft>
                <a:spcPct val="0"/>
              </a:spcAft>
              <a:buClr>
                <a:srgbClr val="000000"/>
              </a:buClr>
            </a:pPr>
            <a:r>
              <a:rPr lang="en-US" altLang="en-US" sz="2400" dirty="0">
                <a:solidFill>
                  <a:srgbClr val="000000"/>
                </a:solidFill>
              </a:rPr>
              <a:t>Unlike modeling methods that conform to the physical laws of the systems being model, machine learning relies on pattern in training data</a:t>
            </a:r>
          </a:p>
          <a:p>
            <a:pPr eaLnBrk="0" fontAlgn="base" hangingPunct="0">
              <a:spcAft>
                <a:spcPct val="0"/>
              </a:spcAft>
              <a:buClr>
                <a:srgbClr val="000000"/>
              </a:buClr>
            </a:pPr>
            <a:endParaRPr lang="en-US" altLang="en-US" sz="2000" dirty="0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7082039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en-US">
                <a:solidFill>
                  <a:srgbClr val="000000"/>
                </a:solidFill>
              </a:rPr>
              <a:t>2014</a:t>
            </a:r>
          </a:p>
        </p:txBody>
      </p:sp>
      <p:sp>
        <p:nvSpPr>
          <p:cNvPr id="10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70DC27-1C7D-46E9-8E72-FFD08B832F29}" type="slidenum">
              <a:rPr lang="en-US" altLang="en-US">
                <a:solidFill>
                  <a:srgbClr val="000000"/>
                </a:solidFill>
              </a:rPr>
              <a:pPr/>
              <a:t>6</a:t>
            </a:fld>
            <a:endParaRPr lang="en-US" altLang="en-US">
              <a:solidFill>
                <a:srgbClr val="000000"/>
              </a:solidFill>
            </a:endParaRPr>
          </a:p>
        </p:txBody>
      </p:sp>
      <p:sp>
        <p:nvSpPr>
          <p:cNvPr id="147458" name="AutoShape 2"/>
          <p:cNvSpPr>
            <a:spLocks noChangeArrowheads="1"/>
          </p:cNvSpPr>
          <p:nvPr/>
        </p:nvSpPr>
        <p:spPr bwMode="auto">
          <a:xfrm>
            <a:off x="304800" y="152400"/>
            <a:ext cx="8610600" cy="914400"/>
          </a:xfrm>
          <a:prstGeom prst="roundRect">
            <a:avLst>
              <a:gd name="adj" fmla="val 16667"/>
            </a:avLst>
          </a:prstGeom>
          <a:solidFill>
            <a:srgbClr val="FFCCFF"/>
          </a:solidFill>
          <a:ln w="34925">
            <a:solidFill>
              <a:srgbClr val="FF3300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sz="2400">
              <a:solidFill>
                <a:srgbClr val="000000"/>
              </a:solidFill>
            </a:endParaRPr>
          </a:p>
        </p:txBody>
      </p:sp>
      <p:sp>
        <p:nvSpPr>
          <p:cNvPr id="147459" name="AutoShape 3"/>
          <p:cNvSpPr>
            <a:spLocks noChangeArrowheads="1"/>
          </p:cNvSpPr>
          <p:nvPr/>
        </p:nvSpPr>
        <p:spPr bwMode="auto">
          <a:xfrm>
            <a:off x="304800" y="1143000"/>
            <a:ext cx="8610600" cy="4724400"/>
          </a:xfrm>
          <a:prstGeom prst="roundRect">
            <a:avLst>
              <a:gd name="adj" fmla="val 16667"/>
            </a:avLst>
          </a:prstGeom>
          <a:noFill/>
          <a:ln w="34925">
            <a:solidFill>
              <a:srgbClr val="FF33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sz="2400">
              <a:solidFill>
                <a:srgbClr val="000000"/>
              </a:solidFill>
            </a:endParaRPr>
          </a:p>
        </p:txBody>
      </p:sp>
      <p:sp>
        <p:nvSpPr>
          <p:cNvPr id="147460" name="Rectangle 4"/>
          <p:cNvSpPr>
            <a:spLocks noChangeArrowheads="1"/>
          </p:cNvSpPr>
          <p:nvPr/>
        </p:nvSpPr>
        <p:spPr bwMode="auto">
          <a:xfrm>
            <a:off x="762000" y="228600"/>
            <a:ext cx="7772400" cy="685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/>
          <a:lstStyle>
            <a:lvl1pPr algn="ctr">
              <a:defRPr sz="4400">
                <a:solidFill>
                  <a:schemeClr val="tx2"/>
                </a:solidFill>
                <a:latin typeface="Times New Roman" pitchFamily="18" charset="0"/>
              </a:defRPr>
            </a:lvl1pPr>
            <a:lvl2pPr algn="ctr">
              <a:defRPr sz="4400">
                <a:solidFill>
                  <a:schemeClr val="tx2"/>
                </a:solidFill>
                <a:latin typeface="Times New Roman" pitchFamily="18" charset="0"/>
              </a:defRPr>
            </a:lvl2pPr>
            <a:lvl3pPr algn="ctr">
              <a:defRPr sz="4400">
                <a:solidFill>
                  <a:schemeClr val="tx2"/>
                </a:solidFill>
                <a:latin typeface="Times New Roman" pitchFamily="18" charset="0"/>
              </a:defRPr>
            </a:lvl3pPr>
            <a:lvl4pPr algn="ctr">
              <a:defRPr sz="4400">
                <a:solidFill>
                  <a:schemeClr val="tx2"/>
                </a:solidFill>
                <a:latin typeface="Times New Roman" pitchFamily="18" charset="0"/>
              </a:defRPr>
            </a:lvl4pPr>
            <a:lvl5pPr algn="ctr">
              <a:defRPr sz="4400">
                <a:solidFill>
                  <a:schemeClr val="tx2"/>
                </a:solidFill>
                <a:latin typeface="Times New Roman" pitchFamily="18" charset="0"/>
              </a:defRPr>
            </a:lvl5pPr>
            <a:lvl6pPr marL="457200" algn="ctr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imes New Roman" pitchFamily="18" charset="0"/>
              </a:defRPr>
            </a:lvl6pPr>
            <a:lvl7pPr marL="914400" algn="ctr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imes New Roman" pitchFamily="18" charset="0"/>
              </a:defRPr>
            </a:lvl7pPr>
            <a:lvl8pPr marL="1371600" algn="ctr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imes New Roman" pitchFamily="18" charset="0"/>
              </a:defRPr>
            </a:lvl8pPr>
            <a:lvl9pPr marL="1828800" algn="ctr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imes New Roman" pitchFamily="18" charset="0"/>
              </a:defRPr>
            </a:lvl9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2800" dirty="0">
                <a:solidFill>
                  <a:srgbClr val="0000FF"/>
                </a:solidFill>
                <a:latin typeface="Arial" charset="0"/>
              </a:rPr>
              <a:t>Supervised vs. Unsupervised Learning *</a:t>
            </a:r>
          </a:p>
        </p:txBody>
      </p:sp>
      <p:sp>
        <p:nvSpPr>
          <p:cNvPr id="147461" name="Rectangle 5"/>
          <p:cNvSpPr>
            <a:spLocks noChangeArrowheads="1"/>
          </p:cNvSpPr>
          <p:nvPr/>
        </p:nvSpPr>
        <p:spPr bwMode="auto">
          <a:xfrm>
            <a:off x="685800" y="1229298"/>
            <a:ext cx="7543800" cy="4191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2075" tIns="46038" rIns="92075" bIns="46038"/>
          <a:lstStyle>
            <a:lvl1pPr marL="342900" indent="-34290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itchFamily="18" charset="0"/>
              </a:defRPr>
            </a:lvl2pPr>
            <a:lvl3pPr marL="108585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eaLnBrk="0" fontAlgn="base" hangingPunct="0">
              <a:spcAft>
                <a:spcPct val="0"/>
              </a:spcAft>
              <a:buClr>
                <a:srgbClr val="000000"/>
              </a:buClr>
            </a:pPr>
            <a:r>
              <a:rPr lang="en-US" altLang="en-US" sz="2400" dirty="0">
                <a:solidFill>
                  <a:srgbClr val="000000"/>
                </a:solidFill>
              </a:rPr>
              <a:t>Supervised Learning / Classification </a:t>
            </a:r>
          </a:p>
          <a:p>
            <a:pPr lvl="1" eaLnBrk="0" fontAlgn="base" hangingPunct="0">
              <a:spcAft>
                <a:spcPct val="0"/>
              </a:spcAft>
              <a:buClr>
                <a:srgbClr val="000000"/>
              </a:buClr>
            </a:pPr>
            <a:r>
              <a:rPr lang="en-US" altLang="en-US" sz="2000" dirty="0">
                <a:solidFill>
                  <a:srgbClr val="000000"/>
                </a:solidFill>
              </a:rPr>
              <a:t>Training data are labeled, i.e. the output class of all training data are given</a:t>
            </a:r>
          </a:p>
          <a:p>
            <a:pPr lvl="1" eaLnBrk="0" fontAlgn="base" hangingPunct="0">
              <a:spcAft>
                <a:spcPct val="0"/>
              </a:spcAft>
              <a:buClr>
                <a:srgbClr val="000000"/>
              </a:buClr>
              <a:buSzPct val="50000"/>
            </a:pPr>
            <a:r>
              <a:rPr lang="en-US" altLang="en-US" sz="2000" dirty="0">
                <a:solidFill>
                  <a:srgbClr val="000000"/>
                </a:solidFill>
              </a:rPr>
              <a:t>Example: predicting if a sequence is an </a:t>
            </a:r>
            <a:r>
              <a:rPr lang="en-US" altLang="en-US" sz="2000" i="1" dirty="0">
                <a:solidFill>
                  <a:srgbClr val="000000"/>
                </a:solidFill>
              </a:rPr>
              <a:t>a-helix </a:t>
            </a:r>
            <a:r>
              <a:rPr lang="en-US" altLang="en-US" sz="2000" dirty="0">
                <a:solidFill>
                  <a:srgbClr val="000000"/>
                </a:solidFill>
              </a:rPr>
              <a:t>or a  </a:t>
            </a:r>
            <a:r>
              <a:rPr lang="en-US" altLang="en-US" sz="2000" i="1" dirty="0">
                <a:solidFill>
                  <a:srgbClr val="000000"/>
                </a:solidFill>
                <a:latin typeface="Symbol" panose="05050102010706020507" pitchFamily="18" charset="2"/>
              </a:rPr>
              <a:t>b</a:t>
            </a:r>
            <a:r>
              <a:rPr lang="en-US" altLang="en-US" sz="2000" i="1" dirty="0">
                <a:solidFill>
                  <a:srgbClr val="000000"/>
                </a:solidFill>
              </a:rPr>
              <a:t>-sheet</a:t>
            </a:r>
          </a:p>
          <a:p>
            <a:pPr lvl="2" eaLnBrk="0" fontAlgn="base" hangingPunct="0">
              <a:spcAft>
                <a:spcPct val="0"/>
              </a:spcAft>
              <a:buClr>
                <a:srgbClr val="000000"/>
              </a:buClr>
              <a:buSzPct val="50000"/>
            </a:pPr>
            <a:r>
              <a:rPr lang="en-US" altLang="en-US" sz="1800" dirty="0">
                <a:solidFill>
                  <a:srgbClr val="000000"/>
                </a:solidFill>
              </a:rPr>
              <a:t>Training set: </a:t>
            </a:r>
          </a:p>
          <a:p>
            <a:pPr lvl="2" eaLnBrk="0" fontAlgn="base" hangingPunct="0">
              <a:spcAft>
                <a:spcPct val="0"/>
              </a:spcAft>
              <a:buClr>
                <a:srgbClr val="000000"/>
              </a:buClr>
            </a:pPr>
            <a:r>
              <a:rPr lang="en-US" altLang="en-US" sz="1600" dirty="0">
                <a:solidFill>
                  <a:srgbClr val="000000"/>
                </a:solidFill>
              </a:rPr>
              <a:t>Classification:</a:t>
            </a:r>
          </a:p>
          <a:p>
            <a:pPr eaLnBrk="0" fontAlgn="base" hangingPunct="0">
              <a:spcAft>
                <a:spcPct val="0"/>
              </a:spcAft>
              <a:buClr>
                <a:srgbClr val="000000"/>
              </a:buClr>
            </a:pPr>
            <a:r>
              <a:rPr lang="en-US" altLang="en-US" sz="2400" dirty="0">
                <a:solidFill>
                  <a:srgbClr val="000000"/>
                </a:solidFill>
              </a:rPr>
              <a:t>Unsupervised Learning / Clustering</a:t>
            </a:r>
          </a:p>
          <a:p>
            <a:pPr lvl="1" eaLnBrk="0" fontAlgn="base" hangingPunct="0">
              <a:spcAft>
                <a:spcPct val="0"/>
              </a:spcAft>
              <a:buClr>
                <a:srgbClr val="000000"/>
              </a:buClr>
              <a:buSzPct val="50000"/>
            </a:pPr>
            <a:r>
              <a:rPr lang="en-US" altLang="en-US" sz="2000" dirty="0">
                <a:solidFill>
                  <a:srgbClr val="000000"/>
                </a:solidFill>
              </a:rPr>
              <a:t>Training data are not labeled</a:t>
            </a:r>
          </a:p>
          <a:p>
            <a:pPr lvl="1" eaLnBrk="0" fontAlgn="base" hangingPunct="0">
              <a:spcAft>
                <a:spcPct val="0"/>
              </a:spcAft>
              <a:buClr>
                <a:srgbClr val="000000"/>
              </a:buClr>
              <a:buSzPct val="50000"/>
            </a:pPr>
            <a:r>
              <a:rPr lang="en-US" altLang="en-US" sz="2000" dirty="0">
                <a:solidFill>
                  <a:srgbClr val="000000"/>
                </a:solidFill>
              </a:rPr>
              <a:t>Output classes must be generated during training</a:t>
            </a:r>
          </a:p>
          <a:p>
            <a:pPr lvl="1" eaLnBrk="0" fontAlgn="base" hangingPunct="0">
              <a:spcAft>
                <a:spcPct val="0"/>
              </a:spcAft>
              <a:buClr>
                <a:srgbClr val="000000"/>
              </a:buClr>
              <a:buSzPct val="50000"/>
            </a:pPr>
            <a:r>
              <a:rPr lang="en-US" altLang="en-US" sz="2000" dirty="0">
                <a:solidFill>
                  <a:srgbClr val="000000"/>
                </a:solidFill>
              </a:rPr>
              <a:t>Similarity across features of training examples creates different classes</a:t>
            </a:r>
          </a:p>
          <a:p>
            <a:pPr lvl="1" eaLnBrk="0" fontAlgn="base" hangingPunct="0">
              <a:spcAft>
                <a:spcPct val="0"/>
              </a:spcAft>
              <a:buClr>
                <a:srgbClr val="000000"/>
              </a:buClr>
              <a:buSzPct val="50000"/>
            </a:pPr>
            <a:endParaRPr lang="en-US" altLang="en-US" sz="1600" dirty="0">
              <a:solidFill>
                <a:srgbClr val="000000"/>
              </a:solidFill>
            </a:endParaRPr>
          </a:p>
          <a:p>
            <a:pPr lvl="1" eaLnBrk="0" fontAlgn="base" hangingPunct="0">
              <a:spcAft>
                <a:spcPct val="0"/>
              </a:spcAft>
              <a:buClr>
                <a:srgbClr val="000000"/>
              </a:buClr>
              <a:buSzPct val="50000"/>
              <a:buNone/>
            </a:pPr>
            <a:r>
              <a:rPr lang="en-US" altLang="en-US" sz="2000" dirty="0">
                <a:solidFill>
                  <a:srgbClr val="000000"/>
                </a:solidFill>
              </a:rPr>
              <a:t>* Reinforcement learning is not discussed here</a:t>
            </a:r>
          </a:p>
        </p:txBody>
      </p:sp>
      <p:graphicFrame>
        <p:nvGraphicFramePr>
          <p:cNvPr id="147462" name="Object 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693137925"/>
              </p:ext>
            </p:extLst>
          </p:nvPr>
        </p:nvGraphicFramePr>
        <p:xfrm>
          <a:off x="3124200" y="2823882"/>
          <a:ext cx="5567082" cy="27016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4660900" imgH="215900" progId="Equation.3">
                  <p:embed/>
                </p:oleObj>
              </mc:Choice>
              <mc:Fallback>
                <p:oleObj name="Equation" r:id="rId2" imgW="4660900" imgH="215900" progId="Equation.3">
                  <p:embed/>
                  <p:pic>
                    <p:nvPicPr>
                      <p:cNvPr id="0" name="Picture 2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124200" y="2823882"/>
                        <a:ext cx="5567082" cy="270164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47463" name="Object 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599901533"/>
              </p:ext>
            </p:extLst>
          </p:nvPr>
        </p:nvGraphicFramePr>
        <p:xfrm>
          <a:off x="3200400" y="3107988"/>
          <a:ext cx="838200" cy="27170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634725" imgH="203112" progId="Equation.3">
                  <p:embed/>
                </p:oleObj>
              </mc:Choice>
              <mc:Fallback>
                <p:oleObj name="Equation" r:id="rId4" imgW="634725" imgH="203112" progId="Equation.3">
                  <p:embed/>
                  <p:pic>
                    <p:nvPicPr>
                      <p:cNvPr id="0" name="Picture 3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200400" y="3107988"/>
                        <a:ext cx="838200" cy="271708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238692779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en-US"/>
              <a:t>2014</a:t>
            </a:r>
          </a:p>
        </p:txBody>
      </p:sp>
      <p:sp>
        <p:nvSpPr>
          <p:cNvPr id="39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054FD2-F925-470B-AD9A-09903816C535}" type="slidenum">
              <a:rPr lang="en-US" altLang="en-US"/>
              <a:pPr/>
              <a:t>7</a:t>
            </a:fld>
            <a:endParaRPr lang="en-US" altLang="en-US"/>
          </a:p>
        </p:txBody>
      </p:sp>
      <p:sp>
        <p:nvSpPr>
          <p:cNvPr id="148482" name="AutoShape 2"/>
          <p:cNvSpPr>
            <a:spLocks noChangeArrowheads="1"/>
          </p:cNvSpPr>
          <p:nvPr/>
        </p:nvSpPr>
        <p:spPr bwMode="auto">
          <a:xfrm>
            <a:off x="304800" y="152400"/>
            <a:ext cx="8610600" cy="914400"/>
          </a:xfrm>
          <a:prstGeom prst="roundRect">
            <a:avLst>
              <a:gd name="adj" fmla="val 16667"/>
            </a:avLst>
          </a:prstGeom>
          <a:solidFill>
            <a:srgbClr val="FFCCFF"/>
          </a:solidFill>
          <a:ln w="34925">
            <a:solidFill>
              <a:srgbClr val="FF3300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48483" name="AutoShape 3"/>
          <p:cNvSpPr>
            <a:spLocks noChangeArrowheads="1"/>
          </p:cNvSpPr>
          <p:nvPr/>
        </p:nvSpPr>
        <p:spPr bwMode="auto">
          <a:xfrm>
            <a:off x="304800" y="1143000"/>
            <a:ext cx="8610600" cy="4724400"/>
          </a:xfrm>
          <a:prstGeom prst="roundRect">
            <a:avLst>
              <a:gd name="adj" fmla="val 16667"/>
            </a:avLst>
          </a:prstGeom>
          <a:noFill/>
          <a:ln w="34925">
            <a:solidFill>
              <a:srgbClr val="FF33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48484" name="Rectangle 4"/>
          <p:cNvSpPr>
            <a:spLocks noChangeArrowheads="1"/>
          </p:cNvSpPr>
          <p:nvPr/>
        </p:nvSpPr>
        <p:spPr bwMode="auto">
          <a:xfrm>
            <a:off x="762000" y="228600"/>
            <a:ext cx="7772400" cy="685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/>
          <a:lstStyle>
            <a:lvl1pPr algn="ctr">
              <a:defRPr sz="4400">
                <a:solidFill>
                  <a:schemeClr val="tx2"/>
                </a:solidFill>
                <a:latin typeface="Times New Roman" pitchFamily="18" charset="0"/>
              </a:defRPr>
            </a:lvl1pPr>
            <a:lvl2pPr algn="ctr">
              <a:defRPr sz="4400">
                <a:solidFill>
                  <a:schemeClr val="tx2"/>
                </a:solidFill>
                <a:latin typeface="Times New Roman" pitchFamily="18" charset="0"/>
              </a:defRPr>
            </a:lvl2pPr>
            <a:lvl3pPr algn="ctr">
              <a:defRPr sz="4400">
                <a:solidFill>
                  <a:schemeClr val="tx2"/>
                </a:solidFill>
                <a:latin typeface="Times New Roman" pitchFamily="18" charset="0"/>
              </a:defRPr>
            </a:lvl3pPr>
            <a:lvl4pPr algn="ctr">
              <a:defRPr sz="4400">
                <a:solidFill>
                  <a:schemeClr val="tx2"/>
                </a:solidFill>
                <a:latin typeface="Times New Roman" pitchFamily="18" charset="0"/>
              </a:defRPr>
            </a:lvl4pPr>
            <a:lvl5pPr algn="ctr">
              <a:defRPr sz="4400">
                <a:solidFill>
                  <a:schemeClr val="tx2"/>
                </a:solidFill>
                <a:latin typeface="Times New Roman" pitchFamily="18" charset="0"/>
              </a:defRPr>
            </a:lvl5pPr>
            <a:lvl6pPr marL="457200" algn="ctr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imes New Roman" pitchFamily="18" charset="0"/>
              </a:defRPr>
            </a:lvl6pPr>
            <a:lvl7pPr marL="914400" algn="ctr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imes New Roman" pitchFamily="18" charset="0"/>
              </a:defRPr>
            </a:lvl7pPr>
            <a:lvl8pPr marL="1371600" algn="ctr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imes New Roman" pitchFamily="18" charset="0"/>
              </a:defRPr>
            </a:lvl8pPr>
            <a:lvl9pPr marL="1828800" algn="ctr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imes New Roman" pitchFamily="18" charset="0"/>
              </a:defRPr>
            </a:lvl9pPr>
          </a:lstStyle>
          <a:p>
            <a:r>
              <a:rPr lang="en-US" altLang="en-US" sz="2800" i="1" dirty="0">
                <a:solidFill>
                  <a:srgbClr val="0000FF"/>
                </a:solidFill>
                <a:latin typeface="Arial" charset="0"/>
              </a:rPr>
              <a:t>Supervised vs Unsupervised Learning (cont’d)</a:t>
            </a:r>
          </a:p>
        </p:txBody>
      </p:sp>
      <p:sp>
        <p:nvSpPr>
          <p:cNvPr id="148485" name="Rectangle 5"/>
          <p:cNvSpPr>
            <a:spLocks noChangeArrowheads="1"/>
          </p:cNvSpPr>
          <p:nvPr/>
        </p:nvSpPr>
        <p:spPr bwMode="auto">
          <a:xfrm>
            <a:off x="304800" y="1143000"/>
            <a:ext cx="8534400" cy="4572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2075" tIns="46038" rIns="92075" bIns="46038"/>
          <a:lstStyle>
            <a:lvl1pPr marL="342900" indent="-34290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itchFamily="18" charset="0"/>
              </a:defRPr>
            </a:lvl2pPr>
            <a:lvl3pPr marL="108585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lvl="1">
              <a:buClr>
                <a:schemeClr val="tx2"/>
              </a:buClr>
              <a:buSzPct val="50000"/>
            </a:pPr>
            <a:r>
              <a:rPr lang="en-US" altLang="en-US" sz="2000" i="1" dirty="0">
                <a:solidFill>
                  <a:schemeClr val="tx2"/>
                </a:solidFill>
              </a:rPr>
              <a:t>Example </a:t>
            </a:r>
            <a:r>
              <a:rPr lang="en-US" altLang="en-US" sz="2000" dirty="0">
                <a:solidFill>
                  <a:schemeClr val="tx2"/>
                </a:solidFill>
              </a:rPr>
              <a:t>(</a:t>
            </a:r>
            <a:r>
              <a:rPr lang="en-US" altLang="en-US" sz="2000" i="1" dirty="0">
                <a:solidFill>
                  <a:schemeClr val="tx2"/>
                </a:solidFill>
              </a:rPr>
              <a:t>visual insight via scattered plot</a:t>
            </a:r>
            <a:r>
              <a:rPr lang="en-US" altLang="en-US" sz="2000" dirty="0">
                <a:solidFill>
                  <a:schemeClr val="tx2"/>
                </a:solidFill>
              </a:rPr>
              <a:t>): Identification of tumor types</a:t>
            </a:r>
          </a:p>
          <a:p>
            <a:pPr lvl="2">
              <a:buClr>
                <a:schemeClr val="tx2"/>
              </a:buClr>
            </a:pPr>
            <a:r>
              <a:rPr lang="en-US" altLang="en-US" sz="1800" dirty="0">
                <a:solidFill>
                  <a:schemeClr val="tx2"/>
                </a:solidFill>
              </a:rPr>
              <a:t>Input features: Size of Tumor &amp; </a:t>
            </a:r>
          </a:p>
          <a:p>
            <a:pPr lvl="2">
              <a:buClr>
                <a:schemeClr val="tx2"/>
              </a:buClr>
              <a:buFontTx/>
              <a:buNone/>
            </a:pPr>
            <a:r>
              <a:rPr lang="en-US" altLang="en-US" sz="1800" dirty="0">
                <a:solidFill>
                  <a:schemeClr val="tx2"/>
                </a:solidFill>
              </a:rPr>
              <a:t>	Rate of Growth</a:t>
            </a:r>
          </a:p>
          <a:p>
            <a:pPr lvl="2">
              <a:buClr>
                <a:schemeClr val="tx2"/>
              </a:buClr>
            </a:pPr>
            <a:r>
              <a:rPr lang="en-US" altLang="en-US" sz="1800" dirty="0">
                <a:solidFill>
                  <a:schemeClr val="tx2"/>
                </a:solidFill>
              </a:rPr>
              <a:t>Training data create natural clusters</a:t>
            </a:r>
          </a:p>
          <a:p>
            <a:pPr lvl="3">
              <a:buClr>
                <a:schemeClr val="tx2"/>
              </a:buClr>
            </a:pPr>
            <a:r>
              <a:rPr lang="en-US" altLang="en-US" sz="1600" dirty="0">
                <a:solidFill>
                  <a:schemeClr val="tx2"/>
                </a:solidFill>
              </a:rPr>
              <a:t>No specific labels are available</a:t>
            </a:r>
          </a:p>
          <a:p>
            <a:pPr lvl="3">
              <a:buClr>
                <a:schemeClr val="tx2"/>
              </a:buClr>
            </a:pPr>
            <a:r>
              <a:rPr lang="en-US" altLang="en-US" sz="1600" dirty="0">
                <a:solidFill>
                  <a:schemeClr val="tx2"/>
                </a:solidFill>
              </a:rPr>
              <a:t>Assume all tumors are cancerous	</a:t>
            </a:r>
          </a:p>
          <a:p>
            <a:pPr lvl="2">
              <a:buClr>
                <a:schemeClr val="tx2"/>
              </a:buClr>
            </a:pPr>
            <a:r>
              <a:rPr lang="en-US" altLang="en-US" sz="1800" dirty="0">
                <a:solidFill>
                  <a:schemeClr val="tx2"/>
                </a:solidFill>
              </a:rPr>
              <a:t>From graph:</a:t>
            </a:r>
          </a:p>
          <a:p>
            <a:pPr lvl="2">
              <a:buClr>
                <a:schemeClr val="tx2"/>
              </a:buClr>
              <a:buFontTx/>
              <a:buNone/>
            </a:pPr>
            <a:r>
              <a:rPr lang="en-US" altLang="en-US" sz="1800" dirty="0">
                <a:solidFill>
                  <a:schemeClr val="tx2"/>
                </a:solidFill>
              </a:rPr>
              <a:t>	</a:t>
            </a:r>
            <a:r>
              <a:rPr lang="en-US" altLang="en-US" sz="1600" b="1" dirty="0">
                <a:solidFill>
                  <a:schemeClr val="tx2"/>
                </a:solidFill>
              </a:rPr>
              <a:t>Class #1:</a:t>
            </a:r>
            <a:r>
              <a:rPr lang="en-US" altLang="en-US" sz="1600" dirty="0">
                <a:solidFill>
                  <a:schemeClr val="tx2"/>
                </a:solidFill>
              </a:rPr>
              <a:t> small size of tumor with small rate of growth</a:t>
            </a:r>
          </a:p>
          <a:p>
            <a:pPr lvl="2">
              <a:buClr>
                <a:schemeClr val="tx2"/>
              </a:buClr>
              <a:buFontTx/>
              <a:buNone/>
            </a:pPr>
            <a:r>
              <a:rPr lang="en-US" altLang="en-US" sz="1600" dirty="0">
                <a:solidFill>
                  <a:schemeClr val="tx2"/>
                </a:solidFill>
              </a:rPr>
              <a:t>	</a:t>
            </a:r>
            <a:r>
              <a:rPr lang="en-US" altLang="en-US" sz="1600" b="1" dirty="0">
                <a:solidFill>
                  <a:schemeClr val="tx2"/>
                </a:solidFill>
              </a:rPr>
              <a:t>Class #2:</a:t>
            </a:r>
            <a:r>
              <a:rPr lang="en-US" altLang="en-US" sz="1600" dirty="0">
                <a:solidFill>
                  <a:schemeClr val="tx2"/>
                </a:solidFill>
              </a:rPr>
              <a:t> small size of tumor with large rate of growth</a:t>
            </a:r>
          </a:p>
          <a:p>
            <a:pPr lvl="2">
              <a:buClr>
                <a:schemeClr val="tx2"/>
              </a:buClr>
              <a:buFontTx/>
              <a:buNone/>
            </a:pPr>
            <a:r>
              <a:rPr lang="en-US" altLang="en-US" sz="1600" dirty="0">
                <a:solidFill>
                  <a:schemeClr val="tx2"/>
                </a:solidFill>
              </a:rPr>
              <a:t>	</a:t>
            </a:r>
            <a:r>
              <a:rPr lang="en-US" altLang="en-US" sz="1600" b="1" dirty="0">
                <a:solidFill>
                  <a:schemeClr val="tx2"/>
                </a:solidFill>
              </a:rPr>
              <a:t>Class #3</a:t>
            </a:r>
            <a:r>
              <a:rPr lang="en-US" altLang="en-US" sz="1600" dirty="0">
                <a:solidFill>
                  <a:schemeClr val="tx2"/>
                </a:solidFill>
              </a:rPr>
              <a:t>: medium size of tumor  with medium rate of growth</a:t>
            </a:r>
          </a:p>
          <a:p>
            <a:pPr lvl="2">
              <a:buClr>
                <a:schemeClr val="tx2"/>
              </a:buClr>
              <a:buFontTx/>
              <a:buNone/>
            </a:pPr>
            <a:r>
              <a:rPr lang="en-US" altLang="en-US" sz="1600" dirty="0">
                <a:solidFill>
                  <a:schemeClr val="tx2"/>
                </a:solidFill>
              </a:rPr>
              <a:t>	</a:t>
            </a:r>
            <a:r>
              <a:rPr lang="en-US" altLang="en-US" sz="1600" b="1" dirty="0">
                <a:solidFill>
                  <a:schemeClr val="tx2"/>
                </a:solidFill>
              </a:rPr>
              <a:t>Class #4:</a:t>
            </a:r>
            <a:r>
              <a:rPr lang="en-US" altLang="en-US" sz="1600" dirty="0">
                <a:solidFill>
                  <a:schemeClr val="tx2"/>
                </a:solidFill>
              </a:rPr>
              <a:t> large size of tumor with small rate of growth</a:t>
            </a:r>
            <a:endParaRPr lang="en-US" altLang="en-US" sz="1800" dirty="0">
              <a:solidFill>
                <a:schemeClr val="tx2"/>
              </a:solidFill>
            </a:endParaRPr>
          </a:p>
          <a:p>
            <a:pPr lvl="2">
              <a:buClr>
                <a:schemeClr val="tx2"/>
              </a:buClr>
            </a:pPr>
            <a:r>
              <a:rPr lang="en-US" altLang="en-US" sz="1800" dirty="0">
                <a:solidFill>
                  <a:schemeClr val="tx2"/>
                </a:solidFill>
              </a:rPr>
              <a:t>Classification: a tumor with SOT=600 &amp; ROG=12% is mapped to Class #3</a:t>
            </a:r>
          </a:p>
          <a:p>
            <a:pPr lvl="1">
              <a:buClr>
                <a:schemeClr val="tx2"/>
              </a:buClr>
            </a:pPr>
            <a:r>
              <a:rPr lang="en-US" altLang="en-US" sz="2400" dirty="0">
                <a:solidFill>
                  <a:schemeClr val="tx2"/>
                </a:solidFill>
              </a:rPr>
              <a:t>Classification is performed based on clustering results </a:t>
            </a:r>
          </a:p>
          <a:p>
            <a:pPr lvl="2">
              <a:buClr>
                <a:schemeClr val="tx2"/>
              </a:buClr>
            </a:pPr>
            <a:r>
              <a:rPr lang="en-US" altLang="en-US" sz="2000" dirty="0">
                <a:solidFill>
                  <a:schemeClr val="tx2"/>
                </a:solidFill>
              </a:rPr>
              <a:t>Each clustering algorithm results to a classification technique </a:t>
            </a:r>
          </a:p>
        </p:txBody>
      </p:sp>
      <p:sp>
        <p:nvSpPr>
          <p:cNvPr id="148486" name="Line 6"/>
          <p:cNvSpPr>
            <a:spLocks noChangeShapeType="1"/>
          </p:cNvSpPr>
          <p:nvPr/>
        </p:nvSpPr>
        <p:spPr bwMode="auto">
          <a:xfrm flipV="1">
            <a:off x="6404396" y="1712119"/>
            <a:ext cx="0" cy="1863725"/>
          </a:xfrm>
          <a:prstGeom prst="line">
            <a:avLst/>
          </a:prstGeom>
          <a:noFill/>
          <a:ln w="28575" cap="sq">
            <a:solidFill>
              <a:schemeClr val="tx1"/>
            </a:solidFill>
            <a:round/>
            <a:headEnd type="none" w="sm" len="sm"/>
            <a:tailEnd type="triangl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48487" name="Line 7"/>
          <p:cNvSpPr>
            <a:spLocks noChangeShapeType="1"/>
          </p:cNvSpPr>
          <p:nvPr/>
        </p:nvSpPr>
        <p:spPr bwMode="auto">
          <a:xfrm>
            <a:off x="6404396" y="3575844"/>
            <a:ext cx="2355850" cy="0"/>
          </a:xfrm>
          <a:prstGeom prst="line">
            <a:avLst/>
          </a:prstGeom>
          <a:noFill/>
          <a:ln w="28575" cap="sq">
            <a:solidFill>
              <a:schemeClr val="tx1"/>
            </a:solidFill>
            <a:round/>
            <a:headEnd type="none" w="sm" len="sm"/>
            <a:tailEnd type="triangl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48488" name="Text Box 8"/>
          <p:cNvSpPr txBox="1">
            <a:spLocks noChangeArrowheads="1"/>
          </p:cNvSpPr>
          <p:nvPr/>
        </p:nvSpPr>
        <p:spPr bwMode="auto">
          <a:xfrm>
            <a:off x="6921921" y="3726656"/>
            <a:ext cx="1066800" cy="2746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en-US" sz="1200"/>
              <a:t>Size of Tumor</a:t>
            </a:r>
          </a:p>
        </p:txBody>
      </p:sp>
      <p:sp>
        <p:nvSpPr>
          <p:cNvPr id="148489" name="Text Box 9"/>
          <p:cNvSpPr txBox="1">
            <a:spLocks noChangeArrowheads="1"/>
          </p:cNvSpPr>
          <p:nvPr/>
        </p:nvSpPr>
        <p:spPr bwMode="auto">
          <a:xfrm rot="-5392858">
            <a:off x="5551114" y="2584450"/>
            <a:ext cx="1133475" cy="2746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en-US" sz="1200"/>
              <a:t>Rate of Growth</a:t>
            </a:r>
          </a:p>
        </p:txBody>
      </p:sp>
      <p:sp>
        <p:nvSpPr>
          <p:cNvPr id="148490" name="Text Box 10"/>
          <p:cNvSpPr txBox="1">
            <a:spLocks noChangeArrowheads="1"/>
          </p:cNvSpPr>
          <p:nvPr/>
        </p:nvSpPr>
        <p:spPr bwMode="auto">
          <a:xfrm>
            <a:off x="6513933" y="3577431"/>
            <a:ext cx="412750" cy="2746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en-US" sz="1200"/>
              <a:t>100</a:t>
            </a:r>
          </a:p>
        </p:txBody>
      </p:sp>
      <p:sp>
        <p:nvSpPr>
          <p:cNvPr id="148491" name="Text Box 11"/>
          <p:cNvSpPr txBox="1">
            <a:spLocks noChangeArrowheads="1"/>
          </p:cNvSpPr>
          <p:nvPr/>
        </p:nvSpPr>
        <p:spPr bwMode="auto">
          <a:xfrm>
            <a:off x="7380708" y="3575844"/>
            <a:ext cx="504825" cy="2746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r>
              <a:rPr lang="en-US" altLang="en-US" sz="1200"/>
              <a:t>500</a:t>
            </a:r>
          </a:p>
        </p:txBody>
      </p:sp>
      <p:sp>
        <p:nvSpPr>
          <p:cNvPr id="148492" name="Text Box 12"/>
          <p:cNvSpPr txBox="1">
            <a:spLocks noChangeArrowheads="1"/>
          </p:cNvSpPr>
          <p:nvPr/>
        </p:nvSpPr>
        <p:spPr bwMode="auto">
          <a:xfrm>
            <a:off x="8342733" y="3577431"/>
            <a:ext cx="488950" cy="2746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en-US" sz="1200"/>
              <a:t>1000</a:t>
            </a:r>
          </a:p>
        </p:txBody>
      </p:sp>
      <p:sp>
        <p:nvSpPr>
          <p:cNvPr id="148493" name="Text Box 13"/>
          <p:cNvSpPr txBox="1">
            <a:spLocks noChangeArrowheads="1"/>
          </p:cNvSpPr>
          <p:nvPr/>
        </p:nvSpPr>
        <p:spPr bwMode="auto">
          <a:xfrm rot="-5392858">
            <a:off x="6054352" y="3251200"/>
            <a:ext cx="455612" cy="336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en-US" sz="1600"/>
              <a:t>5%</a:t>
            </a:r>
            <a:endParaRPr lang="en-US" altLang="en-US"/>
          </a:p>
        </p:txBody>
      </p:sp>
      <p:sp>
        <p:nvSpPr>
          <p:cNvPr id="148494" name="Text Box 14"/>
          <p:cNvSpPr txBox="1">
            <a:spLocks noChangeArrowheads="1"/>
          </p:cNvSpPr>
          <p:nvPr/>
        </p:nvSpPr>
        <p:spPr bwMode="auto">
          <a:xfrm rot="-5392858">
            <a:off x="5957514" y="1743075"/>
            <a:ext cx="631825" cy="3381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r>
              <a:rPr lang="en-US" altLang="en-US" sz="1600"/>
              <a:t>20 %</a:t>
            </a:r>
            <a:endParaRPr lang="en-US" altLang="en-US"/>
          </a:p>
        </p:txBody>
      </p:sp>
      <p:sp>
        <p:nvSpPr>
          <p:cNvPr id="148495" name="Text Box 15"/>
          <p:cNvSpPr txBox="1">
            <a:spLocks noChangeArrowheads="1"/>
          </p:cNvSpPr>
          <p:nvPr/>
        </p:nvSpPr>
        <p:spPr bwMode="auto">
          <a:xfrm rot="-5392858">
            <a:off x="6004346" y="2466181"/>
            <a:ext cx="557212" cy="3381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en-US" sz="1600"/>
              <a:t>10%</a:t>
            </a:r>
            <a:endParaRPr lang="en-US" altLang="en-US"/>
          </a:p>
        </p:txBody>
      </p:sp>
      <p:sp>
        <p:nvSpPr>
          <p:cNvPr id="148496" name="Oval 16"/>
          <p:cNvSpPr>
            <a:spLocks noChangeArrowheads="1"/>
          </p:cNvSpPr>
          <p:nvPr/>
        </p:nvSpPr>
        <p:spPr bwMode="auto">
          <a:xfrm>
            <a:off x="6577433" y="3237706"/>
            <a:ext cx="57150" cy="57150"/>
          </a:xfrm>
          <a:prstGeom prst="ellipse">
            <a:avLst/>
          </a:prstGeom>
          <a:solidFill>
            <a:schemeClr val="folHlink"/>
          </a:solidFill>
          <a:ln w="12700" cap="sq">
            <a:solidFill>
              <a:schemeClr val="tx1"/>
            </a:solidFill>
            <a:round/>
            <a:headEnd type="none" w="sm" len="sm"/>
            <a:tailEnd type="none" w="sm" len="sm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48497" name="Oval 17"/>
          <p:cNvSpPr>
            <a:spLocks noChangeArrowheads="1"/>
          </p:cNvSpPr>
          <p:nvPr/>
        </p:nvSpPr>
        <p:spPr bwMode="auto">
          <a:xfrm>
            <a:off x="6518696" y="3350419"/>
            <a:ext cx="58737" cy="57150"/>
          </a:xfrm>
          <a:prstGeom prst="ellipse">
            <a:avLst/>
          </a:prstGeom>
          <a:solidFill>
            <a:schemeClr val="folHlink"/>
          </a:solidFill>
          <a:ln w="12700" cap="sq">
            <a:solidFill>
              <a:schemeClr val="tx1"/>
            </a:solidFill>
            <a:round/>
            <a:headEnd type="none" w="sm" len="sm"/>
            <a:tailEnd type="none" w="sm" len="sm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48498" name="Oval 18"/>
          <p:cNvSpPr>
            <a:spLocks noChangeArrowheads="1"/>
          </p:cNvSpPr>
          <p:nvPr/>
        </p:nvSpPr>
        <p:spPr bwMode="auto">
          <a:xfrm>
            <a:off x="6577433" y="3350419"/>
            <a:ext cx="57150" cy="57150"/>
          </a:xfrm>
          <a:prstGeom prst="ellipse">
            <a:avLst/>
          </a:prstGeom>
          <a:solidFill>
            <a:schemeClr val="folHlink"/>
          </a:solidFill>
          <a:ln w="12700" cap="sq">
            <a:solidFill>
              <a:schemeClr val="tx1"/>
            </a:solidFill>
            <a:round/>
            <a:headEnd type="none" w="sm" len="sm"/>
            <a:tailEnd type="none" w="sm" len="sm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48499" name="Oval 19"/>
          <p:cNvSpPr>
            <a:spLocks noChangeArrowheads="1"/>
          </p:cNvSpPr>
          <p:nvPr/>
        </p:nvSpPr>
        <p:spPr bwMode="auto">
          <a:xfrm>
            <a:off x="6461546" y="3237706"/>
            <a:ext cx="57150" cy="57150"/>
          </a:xfrm>
          <a:prstGeom prst="ellipse">
            <a:avLst/>
          </a:prstGeom>
          <a:solidFill>
            <a:schemeClr val="folHlink"/>
          </a:solidFill>
          <a:ln w="12700" cap="sq">
            <a:solidFill>
              <a:schemeClr val="tx1"/>
            </a:solidFill>
            <a:round/>
            <a:headEnd type="none" w="sm" len="sm"/>
            <a:tailEnd type="none" w="sm" len="sm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48500" name="Oval 20"/>
          <p:cNvSpPr>
            <a:spLocks noChangeArrowheads="1"/>
          </p:cNvSpPr>
          <p:nvPr/>
        </p:nvSpPr>
        <p:spPr bwMode="auto">
          <a:xfrm>
            <a:off x="6748883" y="2107406"/>
            <a:ext cx="57150" cy="57150"/>
          </a:xfrm>
          <a:prstGeom prst="ellipse">
            <a:avLst/>
          </a:prstGeom>
          <a:solidFill>
            <a:schemeClr val="folHlink"/>
          </a:solidFill>
          <a:ln w="12700" cap="sq">
            <a:solidFill>
              <a:schemeClr val="tx1"/>
            </a:solidFill>
            <a:round/>
            <a:headEnd type="none" w="sm" len="sm"/>
            <a:tailEnd type="none" w="sm" len="sm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48501" name="Oval 21"/>
          <p:cNvSpPr>
            <a:spLocks noChangeArrowheads="1"/>
          </p:cNvSpPr>
          <p:nvPr/>
        </p:nvSpPr>
        <p:spPr bwMode="auto">
          <a:xfrm>
            <a:off x="6634583" y="2051844"/>
            <a:ext cx="57150" cy="55562"/>
          </a:xfrm>
          <a:prstGeom prst="ellipse">
            <a:avLst/>
          </a:prstGeom>
          <a:solidFill>
            <a:schemeClr val="folHlink"/>
          </a:solidFill>
          <a:ln w="12700" cap="sq">
            <a:solidFill>
              <a:schemeClr val="tx1"/>
            </a:solidFill>
            <a:round/>
            <a:headEnd type="none" w="sm" len="sm"/>
            <a:tailEnd type="none" w="sm" len="sm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48502" name="Oval 22"/>
          <p:cNvSpPr>
            <a:spLocks noChangeArrowheads="1"/>
          </p:cNvSpPr>
          <p:nvPr/>
        </p:nvSpPr>
        <p:spPr bwMode="auto">
          <a:xfrm>
            <a:off x="6691733" y="1939131"/>
            <a:ext cx="57150" cy="55563"/>
          </a:xfrm>
          <a:prstGeom prst="ellipse">
            <a:avLst/>
          </a:prstGeom>
          <a:solidFill>
            <a:schemeClr val="folHlink"/>
          </a:solidFill>
          <a:ln w="12700" cap="sq">
            <a:solidFill>
              <a:schemeClr val="tx1"/>
            </a:solidFill>
            <a:round/>
            <a:headEnd type="none" w="sm" len="sm"/>
            <a:tailEnd type="none" w="sm" len="sm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48503" name="Oval 23"/>
          <p:cNvSpPr>
            <a:spLocks noChangeArrowheads="1"/>
          </p:cNvSpPr>
          <p:nvPr/>
        </p:nvSpPr>
        <p:spPr bwMode="auto">
          <a:xfrm>
            <a:off x="6634583" y="2107406"/>
            <a:ext cx="57150" cy="57150"/>
          </a:xfrm>
          <a:prstGeom prst="ellipse">
            <a:avLst/>
          </a:prstGeom>
          <a:solidFill>
            <a:schemeClr val="folHlink"/>
          </a:solidFill>
          <a:ln w="12700" cap="sq">
            <a:solidFill>
              <a:schemeClr val="tx1"/>
            </a:solidFill>
            <a:round/>
            <a:headEnd type="none" w="sm" len="sm"/>
            <a:tailEnd type="none" w="sm" len="sm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48504" name="Oval 24"/>
          <p:cNvSpPr>
            <a:spLocks noChangeArrowheads="1"/>
          </p:cNvSpPr>
          <p:nvPr/>
        </p:nvSpPr>
        <p:spPr bwMode="auto">
          <a:xfrm>
            <a:off x="6748883" y="2221706"/>
            <a:ext cx="57150" cy="55563"/>
          </a:xfrm>
          <a:prstGeom prst="ellipse">
            <a:avLst/>
          </a:prstGeom>
          <a:solidFill>
            <a:schemeClr val="folHlink"/>
          </a:solidFill>
          <a:ln w="12700" cap="sq">
            <a:solidFill>
              <a:schemeClr val="tx1"/>
            </a:solidFill>
            <a:round/>
            <a:headEnd type="none" w="sm" len="sm"/>
            <a:tailEnd type="none" w="sm" len="sm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48505" name="Oval 25"/>
          <p:cNvSpPr>
            <a:spLocks noChangeArrowheads="1"/>
          </p:cNvSpPr>
          <p:nvPr/>
        </p:nvSpPr>
        <p:spPr bwMode="auto">
          <a:xfrm>
            <a:off x="7323558" y="2616994"/>
            <a:ext cx="57150" cy="55562"/>
          </a:xfrm>
          <a:prstGeom prst="ellipse">
            <a:avLst/>
          </a:prstGeom>
          <a:solidFill>
            <a:schemeClr val="folHlink"/>
          </a:solidFill>
          <a:ln w="12700" cap="sq">
            <a:solidFill>
              <a:schemeClr val="tx1"/>
            </a:solidFill>
            <a:round/>
            <a:headEnd type="none" w="sm" len="sm"/>
            <a:tailEnd type="none" w="sm" len="sm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48506" name="Oval 26"/>
          <p:cNvSpPr>
            <a:spLocks noChangeArrowheads="1"/>
          </p:cNvSpPr>
          <p:nvPr/>
        </p:nvSpPr>
        <p:spPr bwMode="auto">
          <a:xfrm>
            <a:off x="7496596" y="2616994"/>
            <a:ext cx="57150" cy="55562"/>
          </a:xfrm>
          <a:prstGeom prst="ellipse">
            <a:avLst/>
          </a:prstGeom>
          <a:solidFill>
            <a:schemeClr val="folHlink"/>
          </a:solidFill>
          <a:ln w="12700" cap="sq">
            <a:solidFill>
              <a:schemeClr val="tx1"/>
            </a:solidFill>
            <a:round/>
            <a:headEnd type="none" w="sm" len="sm"/>
            <a:tailEnd type="none" w="sm" len="sm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48507" name="Oval 27"/>
          <p:cNvSpPr>
            <a:spLocks noChangeArrowheads="1"/>
          </p:cNvSpPr>
          <p:nvPr/>
        </p:nvSpPr>
        <p:spPr bwMode="auto">
          <a:xfrm>
            <a:off x="7380708" y="2729706"/>
            <a:ext cx="57150" cy="55563"/>
          </a:xfrm>
          <a:prstGeom prst="ellipse">
            <a:avLst/>
          </a:prstGeom>
          <a:solidFill>
            <a:schemeClr val="folHlink"/>
          </a:solidFill>
          <a:ln w="12700" cap="sq">
            <a:solidFill>
              <a:schemeClr val="tx1"/>
            </a:solidFill>
            <a:round/>
            <a:headEnd type="none" w="sm" len="sm"/>
            <a:tailEnd type="none" w="sm" len="sm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48508" name="Oval 28"/>
          <p:cNvSpPr>
            <a:spLocks noChangeArrowheads="1"/>
          </p:cNvSpPr>
          <p:nvPr/>
        </p:nvSpPr>
        <p:spPr bwMode="auto">
          <a:xfrm>
            <a:off x="7437858" y="2277269"/>
            <a:ext cx="58738" cy="57150"/>
          </a:xfrm>
          <a:prstGeom prst="ellipse">
            <a:avLst/>
          </a:prstGeom>
          <a:solidFill>
            <a:schemeClr val="folHlink"/>
          </a:solidFill>
          <a:ln w="12700" cap="sq">
            <a:solidFill>
              <a:schemeClr val="tx1"/>
            </a:solidFill>
            <a:round/>
            <a:headEnd type="none" w="sm" len="sm"/>
            <a:tailEnd type="none" w="sm" len="sm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48509" name="Oval 29"/>
          <p:cNvSpPr>
            <a:spLocks noChangeArrowheads="1"/>
          </p:cNvSpPr>
          <p:nvPr/>
        </p:nvSpPr>
        <p:spPr bwMode="auto">
          <a:xfrm>
            <a:off x="7496596" y="2389981"/>
            <a:ext cx="57150" cy="57150"/>
          </a:xfrm>
          <a:prstGeom prst="ellipse">
            <a:avLst/>
          </a:prstGeom>
          <a:solidFill>
            <a:schemeClr val="folHlink"/>
          </a:solidFill>
          <a:ln w="12700" cap="sq">
            <a:solidFill>
              <a:schemeClr val="tx1"/>
            </a:solidFill>
            <a:round/>
            <a:headEnd type="none" w="sm" len="sm"/>
            <a:tailEnd type="none" w="sm" len="sm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48510" name="Oval 30"/>
          <p:cNvSpPr>
            <a:spLocks noChangeArrowheads="1"/>
          </p:cNvSpPr>
          <p:nvPr/>
        </p:nvSpPr>
        <p:spPr bwMode="auto">
          <a:xfrm>
            <a:off x="8358608" y="3294856"/>
            <a:ext cx="57150" cy="55563"/>
          </a:xfrm>
          <a:prstGeom prst="ellipse">
            <a:avLst/>
          </a:prstGeom>
          <a:solidFill>
            <a:schemeClr val="folHlink"/>
          </a:solidFill>
          <a:ln w="12700" cap="sq">
            <a:solidFill>
              <a:schemeClr val="tx1"/>
            </a:solidFill>
            <a:round/>
            <a:headEnd type="none" w="sm" len="sm"/>
            <a:tailEnd type="none" w="sm" len="sm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48511" name="Oval 31"/>
          <p:cNvSpPr>
            <a:spLocks noChangeArrowheads="1"/>
          </p:cNvSpPr>
          <p:nvPr/>
        </p:nvSpPr>
        <p:spPr bwMode="auto">
          <a:xfrm>
            <a:off x="8415758" y="3180556"/>
            <a:ext cx="57150" cy="57150"/>
          </a:xfrm>
          <a:prstGeom prst="ellipse">
            <a:avLst/>
          </a:prstGeom>
          <a:solidFill>
            <a:schemeClr val="folHlink"/>
          </a:solidFill>
          <a:ln w="12700" cap="sq">
            <a:solidFill>
              <a:schemeClr val="tx1"/>
            </a:solidFill>
            <a:round/>
            <a:headEnd type="none" w="sm" len="sm"/>
            <a:tailEnd type="none" w="sm" len="sm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48512" name="Oval 32"/>
          <p:cNvSpPr>
            <a:spLocks noChangeArrowheads="1"/>
          </p:cNvSpPr>
          <p:nvPr/>
        </p:nvSpPr>
        <p:spPr bwMode="auto">
          <a:xfrm>
            <a:off x="8530058" y="2955131"/>
            <a:ext cx="57150" cy="57150"/>
          </a:xfrm>
          <a:prstGeom prst="ellipse">
            <a:avLst/>
          </a:prstGeom>
          <a:solidFill>
            <a:schemeClr val="folHlink"/>
          </a:solidFill>
          <a:ln w="12700" cap="sq">
            <a:solidFill>
              <a:schemeClr val="tx1"/>
            </a:solidFill>
            <a:round/>
            <a:headEnd type="none" w="sm" len="sm"/>
            <a:tailEnd type="none" w="sm" len="sm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48513" name="Oval 33"/>
          <p:cNvSpPr>
            <a:spLocks noChangeArrowheads="1"/>
          </p:cNvSpPr>
          <p:nvPr/>
        </p:nvSpPr>
        <p:spPr bwMode="auto">
          <a:xfrm>
            <a:off x="8530058" y="3350419"/>
            <a:ext cx="57150" cy="57150"/>
          </a:xfrm>
          <a:prstGeom prst="ellipse">
            <a:avLst/>
          </a:prstGeom>
          <a:solidFill>
            <a:schemeClr val="folHlink"/>
          </a:solidFill>
          <a:ln w="12700" cap="sq">
            <a:solidFill>
              <a:schemeClr val="tx1"/>
            </a:solidFill>
            <a:round/>
            <a:headEnd type="none" w="sm" len="sm"/>
            <a:tailEnd type="none" w="sm" len="sm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48514" name="Oval 34"/>
          <p:cNvSpPr>
            <a:spLocks noChangeArrowheads="1"/>
          </p:cNvSpPr>
          <p:nvPr/>
        </p:nvSpPr>
        <p:spPr bwMode="auto">
          <a:xfrm>
            <a:off x="8530058" y="3067844"/>
            <a:ext cx="57150" cy="57150"/>
          </a:xfrm>
          <a:prstGeom prst="ellipse">
            <a:avLst/>
          </a:prstGeom>
          <a:solidFill>
            <a:schemeClr val="folHlink"/>
          </a:solidFill>
          <a:ln w="12700" cap="sq">
            <a:solidFill>
              <a:schemeClr val="tx1"/>
            </a:solidFill>
            <a:round/>
            <a:headEnd type="none" w="sm" len="sm"/>
            <a:tailEnd type="none" w="sm" len="sm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48515" name="Oval 35"/>
          <p:cNvSpPr>
            <a:spLocks noChangeArrowheads="1"/>
          </p:cNvSpPr>
          <p:nvPr/>
        </p:nvSpPr>
        <p:spPr bwMode="auto">
          <a:xfrm>
            <a:off x="8415758" y="3067844"/>
            <a:ext cx="57150" cy="57150"/>
          </a:xfrm>
          <a:prstGeom prst="ellipse">
            <a:avLst/>
          </a:prstGeom>
          <a:solidFill>
            <a:schemeClr val="folHlink"/>
          </a:solidFill>
          <a:ln w="12700" cap="sq">
            <a:solidFill>
              <a:schemeClr val="tx1"/>
            </a:solidFill>
            <a:round/>
            <a:headEnd type="none" w="sm" len="sm"/>
            <a:tailEnd type="none" w="sm" len="sm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48516" name="Oval 36"/>
          <p:cNvSpPr>
            <a:spLocks noChangeArrowheads="1"/>
          </p:cNvSpPr>
          <p:nvPr/>
        </p:nvSpPr>
        <p:spPr bwMode="auto">
          <a:xfrm>
            <a:off x="8587208" y="3124994"/>
            <a:ext cx="57150" cy="55562"/>
          </a:xfrm>
          <a:prstGeom prst="ellipse">
            <a:avLst/>
          </a:prstGeom>
          <a:solidFill>
            <a:schemeClr val="folHlink"/>
          </a:solidFill>
          <a:ln w="12700" cap="sq">
            <a:solidFill>
              <a:schemeClr val="tx1"/>
            </a:solidFill>
            <a:round/>
            <a:headEnd type="none" w="sm" len="sm"/>
            <a:tailEnd type="none" w="sm" len="sm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020285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en-US"/>
              <a:t>2014</a:t>
            </a:r>
          </a:p>
        </p:txBody>
      </p:sp>
      <p:sp>
        <p:nvSpPr>
          <p:cNvPr id="30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983975-8549-4C03-A6E1-813F8C56D394}" type="slidenum">
              <a:rPr lang="en-US" altLang="en-US"/>
              <a:pPr/>
              <a:t>8</a:t>
            </a:fld>
            <a:endParaRPr lang="en-US" altLang="en-US"/>
          </a:p>
        </p:txBody>
      </p:sp>
      <p:sp>
        <p:nvSpPr>
          <p:cNvPr id="149506" name="AutoShape 2"/>
          <p:cNvSpPr>
            <a:spLocks noChangeArrowheads="1"/>
          </p:cNvSpPr>
          <p:nvPr/>
        </p:nvSpPr>
        <p:spPr bwMode="auto">
          <a:xfrm>
            <a:off x="304800" y="152400"/>
            <a:ext cx="8610600" cy="914400"/>
          </a:xfrm>
          <a:prstGeom prst="roundRect">
            <a:avLst>
              <a:gd name="adj" fmla="val 16667"/>
            </a:avLst>
          </a:prstGeom>
          <a:solidFill>
            <a:srgbClr val="FFCCFF"/>
          </a:solidFill>
          <a:ln w="34925">
            <a:solidFill>
              <a:srgbClr val="FF3300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49507" name="AutoShape 3"/>
          <p:cNvSpPr>
            <a:spLocks noChangeArrowheads="1"/>
          </p:cNvSpPr>
          <p:nvPr/>
        </p:nvSpPr>
        <p:spPr bwMode="auto">
          <a:xfrm>
            <a:off x="304800" y="1143000"/>
            <a:ext cx="8610600" cy="4724400"/>
          </a:xfrm>
          <a:prstGeom prst="roundRect">
            <a:avLst>
              <a:gd name="adj" fmla="val 16667"/>
            </a:avLst>
          </a:prstGeom>
          <a:noFill/>
          <a:ln w="34925">
            <a:solidFill>
              <a:srgbClr val="FF33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49508" name="Rectangle 4"/>
          <p:cNvSpPr>
            <a:spLocks noChangeArrowheads="1"/>
          </p:cNvSpPr>
          <p:nvPr/>
        </p:nvSpPr>
        <p:spPr bwMode="auto">
          <a:xfrm>
            <a:off x="762000" y="228600"/>
            <a:ext cx="7772400" cy="685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/>
          <a:lstStyle>
            <a:lvl1pPr algn="ctr">
              <a:defRPr sz="4400">
                <a:solidFill>
                  <a:schemeClr val="tx2"/>
                </a:solidFill>
                <a:latin typeface="Times New Roman" pitchFamily="18" charset="0"/>
              </a:defRPr>
            </a:lvl1pPr>
            <a:lvl2pPr algn="ctr">
              <a:defRPr sz="4400">
                <a:solidFill>
                  <a:schemeClr val="tx2"/>
                </a:solidFill>
                <a:latin typeface="Times New Roman" pitchFamily="18" charset="0"/>
              </a:defRPr>
            </a:lvl2pPr>
            <a:lvl3pPr algn="ctr">
              <a:defRPr sz="4400">
                <a:solidFill>
                  <a:schemeClr val="tx2"/>
                </a:solidFill>
                <a:latin typeface="Times New Roman" pitchFamily="18" charset="0"/>
              </a:defRPr>
            </a:lvl3pPr>
            <a:lvl4pPr algn="ctr">
              <a:defRPr sz="4400">
                <a:solidFill>
                  <a:schemeClr val="tx2"/>
                </a:solidFill>
                <a:latin typeface="Times New Roman" pitchFamily="18" charset="0"/>
              </a:defRPr>
            </a:lvl4pPr>
            <a:lvl5pPr algn="ctr">
              <a:defRPr sz="4400">
                <a:solidFill>
                  <a:schemeClr val="tx2"/>
                </a:solidFill>
                <a:latin typeface="Times New Roman" pitchFamily="18" charset="0"/>
              </a:defRPr>
            </a:lvl5pPr>
            <a:lvl6pPr marL="457200" algn="ctr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imes New Roman" pitchFamily="18" charset="0"/>
              </a:defRPr>
            </a:lvl6pPr>
            <a:lvl7pPr marL="914400" algn="ctr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imes New Roman" pitchFamily="18" charset="0"/>
              </a:defRPr>
            </a:lvl7pPr>
            <a:lvl8pPr marL="1371600" algn="ctr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imes New Roman" pitchFamily="18" charset="0"/>
              </a:defRPr>
            </a:lvl8pPr>
            <a:lvl9pPr marL="1828800" algn="ctr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imes New Roman" pitchFamily="18" charset="0"/>
              </a:defRPr>
            </a:lvl9pPr>
          </a:lstStyle>
          <a:p>
            <a:r>
              <a:rPr lang="en-US" altLang="en-US" sz="2800" dirty="0">
                <a:solidFill>
                  <a:srgbClr val="0000FF"/>
                </a:solidFill>
                <a:latin typeface="Arial" charset="0"/>
              </a:rPr>
              <a:t>Clustering</a:t>
            </a:r>
          </a:p>
        </p:txBody>
      </p:sp>
      <p:sp>
        <p:nvSpPr>
          <p:cNvPr id="149509" name="Rectangle 5"/>
          <p:cNvSpPr>
            <a:spLocks noChangeArrowheads="1"/>
          </p:cNvSpPr>
          <p:nvPr/>
        </p:nvSpPr>
        <p:spPr bwMode="auto">
          <a:xfrm>
            <a:off x="609600" y="1219200"/>
            <a:ext cx="7696200" cy="4495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marL="342900" indent="-342900"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08585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r>
              <a:rPr lang="en-US" altLang="en-US" sz="2400"/>
              <a:t>The simplest clustering algorithm: K-means</a:t>
            </a:r>
          </a:p>
          <a:p>
            <a:r>
              <a:rPr lang="en-US" altLang="en-US" sz="2400"/>
              <a:t>K-means clustering algorithm</a:t>
            </a:r>
          </a:p>
          <a:p>
            <a:pPr lvl="1"/>
            <a:r>
              <a:rPr lang="en-US" altLang="en-US" sz="2000"/>
              <a:t>General concept of clustering:</a:t>
            </a:r>
          </a:p>
          <a:p>
            <a:pPr lvl="2"/>
            <a:r>
              <a:rPr lang="en-US" altLang="en-US" sz="1800"/>
              <a:t>Assume there are K classes</a:t>
            </a:r>
          </a:p>
          <a:p>
            <a:pPr lvl="2"/>
            <a:r>
              <a:rPr lang="en-US" altLang="en-US" sz="1800"/>
              <a:t>Represent each class with its center</a:t>
            </a:r>
          </a:p>
          <a:p>
            <a:pPr lvl="3"/>
            <a:r>
              <a:rPr lang="en-US" altLang="en-US" sz="1600"/>
              <a:t>Start with some random initial centers</a:t>
            </a:r>
          </a:p>
          <a:p>
            <a:pPr lvl="2"/>
            <a:r>
              <a:rPr lang="en-US" altLang="en-US" sz="1800"/>
              <a:t>Find the best centers for classes, i.e. </a:t>
            </a:r>
          </a:p>
          <a:p>
            <a:pPr lvl="2">
              <a:buFontTx/>
              <a:buNone/>
            </a:pPr>
            <a:r>
              <a:rPr lang="en-US" altLang="en-US" sz="1800"/>
              <a:t>	optimize the centers</a:t>
            </a:r>
          </a:p>
          <a:p>
            <a:pPr lvl="1"/>
            <a:r>
              <a:rPr lang="en-US" altLang="en-US" sz="2000"/>
              <a:t>In classification phase:</a:t>
            </a:r>
          </a:p>
          <a:p>
            <a:pPr lvl="2"/>
            <a:r>
              <a:rPr lang="en-US" altLang="en-US" sz="1800"/>
              <a:t>Find the distance of a new pattern from all centers</a:t>
            </a:r>
          </a:p>
          <a:p>
            <a:pPr lvl="2"/>
            <a:r>
              <a:rPr lang="en-US" altLang="en-US" sz="1800"/>
              <a:t>Find the center whose distance from the the new pattern is minimal</a:t>
            </a:r>
          </a:p>
          <a:p>
            <a:pPr lvl="2"/>
            <a:r>
              <a:rPr lang="en-US" altLang="en-US" sz="1800"/>
              <a:t>Classify the new pattern to the class whose center has minimal distance from the pattern </a:t>
            </a:r>
          </a:p>
        </p:txBody>
      </p:sp>
      <p:sp>
        <p:nvSpPr>
          <p:cNvPr id="149510" name="Line 6"/>
          <p:cNvSpPr>
            <a:spLocks noChangeShapeType="1"/>
          </p:cNvSpPr>
          <p:nvPr/>
        </p:nvSpPr>
        <p:spPr bwMode="auto">
          <a:xfrm flipV="1">
            <a:off x="5943600" y="1828800"/>
            <a:ext cx="0" cy="1981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49511" name="Line 7"/>
          <p:cNvSpPr>
            <a:spLocks noChangeShapeType="1"/>
          </p:cNvSpPr>
          <p:nvPr/>
        </p:nvSpPr>
        <p:spPr bwMode="auto">
          <a:xfrm>
            <a:off x="5867400" y="3276600"/>
            <a:ext cx="2819400" cy="1588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49512" name="Oval 8"/>
          <p:cNvSpPr>
            <a:spLocks noChangeArrowheads="1"/>
          </p:cNvSpPr>
          <p:nvPr/>
        </p:nvSpPr>
        <p:spPr bwMode="auto">
          <a:xfrm>
            <a:off x="6248400" y="2819400"/>
            <a:ext cx="76200" cy="76200"/>
          </a:xfrm>
          <a:prstGeom prst="ellipse">
            <a:avLst/>
          </a:prstGeom>
          <a:solidFill>
            <a:schemeClr val="bg2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endParaRPr lang="en-US" altLang="en-US"/>
          </a:p>
        </p:txBody>
      </p:sp>
      <p:sp>
        <p:nvSpPr>
          <p:cNvPr id="149513" name="Oval 9"/>
          <p:cNvSpPr>
            <a:spLocks noChangeArrowheads="1"/>
          </p:cNvSpPr>
          <p:nvPr/>
        </p:nvSpPr>
        <p:spPr bwMode="auto">
          <a:xfrm>
            <a:off x="6477000" y="2743200"/>
            <a:ext cx="76200" cy="76200"/>
          </a:xfrm>
          <a:prstGeom prst="ellipse">
            <a:avLst/>
          </a:prstGeom>
          <a:solidFill>
            <a:schemeClr val="bg2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endParaRPr lang="en-US" altLang="en-US"/>
          </a:p>
        </p:txBody>
      </p:sp>
      <p:sp>
        <p:nvSpPr>
          <p:cNvPr id="149514" name="Oval 10"/>
          <p:cNvSpPr>
            <a:spLocks noChangeArrowheads="1"/>
          </p:cNvSpPr>
          <p:nvPr/>
        </p:nvSpPr>
        <p:spPr bwMode="auto">
          <a:xfrm>
            <a:off x="7848600" y="2971800"/>
            <a:ext cx="76200" cy="76200"/>
          </a:xfrm>
          <a:prstGeom prst="ellipse">
            <a:avLst/>
          </a:prstGeom>
          <a:solidFill>
            <a:schemeClr val="bg2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endParaRPr lang="en-US" altLang="en-US"/>
          </a:p>
        </p:txBody>
      </p:sp>
      <p:sp>
        <p:nvSpPr>
          <p:cNvPr id="149515" name="Oval 11"/>
          <p:cNvSpPr>
            <a:spLocks noChangeArrowheads="1"/>
          </p:cNvSpPr>
          <p:nvPr/>
        </p:nvSpPr>
        <p:spPr bwMode="auto">
          <a:xfrm>
            <a:off x="8229600" y="2819400"/>
            <a:ext cx="76200" cy="76200"/>
          </a:xfrm>
          <a:prstGeom prst="ellipse">
            <a:avLst/>
          </a:prstGeom>
          <a:solidFill>
            <a:schemeClr val="bg2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endParaRPr lang="en-US" altLang="en-US"/>
          </a:p>
        </p:txBody>
      </p:sp>
      <p:sp>
        <p:nvSpPr>
          <p:cNvPr id="149516" name="Oval 12"/>
          <p:cNvSpPr>
            <a:spLocks noChangeArrowheads="1"/>
          </p:cNvSpPr>
          <p:nvPr/>
        </p:nvSpPr>
        <p:spPr bwMode="auto">
          <a:xfrm>
            <a:off x="7315200" y="2590800"/>
            <a:ext cx="76200" cy="76200"/>
          </a:xfrm>
          <a:prstGeom prst="ellipse">
            <a:avLst/>
          </a:prstGeom>
          <a:solidFill>
            <a:schemeClr val="bg2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endParaRPr lang="en-US" altLang="en-US"/>
          </a:p>
        </p:txBody>
      </p:sp>
      <p:sp>
        <p:nvSpPr>
          <p:cNvPr id="149517" name="Oval 13"/>
          <p:cNvSpPr>
            <a:spLocks noChangeArrowheads="1"/>
          </p:cNvSpPr>
          <p:nvPr/>
        </p:nvSpPr>
        <p:spPr bwMode="auto">
          <a:xfrm>
            <a:off x="6172200" y="2971800"/>
            <a:ext cx="76200" cy="76200"/>
          </a:xfrm>
          <a:prstGeom prst="ellipse">
            <a:avLst/>
          </a:prstGeom>
          <a:solidFill>
            <a:schemeClr val="bg2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endParaRPr lang="en-US" altLang="en-US"/>
          </a:p>
        </p:txBody>
      </p:sp>
      <p:sp>
        <p:nvSpPr>
          <p:cNvPr id="149518" name="Oval 14"/>
          <p:cNvSpPr>
            <a:spLocks noChangeArrowheads="1"/>
          </p:cNvSpPr>
          <p:nvPr/>
        </p:nvSpPr>
        <p:spPr bwMode="auto">
          <a:xfrm>
            <a:off x="6400800" y="2971800"/>
            <a:ext cx="76200" cy="76200"/>
          </a:xfrm>
          <a:prstGeom prst="ellipse">
            <a:avLst/>
          </a:prstGeom>
          <a:solidFill>
            <a:schemeClr val="bg2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endParaRPr lang="en-US" altLang="en-US"/>
          </a:p>
        </p:txBody>
      </p:sp>
      <p:sp>
        <p:nvSpPr>
          <p:cNvPr id="149519" name="Oval 15"/>
          <p:cNvSpPr>
            <a:spLocks noChangeArrowheads="1"/>
          </p:cNvSpPr>
          <p:nvPr/>
        </p:nvSpPr>
        <p:spPr bwMode="auto">
          <a:xfrm>
            <a:off x="7391400" y="2438400"/>
            <a:ext cx="76200" cy="76200"/>
          </a:xfrm>
          <a:prstGeom prst="ellipse">
            <a:avLst/>
          </a:prstGeom>
          <a:solidFill>
            <a:schemeClr val="bg2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endParaRPr lang="en-US" altLang="en-US"/>
          </a:p>
        </p:txBody>
      </p:sp>
      <p:sp>
        <p:nvSpPr>
          <p:cNvPr id="149520" name="Oval 16"/>
          <p:cNvSpPr>
            <a:spLocks noChangeArrowheads="1"/>
          </p:cNvSpPr>
          <p:nvPr/>
        </p:nvSpPr>
        <p:spPr bwMode="auto">
          <a:xfrm>
            <a:off x="6324600" y="28956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endParaRPr lang="en-US" altLang="en-US">
              <a:solidFill>
                <a:srgbClr val="0000FF"/>
              </a:solidFill>
            </a:endParaRPr>
          </a:p>
        </p:txBody>
      </p:sp>
      <p:sp>
        <p:nvSpPr>
          <p:cNvPr id="149521" name="Oval 17"/>
          <p:cNvSpPr>
            <a:spLocks noChangeArrowheads="1"/>
          </p:cNvSpPr>
          <p:nvPr/>
        </p:nvSpPr>
        <p:spPr bwMode="auto">
          <a:xfrm>
            <a:off x="8077200" y="2971800"/>
            <a:ext cx="76200" cy="76200"/>
          </a:xfrm>
          <a:prstGeom prst="ellipse">
            <a:avLst/>
          </a:prstGeom>
          <a:solidFill>
            <a:schemeClr val="bg2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endParaRPr lang="en-US" altLang="en-US"/>
          </a:p>
        </p:txBody>
      </p:sp>
      <p:sp>
        <p:nvSpPr>
          <p:cNvPr id="149522" name="Oval 18"/>
          <p:cNvSpPr>
            <a:spLocks noChangeArrowheads="1"/>
          </p:cNvSpPr>
          <p:nvPr/>
        </p:nvSpPr>
        <p:spPr bwMode="auto">
          <a:xfrm>
            <a:off x="7772400" y="2819400"/>
            <a:ext cx="76200" cy="76200"/>
          </a:xfrm>
          <a:prstGeom prst="ellipse">
            <a:avLst/>
          </a:prstGeom>
          <a:solidFill>
            <a:schemeClr val="bg2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endParaRPr lang="en-US" altLang="en-US"/>
          </a:p>
        </p:txBody>
      </p:sp>
      <p:sp>
        <p:nvSpPr>
          <p:cNvPr id="149523" name="Oval 19"/>
          <p:cNvSpPr>
            <a:spLocks noChangeArrowheads="1"/>
          </p:cNvSpPr>
          <p:nvPr/>
        </p:nvSpPr>
        <p:spPr bwMode="auto">
          <a:xfrm>
            <a:off x="7924800" y="2743200"/>
            <a:ext cx="76200" cy="76200"/>
          </a:xfrm>
          <a:prstGeom prst="ellipse">
            <a:avLst/>
          </a:prstGeom>
          <a:solidFill>
            <a:schemeClr val="bg2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endParaRPr lang="en-US" altLang="en-US"/>
          </a:p>
        </p:txBody>
      </p:sp>
      <p:sp>
        <p:nvSpPr>
          <p:cNvPr id="149524" name="Oval 20"/>
          <p:cNvSpPr>
            <a:spLocks noChangeArrowheads="1"/>
          </p:cNvSpPr>
          <p:nvPr/>
        </p:nvSpPr>
        <p:spPr bwMode="auto">
          <a:xfrm>
            <a:off x="8001000" y="2895600"/>
            <a:ext cx="76200" cy="76200"/>
          </a:xfrm>
          <a:prstGeom prst="ellipse">
            <a:avLst/>
          </a:prstGeom>
          <a:solidFill>
            <a:srgbClr val="0000FF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endParaRPr lang="en-US" altLang="en-US">
              <a:solidFill>
                <a:srgbClr val="0000FF"/>
              </a:solidFill>
            </a:endParaRPr>
          </a:p>
        </p:txBody>
      </p:sp>
      <p:sp>
        <p:nvSpPr>
          <p:cNvPr id="149525" name="Oval 21"/>
          <p:cNvSpPr>
            <a:spLocks noChangeArrowheads="1"/>
          </p:cNvSpPr>
          <p:nvPr/>
        </p:nvSpPr>
        <p:spPr bwMode="auto">
          <a:xfrm>
            <a:off x="7239000" y="2438400"/>
            <a:ext cx="76200" cy="76200"/>
          </a:xfrm>
          <a:prstGeom prst="ellipse">
            <a:avLst/>
          </a:prstGeom>
          <a:solidFill>
            <a:srgbClr val="FF0000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endParaRPr lang="en-US" altLang="en-US">
              <a:solidFill>
                <a:srgbClr val="0000FF"/>
              </a:solidFill>
            </a:endParaRPr>
          </a:p>
        </p:txBody>
      </p:sp>
      <p:sp>
        <p:nvSpPr>
          <p:cNvPr id="149526" name="Oval 22"/>
          <p:cNvSpPr>
            <a:spLocks noChangeArrowheads="1"/>
          </p:cNvSpPr>
          <p:nvPr/>
        </p:nvSpPr>
        <p:spPr bwMode="auto">
          <a:xfrm>
            <a:off x="7162800" y="2514600"/>
            <a:ext cx="76200" cy="76200"/>
          </a:xfrm>
          <a:prstGeom prst="ellipse">
            <a:avLst/>
          </a:prstGeom>
          <a:solidFill>
            <a:schemeClr val="bg2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endParaRPr lang="en-US" altLang="en-US"/>
          </a:p>
        </p:txBody>
      </p:sp>
      <p:sp>
        <p:nvSpPr>
          <p:cNvPr id="149527" name="Oval 23"/>
          <p:cNvSpPr>
            <a:spLocks noChangeArrowheads="1"/>
          </p:cNvSpPr>
          <p:nvPr/>
        </p:nvSpPr>
        <p:spPr bwMode="auto">
          <a:xfrm>
            <a:off x="7086600" y="2438400"/>
            <a:ext cx="76200" cy="76200"/>
          </a:xfrm>
          <a:prstGeom prst="ellipse">
            <a:avLst/>
          </a:prstGeom>
          <a:solidFill>
            <a:schemeClr val="bg2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endParaRPr lang="en-US" altLang="en-US"/>
          </a:p>
        </p:txBody>
      </p:sp>
      <p:sp>
        <p:nvSpPr>
          <p:cNvPr id="149528" name="Oval 24"/>
          <p:cNvSpPr>
            <a:spLocks noChangeArrowheads="1"/>
          </p:cNvSpPr>
          <p:nvPr/>
        </p:nvSpPr>
        <p:spPr bwMode="auto">
          <a:xfrm>
            <a:off x="7162800" y="2667000"/>
            <a:ext cx="76200" cy="76200"/>
          </a:xfrm>
          <a:prstGeom prst="ellipse">
            <a:avLst/>
          </a:prstGeom>
          <a:solidFill>
            <a:schemeClr val="bg2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endParaRPr lang="en-US" altLang="en-US"/>
          </a:p>
        </p:txBody>
      </p:sp>
      <p:sp>
        <p:nvSpPr>
          <p:cNvPr id="149529" name="Oval 25"/>
          <p:cNvSpPr>
            <a:spLocks noChangeArrowheads="1"/>
          </p:cNvSpPr>
          <p:nvPr/>
        </p:nvSpPr>
        <p:spPr bwMode="auto">
          <a:xfrm>
            <a:off x="7467600" y="2362200"/>
            <a:ext cx="76200" cy="76200"/>
          </a:xfrm>
          <a:prstGeom prst="ellipse">
            <a:avLst/>
          </a:prstGeom>
          <a:solidFill>
            <a:schemeClr val="bg2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endParaRPr lang="en-US" altLang="en-US"/>
          </a:p>
        </p:txBody>
      </p:sp>
      <p:sp>
        <p:nvSpPr>
          <p:cNvPr id="149530" name="Text Box 26"/>
          <p:cNvSpPr txBox="1">
            <a:spLocks noChangeArrowheads="1"/>
          </p:cNvSpPr>
          <p:nvPr/>
        </p:nvSpPr>
        <p:spPr bwMode="auto">
          <a:xfrm>
            <a:off x="6096000" y="3352800"/>
            <a:ext cx="2371725" cy="2746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en-US" sz="1200"/>
              <a:t>Expression Level Before Treatment</a:t>
            </a:r>
          </a:p>
        </p:txBody>
      </p:sp>
      <p:sp>
        <p:nvSpPr>
          <p:cNvPr id="149532" name="Text Box 28"/>
          <p:cNvSpPr txBox="1">
            <a:spLocks noChangeArrowheads="1"/>
          </p:cNvSpPr>
          <p:nvPr/>
        </p:nvSpPr>
        <p:spPr bwMode="auto">
          <a:xfrm rot="-5400000">
            <a:off x="4637087" y="2754313"/>
            <a:ext cx="2278063" cy="2746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en-US" sz="1200"/>
              <a:t>Expression Level After Treatment</a:t>
            </a:r>
          </a:p>
        </p:txBody>
      </p:sp>
    </p:spTree>
    <p:extLst>
      <p:ext uri="{BB962C8B-B14F-4D97-AF65-F5344CB8AC3E}">
        <p14:creationId xmlns:p14="http://schemas.microsoft.com/office/powerpoint/2010/main" val="227207035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en-US"/>
              <a:t>2014</a:t>
            </a:r>
          </a:p>
        </p:txBody>
      </p:sp>
      <p:sp>
        <p:nvSpPr>
          <p:cNvPr id="69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D4F787-8EDC-490D-93D8-EE0AC8308FD4}" type="slidenum">
              <a:rPr lang="en-US" altLang="en-US"/>
              <a:pPr/>
              <a:t>9</a:t>
            </a:fld>
            <a:endParaRPr lang="en-US" altLang="en-US"/>
          </a:p>
        </p:txBody>
      </p:sp>
      <p:sp>
        <p:nvSpPr>
          <p:cNvPr id="150530" name="AutoShape 2"/>
          <p:cNvSpPr>
            <a:spLocks noChangeArrowheads="1"/>
          </p:cNvSpPr>
          <p:nvPr/>
        </p:nvSpPr>
        <p:spPr bwMode="auto">
          <a:xfrm>
            <a:off x="304800" y="152400"/>
            <a:ext cx="8610600" cy="914400"/>
          </a:xfrm>
          <a:prstGeom prst="roundRect">
            <a:avLst>
              <a:gd name="adj" fmla="val 16667"/>
            </a:avLst>
          </a:prstGeom>
          <a:solidFill>
            <a:srgbClr val="FFCCFF"/>
          </a:solidFill>
          <a:ln w="34925">
            <a:solidFill>
              <a:srgbClr val="FF3300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50531" name="AutoShape 3"/>
          <p:cNvSpPr>
            <a:spLocks noChangeArrowheads="1"/>
          </p:cNvSpPr>
          <p:nvPr/>
        </p:nvSpPr>
        <p:spPr bwMode="auto">
          <a:xfrm>
            <a:off x="304800" y="1143000"/>
            <a:ext cx="8610600" cy="4953000"/>
          </a:xfrm>
          <a:prstGeom prst="roundRect">
            <a:avLst>
              <a:gd name="adj" fmla="val 16667"/>
            </a:avLst>
          </a:prstGeom>
          <a:noFill/>
          <a:ln w="34925">
            <a:solidFill>
              <a:srgbClr val="FF33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50532" name="Rectangle 4"/>
          <p:cNvSpPr>
            <a:spLocks noChangeArrowheads="1"/>
          </p:cNvSpPr>
          <p:nvPr/>
        </p:nvSpPr>
        <p:spPr bwMode="auto">
          <a:xfrm>
            <a:off x="762000" y="228600"/>
            <a:ext cx="7772400" cy="685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/>
          <a:lstStyle>
            <a:lvl1pPr algn="ctr">
              <a:defRPr sz="4400">
                <a:solidFill>
                  <a:schemeClr val="tx2"/>
                </a:solidFill>
                <a:latin typeface="Times New Roman" pitchFamily="18" charset="0"/>
              </a:defRPr>
            </a:lvl1pPr>
            <a:lvl2pPr algn="ctr">
              <a:defRPr sz="4400">
                <a:solidFill>
                  <a:schemeClr val="tx2"/>
                </a:solidFill>
                <a:latin typeface="Times New Roman" pitchFamily="18" charset="0"/>
              </a:defRPr>
            </a:lvl2pPr>
            <a:lvl3pPr algn="ctr">
              <a:defRPr sz="4400">
                <a:solidFill>
                  <a:schemeClr val="tx2"/>
                </a:solidFill>
                <a:latin typeface="Times New Roman" pitchFamily="18" charset="0"/>
              </a:defRPr>
            </a:lvl3pPr>
            <a:lvl4pPr algn="ctr">
              <a:defRPr sz="4400">
                <a:solidFill>
                  <a:schemeClr val="tx2"/>
                </a:solidFill>
                <a:latin typeface="Times New Roman" pitchFamily="18" charset="0"/>
              </a:defRPr>
            </a:lvl4pPr>
            <a:lvl5pPr algn="ctr">
              <a:defRPr sz="4400">
                <a:solidFill>
                  <a:schemeClr val="tx2"/>
                </a:solidFill>
                <a:latin typeface="Times New Roman" pitchFamily="18" charset="0"/>
              </a:defRPr>
            </a:lvl5pPr>
            <a:lvl6pPr marL="457200" algn="ctr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imes New Roman" pitchFamily="18" charset="0"/>
              </a:defRPr>
            </a:lvl6pPr>
            <a:lvl7pPr marL="914400" algn="ctr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imes New Roman" pitchFamily="18" charset="0"/>
              </a:defRPr>
            </a:lvl7pPr>
            <a:lvl8pPr marL="1371600" algn="ctr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imes New Roman" pitchFamily="18" charset="0"/>
              </a:defRPr>
            </a:lvl8pPr>
            <a:lvl9pPr marL="1828800" algn="ctr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imes New Roman" pitchFamily="18" charset="0"/>
              </a:defRPr>
            </a:lvl9pPr>
          </a:lstStyle>
          <a:p>
            <a:r>
              <a:rPr lang="en-US" altLang="en-US" sz="2800" i="1">
                <a:solidFill>
                  <a:srgbClr val="0000FF"/>
                </a:solidFill>
                <a:latin typeface="Arial" charset="0"/>
              </a:rPr>
              <a:t>Clustering (cont’d)</a:t>
            </a:r>
          </a:p>
        </p:txBody>
      </p:sp>
      <p:sp>
        <p:nvSpPr>
          <p:cNvPr id="150533" name="Rectangle 5"/>
          <p:cNvSpPr>
            <a:spLocks noChangeArrowheads="1"/>
          </p:cNvSpPr>
          <p:nvPr/>
        </p:nvSpPr>
        <p:spPr bwMode="auto">
          <a:xfrm>
            <a:off x="609600" y="1219200"/>
            <a:ext cx="7696200" cy="4495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marL="342900" indent="-342900"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08585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lvl="1"/>
            <a:r>
              <a:rPr lang="en-US" altLang="en-US" sz="2000"/>
              <a:t>Mathematical formulation:</a:t>
            </a:r>
          </a:p>
          <a:p>
            <a:pPr lvl="2"/>
            <a:r>
              <a:rPr lang="en-US" altLang="en-US" sz="1800"/>
              <a:t>Randomly initialize the centers </a:t>
            </a:r>
            <a:r>
              <a:rPr lang="en-US" altLang="en-US" sz="1800" i="1"/>
              <a:t>m</a:t>
            </a:r>
            <a:r>
              <a:rPr lang="en-US" altLang="en-US" sz="1800" baseline="-25000"/>
              <a:t>0</a:t>
            </a:r>
            <a:r>
              <a:rPr lang="en-US" altLang="en-US" sz="1800"/>
              <a:t>, </a:t>
            </a:r>
            <a:r>
              <a:rPr lang="en-US" altLang="en-US" sz="1800" i="1"/>
              <a:t>m</a:t>
            </a:r>
            <a:r>
              <a:rPr lang="en-US" altLang="en-US" sz="1800" baseline="-25000"/>
              <a:t>1</a:t>
            </a:r>
            <a:r>
              <a:rPr lang="en-US" altLang="en-US" sz="1800"/>
              <a:t>,…, </a:t>
            </a:r>
            <a:r>
              <a:rPr lang="en-US" altLang="en-US" sz="1800" i="1"/>
              <a:t>m</a:t>
            </a:r>
            <a:r>
              <a:rPr lang="en-US" altLang="en-US" sz="1800" i="1" baseline="-25000"/>
              <a:t>K</a:t>
            </a:r>
            <a:r>
              <a:rPr lang="en-US" altLang="en-US" sz="1800" baseline="-25000"/>
              <a:t>-1</a:t>
            </a:r>
            <a:r>
              <a:rPr lang="en-US" altLang="en-US" sz="1800"/>
              <a:t>.</a:t>
            </a:r>
          </a:p>
          <a:p>
            <a:pPr lvl="2"/>
            <a:r>
              <a:rPr lang="en-US" altLang="en-US" sz="1800"/>
              <a:t>Find the distance of all samples </a:t>
            </a:r>
            <a:r>
              <a:rPr lang="en-US" altLang="en-US" sz="1800" i="1"/>
              <a:t>x</a:t>
            </a:r>
            <a:r>
              <a:rPr lang="en-US" altLang="en-US" sz="1800" baseline="-25000"/>
              <a:t>0</a:t>
            </a:r>
            <a:r>
              <a:rPr lang="en-US" altLang="en-US" sz="1800"/>
              <a:t>, </a:t>
            </a:r>
            <a:r>
              <a:rPr lang="en-US" altLang="en-US" sz="1800" i="1"/>
              <a:t>x</a:t>
            </a:r>
            <a:r>
              <a:rPr lang="en-US" altLang="en-US" sz="1800" baseline="-25000"/>
              <a:t>1</a:t>
            </a:r>
            <a:r>
              <a:rPr lang="en-US" altLang="en-US" sz="1800"/>
              <a:t>,…, </a:t>
            </a:r>
            <a:r>
              <a:rPr lang="en-US" altLang="en-US" sz="1800" i="1"/>
              <a:t>x</a:t>
            </a:r>
            <a:r>
              <a:rPr lang="en-US" altLang="en-US" sz="1800" i="1" baseline="-25000"/>
              <a:t>n</a:t>
            </a:r>
            <a:r>
              <a:rPr lang="en-US" altLang="en-US" sz="1800" baseline="-25000"/>
              <a:t>-1</a:t>
            </a:r>
            <a:r>
              <a:rPr lang="en-US" altLang="en-US" sz="1800"/>
              <a:t> </a:t>
            </a:r>
          </a:p>
          <a:p>
            <a:pPr lvl="2">
              <a:buFontTx/>
              <a:buNone/>
            </a:pPr>
            <a:r>
              <a:rPr lang="en-US" altLang="en-US" sz="1800"/>
              <a:t>	from all centers </a:t>
            </a:r>
            <a:r>
              <a:rPr lang="en-US" altLang="en-US" sz="1800" i="1"/>
              <a:t>m</a:t>
            </a:r>
            <a:r>
              <a:rPr lang="en-US" altLang="en-US" sz="1800" baseline="-25000"/>
              <a:t>0</a:t>
            </a:r>
            <a:r>
              <a:rPr lang="en-US" altLang="en-US" sz="1800"/>
              <a:t>, </a:t>
            </a:r>
            <a:r>
              <a:rPr lang="en-US" altLang="en-US" sz="1800" i="1"/>
              <a:t>m</a:t>
            </a:r>
            <a:r>
              <a:rPr lang="en-US" altLang="en-US" sz="1800" baseline="-25000"/>
              <a:t>1</a:t>
            </a:r>
            <a:r>
              <a:rPr lang="en-US" altLang="en-US" sz="1800"/>
              <a:t>,…, </a:t>
            </a:r>
            <a:r>
              <a:rPr lang="en-US" altLang="en-US" sz="1800" i="1"/>
              <a:t>m</a:t>
            </a:r>
            <a:r>
              <a:rPr lang="en-US" altLang="en-US" sz="1800" i="1" baseline="-25000"/>
              <a:t>K</a:t>
            </a:r>
            <a:r>
              <a:rPr lang="en-US" altLang="en-US" sz="1800" baseline="-25000"/>
              <a:t>-1</a:t>
            </a:r>
            <a:r>
              <a:rPr lang="en-US" altLang="en-US" sz="1800"/>
              <a:t>, i.e. for all </a:t>
            </a:r>
          </a:p>
          <a:p>
            <a:pPr lvl="2">
              <a:buFontTx/>
              <a:buNone/>
            </a:pPr>
            <a:r>
              <a:rPr lang="en-US" altLang="en-US" sz="1800"/>
              <a:t>	0</a:t>
            </a:r>
            <a:r>
              <a:rPr lang="en-US" altLang="en-US" sz="1800">
                <a:latin typeface="Symbol" pitchFamily="18" charset="2"/>
              </a:rPr>
              <a:t>£</a:t>
            </a:r>
            <a:r>
              <a:rPr lang="en-US" altLang="en-US" sz="1800" i="1"/>
              <a:t>i</a:t>
            </a:r>
            <a:r>
              <a:rPr lang="en-US" altLang="en-US" sz="1800">
                <a:latin typeface="Symbol" pitchFamily="18" charset="2"/>
              </a:rPr>
              <a:t>£</a:t>
            </a:r>
            <a:r>
              <a:rPr lang="en-US" altLang="en-US" sz="1800" i="1"/>
              <a:t>n-</a:t>
            </a:r>
            <a:r>
              <a:rPr lang="en-US" altLang="en-US" sz="1800"/>
              <a:t>1 and 0</a:t>
            </a:r>
            <a:r>
              <a:rPr lang="en-US" altLang="en-US" sz="1800">
                <a:latin typeface="Symbol" pitchFamily="18" charset="2"/>
              </a:rPr>
              <a:t>£</a:t>
            </a:r>
            <a:r>
              <a:rPr lang="en-US" altLang="en-US" sz="1800" i="1"/>
              <a:t>j</a:t>
            </a:r>
            <a:r>
              <a:rPr lang="en-US" altLang="en-US" sz="1800">
                <a:latin typeface="Symbol" pitchFamily="18" charset="2"/>
              </a:rPr>
              <a:t>£</a:t>
            </a:r>
            <a:r>
              <a:rPr lang="en-US" altLang="en-US" sz="1800" i="1"/>
              <a:t>K-</a:t>
            </a:r>
            <a:r>
              <a:rPr lang="en-US" altLang="en-US" sz="1800"/>
              <a:t>1 find:</a:t>
            </a:r>
          </a:p>
          <a:p>
            <a:pPr lvl="2">
              <a:buFontTx/>
              <a:buNone/>
            </a:pPr>
            <a:endParaRPr lang="en-US" altLang="en-US" sz="1800"/>
          </a:p>
          <a:p>
            <a:pPr lvl="2"/>
            <a:r>
              <a:rPr lang="en-US" altLang="en-US" sz="1800"/>
              <a:t>Form classes </a:t>
            </a:r>
            <a:r>
              <a:rPr lang="en-US" altLang="en-US" sz="1800" i="1"/>
              <a:t>j </a:t>
            </a:r>
            <a:r>
              <a:rPr lang="en-US" altLang="en-US" sz="1800"/>
              <a:t>= 1,2,…, </a:t>
            </a:r>
            <a:r>
              <a:rPr lang="en-US" altLang="en-US" sz="1800" i="1"/>
              <a:t>K-</a:t>
            </a:r>
            <a:r>
              <a:rPr lang="en-US" altLang="en-US" sz="1800"/>
              <a:t>1, by assigning</a:t>
            </a:r>
          </a:p>
          <a:p>
            <a:pPr lvl="2">
              <a:buFontTx/>
              <a:buNone/>
            </a:pPr>
            <a:r>
              <a:rPr lang="en-US" altLang="en-US" sz="1800"/>
              <a:t>	each sample to the closet center, </a:t>
            </a:r>
          </a:p>
          <a:p>
            <a:pPr lvl="2">
              <a:buFontTx/>
              <a:buNone/>
            </a:pPr>
            <a:r>
              <a:rPr lang="en-US" altLang="en-US" sz="1800"/>
              <a:t>	i.e. put together all examples whose </a:t>
            </a:r>
          </a:p>
          <a:p>
            <a:pPr lvl="2">
              <a:buFontTx/>
              <a:buNone/>
            </a:pPr>
            <a:r>
              <a:rPr lang="en-US" altLang="en-US" sz="1800"/>
              <a:t>	distance to center </a:t>
            </a:r>
            <a:r>
              <a:rPr lang="en-US" altLang="en-US" sz="1800" i="1"/>
              <a:t>j</a:t>
            </a:r>
            <a:r>
              <a:rPr lang="en-US" altLang="en-US" sz="1800"/>
              <a:t> is minimal to </a:t>
            </a:r>
          </a:p>
          <a:p>
            <a:pPr lvl="2">
              <a:buFontTx/>
              <a:buNone/>
            </a:pPr>
            <a:r>
              <a:rPr lang="en-US" altLang="en-US" sz="1800"/>
              <a:t>	form class </a:t>
            </a:r>
            <a:r>
              <a:rPr lang="en-US" altLang="en-US" sz="1800" i="1"/>
              <a:t>j. </a:t>
            </a:r>
          </a:p>
          <a:p>
            <a:pPr lvl="2"/>
            <a:r>
              <a:rPr lang="en-US" altLang="en-US" sz="1800"/>
              <a:t>Then find the new centers by finding the sample </a:t>
            </a:r>
          </a:p>
          <a:p>
            <a:pPr lvl="2">
              <a:buFontTx/>
              <a:buNone/>
            </a:pPr>
            <a:r>
              <a:rPr lang="en-US" altLang="en-US" sz="1800"/>
              <a:t>	that is the closet sample to the average of all</a:t>
            </a:r>
          </a:p>
          <a:p>
            <a:pPr lvl="2">
              <a:buFontTx/>
              <a:buNone/>
            </a:pPr>
            <a:r>
              <a:rPr lang="en-US" altLang="en-US" sz="1800"/>
              <a:t>	samples in the class, i.e., new </a:t>
            </a:r>
            <a:r>
              <a:rPr lang="en-US" altLang="en-US" sz="1800" i="1"/>
              <a:t>m</a:t>
            </a:r>
            <a:r>
              <a:rPr lang="en-US" altLang="en-US" sz="1800" i="1" baseline="-25000"/>
              <a:t>j</a:t>
            </a:r>
            <a:r>
              <a:rPr lang="en-US" altLang="en-US" sz="1800"/>
              <a:t> = average( all examples in class </a:t>
            </a:r>
            <a:r>
              <a:rPr lang="en-US" altLang="en-US" sz="1800" i="1"/>
              <a:t>j</a:t>
            </a:r>
            <a:r>
              <a:rPr lang="en-US" altLang="en-US" sz="1800"/>
              <a:t>)</a:t>
            </a:r>
          </a:p>
        </p:txBody>
      </p:sp>
      <p:graphicFrame>
        <p:nvGraphicFramePr>
          <p:cNvPr id="150534" name="Object 6"/>
          <p:cNvGraphicFramePr>
            <a:graphicFrameLocks noChangeAspect="1"/>
          </p:cNvGraphicFramePr>
          <p:nvPr/>
        </p:nvGraphicFramePr>
        <p:xfrm>
          <a:off x="3048000" y="2895600"/>
          <a:ext cx="1752600" cy="3921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1244600" imgH="279400" progId="Equation.3">
                  <p:embed/>
                </p:oleObj>
              </mc:Choice>
              <mc:Fallback>
                <p:oleObj name="Equation" r:id="rId2" imgW="1244600" imgH="279400" progId="Equation.3">
                  <p:embed/>
                  <p:pic>
                    <p:nvPicPr>
                      <p:cNvPr id="0" name="Picture 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048000" y="2895600"/>
                        <a:ext cx="1752600" cy="392113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50535" name="Line 7"/>
          <p:cNvSpPr>
            <a:spLocks noChangeShapeType="1"/>
          </p:cNvSpPr>
          <p:nvPr/>
        </p:nvSpPr>
        <p:spPr bwMode="auto">
          <a:xfrm flipV="1">
            <a:off x="6384777" y="1217612"/>
            <a:ext cx="1588" cy="990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50536" name="Line 8"/>
          <p:cNvSpPr>
            <a:spLocks noChangeShapeType="1"/>
          </p:cNvSpPr>
          <p:nvPr/>
        </p:nvSpPr>
        <p:spPr bwMode="auto">
          <a:xfrm>
            <a:off x="6079977" y="2132012"/>
            <a:ext cx="2743200" cy="1588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50537" name="Oval 9"/>
          <p:cNvSpPr>
            <a:spLocks noChangeArrowheads="1"/>
          </p:cNvSpPr>
          <p:nvPr/>
        </p:nvSpPr>
        <p:spPr bwMode="auto">
          <a:xfrm>
            <a:off x="6613377" y="1598612"/>
            <a:ext cx="76200" cy="76200"/>
          </a:xfrm>
          <a:prstGeom prst="ellipse">
            <a:avLst/>
          </a:prstGeom>
          <a:solidFill>
            <a:schemeClr val="bg2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endParaRPr lang="en-US" altLang="en-US"/>
          </a:p>
        </p:txBody>
      </p:sp>
      <p:sp>
        <p:nvSpPr>
          <p:cNvPr id="150538" name="Oval 10"/>
          <p:cNvSpPr>
            <a:spLocks noChangeArrowheads="1"/>
          </p:cNvSpPr>
          <p:nvPr/>
        </p:nvSpPr>
        <p:spPr bwMode="auto">
          <a:xfrm>
            <a:off x="6841977" y="1522412"/>
            <a:ext cx="76200" cy="76200"/>
          </a:xfrm>
          <a:prstGeom prst="ellipse">
            <a:avLst/>
          </a:prstGeom>
          <a:solidFill>
            <a:schemeClr val="accent1"/>
          </a:solidFill>
          <a:ln w="2857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endParaRPr lang="en-US" altLang="en-US"/>
          </a:p>
        </p:txBody>
      </p:sp>
      <p:sp>
        <p:nvSpPr>
          <p:cNvPr id="150539" name="Oval 11"/>
          <p:cNvSpPr>
            <a:spLocks noChangeArrowheads="1"/>
          </p:cNvSpPr>
          <p:nvPr/>
        </p:nvSpPr>
        <p:spPr bwMode="auto">
          <a:xfrm>
            <a:off x="8213577" y="1751012"/>
            <a:ext cx="76200" cy="76200"/>
          </a:xfrm>
          <a:prstGeom prst="ellipse">
            <a:avLst/>
          </a:prstGeom>
          <a:solidFill>
            <a:schemeClr val="bg2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endParaRPr lang="en-US" altLang="en-US"/>
          </a:p>
        </p:txBody>
      </p:sp>
      <p:sp>
        <p:nvSpPr>
          <p:cNvPr id="150540" name="Oval 12"/>
          <p:cNvSpPr>
            <a:spLocks noChangeArrowheads="1"/>
          </p:cNvSpPr>
          <p:nvPr/>
        </p:nvSpPr>
        <p:spPr bwMode="auto">
          <a:xfrm>
            <a:off x="8594577" y="1598612"/>
            <a:ext cx="76200" cy="76200"/>
          </a:xfrm>
          <a:prstGeom prst="ellipse">
            <a:avLst/>
          </a:prstGeom>
          <a:solidFill>
            <a:schemeClr val="bg2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endParaRPr lang="en-US" altLang="en-US"/>
          </a:p>
        </p:txBody>
      </p:sp>
      <p:sp>
        <p:nvSpPr>
          <p:cNvPr id="150541" name="Oval 13"/>
          <p:cNvSpPr>
            <a:spLocks noChangeArrowheads="1"/>
          </p:cNvSpPr>
          <p:nvPr/>
        </p:nvSpPr>
        <p:spPr bwMode="auto">
          <a:xfrm>
            <a:off x="7680177" y="1370012"/>
            <a:ext cx="76200" cy="76200"/>
          </a:xfrm>
          <a:prstGeom prst="ellipse">
            <a:avLst/>
          </a:prstGeom>
          <a:solidFill>
            <a:schemeClr val="bg2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endParaRPr lang="en-US" altLang="en-US"/>
          </a:p>
        </p:txBody>
      </p:sp>
      <p:sp>
        <p:nvSpPr>
          <p:cNvPr id="150542" name="Oval 14"/>
          <p:cNvSpPr>
            <a:spLocks noChangeArrowheads="1"/>
          </p:cNvSpPr>
          <p:nvPr/>
        </p:nvSpPr>
        <p:spPr bwMode="auto">
          <a:xfrm>
            <a:off x="6537177" y="1751012"/>
            <a:ext cx="76200" cy="76200"/>
          </a:xfrm>
          <a:prstGeom prst="ellipse">
            <a:avLst/>
          </a:prstGeom>
          <a:solidFill>
            <a:schemeClr val="bg2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endParaRPr lang="en-US" altLang="en-US"/>
          </a:p>
        </p:txBody>
      </p:sp>
      <p:sp>
        <p:nvSpPr>
          <p:cNvPr id="150543" name="Oval 15"/>
          <p:cNvSpPr>
            <a:spLocks noChangeArrowheads="1"/>
          </p:cNvSpPr>
          <p:nvPr/>
        </p:nvSpPr>
        <p:spPr bwMode="auto">
          <a:xfrm>
            <a:off x="6765777" y="1751012"/>
            <a:ext cx="76200" cy="76200"/>
          </a:xfrm>
          <a:prstGeom prst="ellipse">
            <a:avLst/>
          </a:prstGeom>
          <a:solidFill>
            <a:schemeClr val="bg2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endParaRPr lang="en-US" altLang="en-US"/>
          </a:p>
        </p:txBody>
      </p:sp>
      <p:sp>
        <p:nvSpPr>
          <p:cNvPr id="150544" name="Oval 16"/>
          <p:cNvSpPr>
            <a:spLocks noChangeArrowheads="1"/>
          </p:cNvSpPr>
          <p:nvPr/>
        </p:nvSpPr>
        <p:spPr bwMode="auto">
          <a:xfrm>
            <a:off x="7756377" y="1217612"/>
            <a:ext cx="76200" cy="76200"/>
          </a:xfrm>
          <a:prstGeom prst="ellipse">
            <a:avLst/>
          </a:prstGeom>
          <a:solidFill>
            <a:schemeClr val="bg2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endParaRPr lang="en-US" altLang="en-US"/>
          </a:p>
        </p:txBody>
      </p:sp>
      <p:sp>
        <p:nvSpPr>
          <p:cNvPr id="150545" name="Oval 17"/>
          <p:cNvSpPr>
            <a:spLocks noChangeArrowheads="1"/>
          </p:cNvSpPr>
          <p:nvPr/>
        </p:nvSpPr>
        <p:spPr bwMode="auto">
          <a:xfrm>
            <a:off x="6689577" y="1674812"/>
            <a:ext cx="76200" cy="76200"/>
          </a:xfrm>
          <a:prstGeom prst="ellipse">
            <a:avLst/>
          </a:prstGeom>
          <a:solidFill>
            <a:schemeClr val="bg2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endParaRPr lang="en-US" altLang="en-US">
              <a:solidFill>
                <a:srgbClr val="0000FF"/>
              </a:solidFill>
            </a:endParaRPr>
          </a:p>
        </p:txBody>
      </p:sp>
      <p:sp>
        <p:nvSpPr>
          <p:cNvPr id="150546" name="Oval 18"/>
          <p:cNvSpPr>
            <a:spLocks noChangeArrowheads="1"/>
          </p:cNvSpPr>
          <p:nvPr/>
        </p:nvSpPr>
        <p:spPr bwMode="auto">
          <a:xfrm>
            <a:off x="8442177" y="1751012"/>
            <a:ext cx="76200" cy="76200"/>
          </a:xfrm>
          <a:prstGeom prst="ellipse">
            <a:avLst/>
          </a:prstGeom>
          <a:solidFill>
            <a:schemeClr val="bg2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endParaRPr lang="en-US" altLang="en-US"/>
          </a:p>
        </p:txBody>
      </p:sp>
      <p:sp>
        <p:nvSpPr>
          <p:cNvPr id="150547" name="Oval 19"/>
          <p:cNvSpPr>
            <a:spLocks noChangeArrowheads="1"/>
          </p:cNvSpPr>
          <p:nvPr/>
        </p:nvSpPr>
        <p:spPr bwMode="auto">
          <a:xfrm>
            <a:off x="8137377" y="1598612"/>
            <a:ext cx="76200" cy="76200"/>
          </a:xfrm>
          <a:prstGeom prst="ellipse">
            <a:avLst/>
          </a:prstGeom>
          <a:solidFill>
            <a:srgbClr val="FF0000"/>
          </a:solidFill>
          <a:ln w="2857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endParaRPr lang="en-US" altLang="en-US"/>
          </a:p>
        </p:txBody>
      </p:sp>
      <p:sp>
        <p:nvSpPr>
          <p:cNvPr id="150548" name="Oval 20"/>
          <p:cNvSpPr>
            <a:spLocks noChangeArrowheads="1"/>
          </p:cNvSpPr>
          <p:nvPr/>
        </p:nvSpPr>
        <p:spPr bwMode="auto">
          <a:xfrm>
            <a:off x="8289777" y="1522412"/>
            <a:ext cx="76200" cy="76200"/>
          </a:xfrm>
          <a:prstGeom prst="ellipse">
            <a:avLst/>
          </a:prstGeom>
          <a:solidFill>
            <a:schemeClr val="bg2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endParaRPr lang="en-US" altLang="en-US"/>
          </a:p>
        </p:txBody>
      </p:sp>
      <p:sp>
        <p:nvSpPr>
          <p:cNvPr id="150549" name="Oval 21"/>
          <p:cNvSpPr>
            <a:spLocks noChangeArrowheads="1"/>
          </p:cNvSpPr>
          <p:nvPr/>
        </p:nvSpPr>
        <p:spPr bwMode="auto">
          <a:xfrm>
            <a:off x="8365977" y="1674812"/>
            <a:ext cx="76200" cy="76200"/>
          </a:xfrm>
          <a:prstGeom prst="ellipse">
            <a:avLst/>
          </a:prstGeom>
          <a:solidFill>
            <a:srgbClr val="0000FF"/>
          </a:solidFill>
          <a:ln w="2857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endParaRPr lang="en-US" altLang="en-US">
              <a:solidFill>
                <a:srgbClr val="0000FF"/>
              </a:solidFill>
            </a:endParaRPr>
          </a:p>
        </p:txBody>
      </p:sp>
      <p:sp>
        <p:nvSpPr>
          <p:cNvPr id="150550" name="Oval 22"/>
          <p:cNvSpPr>
            <a:spLocks noChangeArrowheads="1"/>
          </p:cNvSpPr>
          <p:nvPr/>
        </p:nvSpPr>
        <p:spPr bwMode="auto">
          <a:xfrm>
            <a:off x="7603977" y="1217612"/>
            <a:ext cx="76200" cy="76200"/>
          </a:xfrm>
          <a:prstGeom prst="ellipse">
            <a:avLst/>
          </a:prstGeom>
          <a:solidFill>
            <a:schemeClr val="bg2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endParaRPr lang="en-US" altLang="en-US">
              <a:solidFill>
                <a:srgbClr val="0000FF"/>
              </a:solidFill>
            </a:endParaRPr>
          </a:p>
        </p:txBody>
      </p:sp>
      <p:sp>
        <p:nvSpPr>
          <p:cNvPr id="150551" name="Oval 23"/>
          <p:cNvSpPr>
            <a:spLocks noChangeArrowheads="1"/>
          </p:cNvSpPr>
          <p:nvPr/>
        </p:nvSpPr>
        <p:spPr bwMode="auto">
          <a:xfrm>
            <a:off x="7527777" y="1293812"/>
            <a:ext cx="76200" cy="76200"/>
          </a:xfrm>
          <a:prstGeom prst="ellipse">
            <a:avLst/>
          </a:prstGeom>
          <a:solidFill>
            <a:schemeClr val="bg2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endParaRPr lang="en-US" altLang="en-US"/>
          </a:p>
        </p:txBody>
      </p:sp>
      <p:sp>
        <p:nvSpPr>
          <p:cNvPr id="150552" name="Oval 24"/>
          <p:cNvSpPr>
            <a:spLocks noChangeArrowheads="1"/>
          </p:cNvSpPr>
          <p:nvPr/>
        </p:nvSpPr>
        <p:spPr bwMode="auto">
          <a:xfrm>
            <a:off x="7451577" y="1217612"/>
            <a:ext cx="76200" cy="76200"/>
          </a:xfrm>
          <a:prstGeom prst="ellipse">
            <a:avLst/>
          </a:prstGeom>
          <a:solidFill>
            <a:schemeClr val="bg2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endParaRPr lang="en-US" altLang="en-US"/>
          </a:p>
        </p:txBody>
      </p:sp>
      <p:sp>
        <p:nvSpPr>
          <p:cNvPr id="150553" name="Oval 25"/>
          <p:cNvSpPr>
            <a:spLocks noChangeArrowheads="1"/>
          </p:cNvSpPr>
          <p:nvPr/>
        </p:nvSpPr>
        <p:spPr bwMode="auto">
          <a:xfrm>
            <a:off x="7451577" y="1446212"/>
            <a:ext cx="76200" cy="76200"/>
          </a:xfrm>
          <a:prstGeom prst="ellipse">
            <a:avLst/>
          </a:prstGeom>
          <a:solidFill>
            <a:schemeClr val="bg2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endParaRPr lang="en-US" altLang="en-US"/>
          </a:p>
        </p:txBody>
      </p:sp>
      <p:sp>
        <p:nvSpPr>
          <p:cNvPr id="150554" name="Oval 26"/>
          <p:cNvSpPr>
            <a:spLocks noChangeArrowheads="1"/>
          </p:cNvSpPr>
          <p:nvPr/>
        </p:nvSpPr>
        <p:spPr bwMode="auto">
          <a:xfrm>
            <a:off x="7832577" y="1141412"/>
            <a:ext cx="76200" cy="76200"/>
          </a:xfrm>
          <a:prstGeom prst="ellipse">
            <a:avLst/>
          </a:prstGeom>
          <a:solidFill>
            <a:schemeClr val="bg2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endParaRPr lang="en-US" altLang="en-US"/>
          </a:p>
        </p:txBody>
      </p:sp>
      <p:sp>
        <p:nvSpPr>
          <p:cNvPr id="150555" name="Line 27"/>
          <p:cNvSpPr>
            <a:spLocks noChangeShapeType="1"/>
          </p:cNvSpPr>
          <p:nvPr/>
        </p:nvSpPr>
        <p:spPr bwMode="auto">
          <a:xfrm flipV="1">
            <a:off x="6384777" y="2286000"/>
            <a:ext cx="1588" cy="990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50556" name="Line 28"/>
          <p:cNvSpPr>
            <a:spLocks noChangeShapeType="1"/>
          </p:cNvSpPr>
          <p:nvPr/>
        </p:nvSpPr>
        <p:spPr bwMode="auto">
          <a:xfrm>
            <a:off x="6079977" y="3200400"/>
            <a:ext cx="2743200" cy="1588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50557" name="Oval 29"/>
          <p:cNvSpPr>
            <a:spLocks noChangeArrowheads="1"/>
          </p:cNvSpPr>
          <p:nvPr/>
        </p:nvSpPr>
        <p:spPr bwMode="auto">
          <a:xfrm>
            <a:off x="6613377" y="28194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endParaRPr lang="en-US" altLang="en-US"/>
          </a:p>
        </p:txBody>
      </p:sp>
      <p:sp>
        <p:nvSpPr>
          <p:cNvPr id="150558" name="Oval 30"/>
          <p:cNvSpPr>
            <a:spLocks noChangeArrowheads="1"/>
          </p:cNvSpPr>
          <p:nvPr/>
        </p:nvSpPr>
        <p:spPr bwMode="auto">
          <a:xfrm>
            <a:off x="6841977" y="2743200"/>
            <a:ext cx="76200" cy="76200"/>
          </a:xfrm>
          <a:prstGeom prst="ellipse">
            <a:avLst/>
          </a:prstGeom>
          <a:solidFill>
            <a:schemeClr val="accent1"/>
          </a:solidFill>
          <a:ln w="2857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endParaRPr lang="en-US" altLang="en-US"/>
          </a:p>
        </p:txBody>
      </p:sp>
      <p:sp>
        <p:nvSpPr>
          <p:cNvPr id="150559" name="Oval 31"/>
          <p:cNvSpPr>
            <a:spLocks noChangeArrowheads="1"/>
          </p:cNvSpPr>
          <p:nvPr/>
        </p:nvSpPr>
        <p:spPr bwMode="auto">
          <a:xfrm>
            <a:off x="8213577" y="2971800"/>
            <a:ext cx="76200" cy="76200"/>
          </a:xfrm>
          <a:prstGeom prst="ellipse">
            <a:avLst/>
          </a:prstGeom>
          <a:solidFill>
            <a:srgbClr val="0000FF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endParaRPr lang="en-US" altLang="en-US">
              <a:solidFill>
                <a:srgbClr val="0000FF"/>
              </a:solidFill>
            </a:endParaRPr>
          </a:p>
        </p:txBody>
      </p:sp>
      <p:sp>
        <p:nvSpPr>
          <p:cNvPr id="150560" name="Oval 32"/>
          <p:cNvSpPr>
            <a:spLocks noChangeArrowheads="1"/>
          </p:cNvSpPr>
          <p:nvPr/>
        </p:nvSpPr>
        <p:spPr bwMode="auto">
          <a:xfrm>
            <a:off x="8594577" y="2819400"/>
            <a:ext cx="76200" cy="76200"/>
          </a:xfrm>
          <a:prstGeom prst="ellipse">
            <a:avLst/>
          </a:prstGeom>
          <a:solidFill>
            <a:srgbClr val="0000FF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endParaRPr lang="en-US" altLang="en-US"/>
          </a:p>
        </p:txBody>
      </p:sp>
      <p:sp>
        <p:nvSpPr>
          <p:cNvPr id="150561" name="Oval 33"/>
          <p:cNvSpPr>
            <a:spLocks noChangeArrowheads="1"/>
          </p:cNvSpPr>
          <p:nvPr/>
        </p:nvSpPr>
        <p:spPr bwMode="auto">
          <a:xfrm>
            <a:off x="7680177" y="2590800"/>
            <a:ext cx="76200" cy="76200"/>
          </a:xfrm>
          <a:prstGeom prst="ellipse">
            <a:avLst/>
          </a:prstGeom>
          <a:solidFill>
            <a:srgbClr val="FF0000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endParaRPr lang="en-US" altLang="en-US"/>
          </a:p>
        </p:txBody>
      </p:sp>
      <p:sp>
        <p:nvSpPr>
          <p:cNvPr id="150562" name="Oval 34"/>
          <p:cNvSpPr>
            <a:spLocks noChangeArrowheads="1"/>
          </p:cNvSpPr>
          <p:nvPr/>
        </p:nvSpPr>
        <p:spPr bwMode="auto">
          <a:xfrm>
            <a:off x="6537177" y="29718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endParaRPr lang="en-US" altLang="en-US"/>
          </a:p>
        </p:txBody>
      </p:sp>
      <p:sp>
        <p:nvSpPr>
          <p:cNvPr id="150563" name="Oval 35"/>
          <p:cNvSpPr>
            <a:spLocks noChangeArrowheads="1"/>
          </p:cNvSpPr>
          <p:nvPr/>
        </p:nvSpPr>
        <p:spPr bwMode="auto">
          <a:xfrm>
            <a:off x="6765777" y="29718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endParaRPr lang="en-US" altLang="en-US"/>
          </a:p>
        </p:txBody>
      </p:sp>
      <p:sp>
        <p:nvSpPr>
          <p:cNvPr id="150564" name="Oval 36"/>
          <p:cNvSpPr>
            <a:spLocks noChangeArrowheads="1"/>
          </p:cNvSpPr>
          <p:nvPr/>
        </p:nvSpPr>
        <p:spPr bwMode="auto">
          <a:xfrm>
            <a:off x="7756377" y="2438400"/>
            <a:ext cx="76200" cy="76200"/>
          </a:xfrm>
          <a:prstGeom prst="ellipse">
            <a:avLst/>
          </a:prstGeom>
          <a:solidFill>
            <a:srgbClr val="FF0000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endParaRPr lang="en-US" altLang="en-US"/>
          </a:p>
        </p:txBody>
      </p:sp>
      <p:sp>
        <p:nvSpPr>
          <p:cNvPr id="150565" name="Oval 37"/>
          <p:cNvSpPr>
            <a:spLocks noChangeArrowheads="1"/>
          </p:cNvSpPr>
          <p:nvPr/>
        </p:nvSpPr>
        <p:spPr bwMode="auto">
          <a:xfrm>
            <a:off x="6689577" y="28956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endParaRPr lang="en-US" altLang="en-US">
              <a:solidFill>
                <a:srgbClr val="0000FF"/>
              </a:solidFill>
            </a:endParaRPr>
          </a:p>
        </p:txBody>
      </p:sp>
      <p:sp>
        <p:nvSpPr>
          <p:cNvPr id="150566" name="Oval 38"/>
          <p:cNvSpPr>
            <a:spLocks noChangeArrowheads="1"/>
          </p:cNvSpPr>
          <p:nvPr/>
        </p:nvSpPr>
        <p:spPr bwMode="auto">
          <a:xfrm>
            <a:off x="8442177" y="2971800"/>
            <a:ext cx="76200" cy="76200"/>
          </a:xfrm>
          <a:prstGeom prst="ellipse">
            <a:avLst/>
          </a:prstGeom>
          <a:solidFill>
            <a:srgbClr val="0000FF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endParaRPr lang="en-US" altLang="en-US"/>
          </a:p>
        </p:txBody>
      </p:sp>
      <p:sp>
        <p:nvSpPr>
          <p:cNvPr id="150567" name="Oval 39"/>
          <p:cNvSpPr>
            <a:spLocks noChangeArrowheads="1"/>
          </p:cNvSpPr>
          <p:nvPr/>
        </p:nvSpPr>
        <p:spPr bwMode="auto">
          <a:xfrm>
            <a:off x="8137377" y="2819400"/>
            <a:ext cx="76200" cy="76200"/>
          </a:xfrm>
          <a:prstGeom prst="ellipse">
            <a:avLst/>
          </a:prstGeom>
          <a:solidFill>
            <a:srgbClr val="FF0000"/>
          </a:solidFill>
          <a:ln w="2857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endParaRPr lang="en-US" altLang="en-US"/>
          </a:p>
        </p:txBody>
      </p:sp>
      <p:sp>
        <p:nvSpPr>
          <p:cNvPr id="150568" name="Oval 40"/>
          <p:cNvSpPr>
            <a:spLocks noChangeArrowheads="1"/>
          </p:cNvSpPr>
          <p:nvPr/>
        </p:nvSpPr>
        <p:spPr bwMode="auto">
          <a:xfrm>
            <a:off x="8289777" y="2743200"/>
            <a:ext cx="76200" cy="76200"/>
          </a:xfrm>
          <a:prstGeom prst="ellipse">
            <a:avLst/>
          </a:prstGeom>
          <a:solidFill>
            <a:srgbClr val="FF0000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endParaRPr lang="en-US" altLang="en-US"/>
          </a:p>
        </p:txBody>
      </p:sp>
      <p:sp>
        <p:nvSpPr>
          <p:cNvPr id="150569" name="Oval 41"/>
          <p:cNvSpPr>
            <a:spLocks noChangeArrowheads="1"/>
          </p:cNvSpPr>
          <p:nvPr/>
        </p:nvSpPr>
        <p:spPr bwMode="auto">
          <a:xfrm>
            <a:off x="8365977" y="2895600"/>
            <a:ext cx="76200" cy="76200"/>
          </a:xfrm>
          <a:prstGeom prst="ellipse">
            <a:avLst/>
          </a:prstGeom>
          <a:solidFill>
            <a:srgbClr val="0000FF"/>
          </a:solidFill>
          <a:ln w="2857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endParaRPr lang="en-US" altLang="en-US">
              <a:solidFill>
                <a:srgbClr val="0000FF"/>
              </a:solidFill>
            </a:endParaRPr>
          </a:p>
        </p:txBody>
      </p:sp>
      <p:sp>
        <p:nvSpPr>
          <p:cNvPr id="150570" name="Oval 42"/>
          <p:cNvSpPr>
            <a:spLocks noChangeArrowheads="1"/>
          </p:cNvSpPr>
          <p:nvPr/>
        </p:nvSpPr>
        <p:spPr bwMode="auto">
          <a:xfrm>
            <a:off x="7603977" y="2438400"/>
            <a:ext cx="76200" cy="76200"/>
          </a:xfrm>
          <a:prstGeom prst="ellipse">
            <a:avLst/>
          </a:prstGeom>
          <a:solidFill>
            <a:srgbClr val="FF0000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endParaRPr lang="en-US" altLang="en-US">
              <a:solidFill>
                <a:srgbClr val="0000FF"/>
              </a:solidFill>
            </a:endParaRPr>
          </a:p>
        </p:txBody>
      </p:sp>
      <p:sp>
        <p:nvSpPr>
          <p:cNvPr id="150571" name="Oval 43"/>
          <p:cNvSpPr>
            <a:spLocks noChangeArrowheads="1"/>
          </p:cNvSpPr>
          <p:nvPr/>
        </p:nvSpPr>
        <p:spPr bwMode="auto">
          <a:xfrm>
            <a:off x="7527777" y="2514600"/>
            <a:ext cx="76200" cy="76200"/>
          </a:xfrm>
          <a:prstGeom prst="ellipse">
            <a:avLst/>
          </a:prstGeom>
          <a:solidFill>
            <a:srgbClr val="FF0000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endParaRPr lang="en-US" altLang="en-US"/>
          </a:p>
        </p:txBody>
      </p:sp>
      <p:sp>
        <p:nvSpPr>
          <p:cNvPr id="150572" name="Oval 44"/>
          <p:cNvSpPr>
            <a:spLocks noChangeArrowheads="1"/>
          </p:cNvSpPr>
          <p:nvPr/>
        </p:nvSpPr>
        <p:spPr bwMode="auto">
          <a:xfrm>
            <a:off x="7451577" y="2438400"/>
            <a:ext cx="76200" cy="76200"/>
          </a:xfrm>
          <a:prstGeom prst="ellipse">
            <a:avLst/>
          </a:prstGeom>
          <a:solidFill>
            <a:srgbClr val="FF0000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endParaRPr lang="en-US" altLang="en-US"/>
          </a:p>
        </p:txBody>
      </p:sp>
      <p:sp>
        <p:nvSpPr>
          <p:cNvPr id="150573" name="Oval 45"/>
          <p:cNvSpPr>
            <a:spLocks noChangeArrowheads="1"/>
          </p:cNvSpPr>
          <p:nvPr/>
        </p:nvSpPr>
        <p:spPr bwMode="auto">
          <a:xfrm>
            <a:off x="7451577" y="26670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endParaRPr lang="en-US" altLang="en-US"/>
          </a:p>
        </p:txBody>
      </p:sp>
      <p:sp>
        <p:nvSpPr>
          <p:cNvPr id="150574" name="Oval 46"/>
          <p:cNvSpPr>
            <a:spLocks noChangeArrowheads="1"/>
          </p:cNvSpPr>
          <p:nvPr/>
        </p:nvSpPr>
        <p:spPr bwMode="auto">
          <a:xfrm>
            <a:off x="7832577" y="2362200"/>
            <a:ext cx="76200" cy="76200"/>
          </a:xfrm>
          <a:prstGeom prst="ellipse">
            <a:avLst/>
          </a:prstGeom>
          <a:solidFill>
            <a:srgbClr val="FF0000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endParaRPr lang="en-US" altLang="en-US"/>
          </a:p>
        </p:txBody>
      </p:sp>
      <p:sp>
        <p:nvSpPr>
          <p:cNvPr id="150575" name="Line 47"/>
          <p:cNvSpPr>
            <a:spLocks noChangeShapeType="1"/>
          </p:cNvSpPr>
          <p:nvPr/>
        </p:nvSpPr>
        <p:spPr bwMode="auto">
          <a:xfrm flipV="1">
            <a:off x="6400800" y="4572000"/>
            <a:ext cx="1588" cy="990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50576" name="Line 48"/>
          <p:cNvSpPr>
            <a:spLocks noChangeShapeType="1"/>
          </p:cNvSpPr>
          <p:nvPr/>
        </p:nvSpPr>
        <p:spPr bwMode="auto">
          <a:xfrm>
            <a:off x="6096000" y="5486400"/>
            <a:ext cx="2743200" cy="1588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50577" name="Oval 49"/>
          <p:cNvSpPr>
            <a:spLocks noChangeArrowheads="1"/>
          </p:cNvSpPr>
          <p:nvPr/>
        </p:nvSpPr>
        <p:spPr bwMode="auto">
          <a:xfrm>
            <a:off x="6629400" y="51054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endParaRPr lang="en-US" altLang="en-US"/>
          </a:p>
        </p:txBody>
      </p:sp>
      <p:sp>
        <p:nvSpPr>
          <p:cNvPr id="150578" name="Oval 50"/>
          <p:cNvSpPr>
            <a:spLocks noChangeArrowheads="1"/>
          </p:cNvSpPr>
          <p:nvPr/>
        </p:nvSpPr>
        <p:spPr bwMode="auto">
          <a:xfrm>
            <a:off x="6858000" y="50292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endParaRPr lang="en-US" altLang="en-US"/>
          </a:p>
        </p:txBody>
      </p:sp>
      <p:sp>
        <p:nvSpPr>
          <p:cNvPr id="150579" name="Oval 51"/>
          <p:cNvSpPr>
            <a:spLocks noChangeArrowheads="1"/>
          </p:cNvSpPr>
          <p:nvPr/>
        </p:nvSpPr>
        <p:spPr bwMode="auto">
          <a:xfrm>
            <a:off x="8229600" y="5257800"/>
            <a:ext cx="76200" cy="76200"/>
          </a:xfrm>
          <a:prstGeom prst="ellipse">
            <a:avLst/>
          </a:prstGeom>
          <a:solidFill>
            <a:srgbClr val="0000FF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endParaRPr lang="en-US" altLang="en-US">
              <a:solidFill>
                <a:srgbClr val="0000FF"/>
              </a:solidFill>
            </a:endParaRPr>
          </a:p>
        </p:txBody>
      </p:sp>
      <p:sp>
        <p:nvSpPr>
          <p:cNvPr id="150580" name="Oval 52"/>
          <p:cNvSpPr>
            <a:spLocks noChangeArrowheads="1"/>
          </p:cNvSpPr>
          <p:nvPr/>
        </p:nvSpPr>
        <p:spPr bwMode="auto">
          <a:xfrm>
            <a:off x="8610600" y="5105400"/>
            <a:ext cx="76200" cy="76200"/>
          </a:xfrm>
          <a:prstGeom prst="ellipse">
            <a:avLst/>
          </a:prstGeom>
          <a:solidFill>
            <a:srgbClr val="0000FF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endParaRPr lang="en-US" altLang="en-US"/>
          </a:p>
        </p:txBody>
      </p:sp>
      <p:sp>
        <p:nvSpPr>
          <p:cNvPr id="150581" name="Oval 53"/>
          <p:cNvSpPr>
            <a:spLocks noChangeArrowheads="1"/>
          </p:cNvSpPr>
          <p:nvPr/>
        </p:nvSpPr>
        <p:spPr bwMode="auto">
          <a:xfrm>
            <a:off x="7696200" y="4876800"/>
            <a:ext cx="76200" cy="76200"/>
          </a:xfrm>
          <a:prstGeom prst="ellipse">
            <a:avLst/>
          </a:prstGeom>
          <a:solidFill>
            <a:srgbClr val="FF0000"/>
          </a:solidFill>
          <a:ln w="2857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endParaRPr lang="en-US" altLang="en-US"/>
          </a:p>
        </p:txBody>
      </p:sp>
      <p:sp>
        <p:nvSpPr>
          <p:cNvPr id="150582" name="Oval 54"/>
          <p:cNvSpPr>
            <a:spLocks noChangeArrowheads="1"/>
          </p:cNvSpPr>
          <p:nvPr/>
        </p:nvSpPr>
        <p:spPr bwMode="auto">
          <a:xfrm>
            <a:off x="6553200" y="52578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endParaRPr lang="en-US" altLang="en-US"/>
          </a:p>
        </p:txBody>
      </p:sp>
      <p:sp>
        <p:nvSpPr>
          <p:cNvPr id="150583" name="Oval 55"/>
          <p:cNvSpPr>
            <a:spLocks noChangeArrowheads="1"/>
          </p:cNvSpPr>
          <p:nvPr/>
        </p:nvSpPr>
        <p:spPr bwMode="auto">
          <a:xfrm>
            <a:off x="6781800" y="52578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endParaRPr lang="en-US" altLang="en-US"/>
          </a:p>
        </p:txBody>
      </p:sp>
      <p:sp>
        <p:nvSpPr>
          <p:cNvPr id="150584" name="Oval 56"/>
          <p:cNvSpPr>
            <a:spLocks noChangeArrowheads="1"/>
          </p:cNvSpPr>
          <p:nvPr/>
        </p:nvSpPr>
        <p:spPr bwMode="auto">
          <a:xfrm>
            <a:off x="7772400" y="4724400"/>
            <a:ext cx="76200" cy="76200"/>
          </a:xfrm>
          <a:prstGeom prst="ellipse">
            <a:avLst/>
          </a:prstGeom>
          <a:solidFill>
            <a:srgbClr val="FF0000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endParaRPr lang="en-US" altLang="en-US"/>
          </a:p>
        </p:txBody>
      </p:sp>
      <p:sp>
        <p:nvSpPr>
          <p:cNvPr id="150585" name="Oval 57"/>
          <p:cNvSpPr>
            <a:spLocks noChangeArrowheads="1"/>
          </p:cNvSpPr>
          <p:nvPr/>
        </p:nvSpPr>
        <p:spPr bwMode="auto">
          <a:xfrm>
            <a:off x="6705600" y="5181600"/>
            <a:ext cx="76200" cy="76200"/>
          </a:xfrm>
          <a:prstGeom prst="ellipse">
            <a:avLst/>
          </a:prstGeom>
          <a:solidFill>
            <a:schemeClr val="accent1"/>
          </a:solidFill>
          <a:ln w="2857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endParaRPr lang="en-US" altLang="en-US">
              <a:solidFill>
                <a:srgbClr val="0000FF"/>
              </a:solidFill>
            </a:endParaRPr>
          </a:p>
        </p:txBody>
      </p:sp>
      <p:sp>
        <p:nvSpPr>
          <p:cNvPr id="150586" name="Oval 58"/>
          <p:cNvSpPr>
            <a:spLocks noChangeArrowheads="1"/>
          </p:cNvSpPr>
          <p:nvPr/>
        </p:nvSpPr>
        <p:spPr bwMode="auto">
          <a:xfrm>
            <a:off x="8458200" y="5257800"/>
            <a:ext cx="76200" cy="76200"/>
          </a:xfrm>
          <a:prstGeom prst="ellipse">
            <a:avLst/>
          </a:prstGeom>
          <a:solidFill>
            <a:srgbClr val="0000FF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endParaRPr lang="en-US" altLang="en-US"/>
          </a:p>
        </p:txBody>
      </p:sp>
      <p:sp>
        <p:nvSpPr>
          <p:cNvPr id="150587" name="Oval 59"/>
          <p:cNvSpPr>
            <a:spLocks noChangeArrowheads="1"/>
          </p:cNvSpPr>
          <p:nvPr/>
        </p:nvSpPr>
        <p:spPr bwMode="auto">
          <a:xfrm>
            <a:off x="8153400" y="5105400"/>
            <a:ext cx="76200" cy="76200"/>
          </a:xfrm>
          <a:prstGeom prst="ellipse">
            <a:avLst/>
          </a:prstGeom>
          <a:solidFill>
            <a:srgbClr val="0000FF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endParaRPr lang="en-US" altLang="en-US"/>
          </a:p>
        </p:txBody>
      </p:sp>
      <p:sp>
        <p:nvSpPr>
          <p:cNvPr id="150588" name="Oval 60"/>
          <p:cNvSpPr>
            <a:spLocks noChangeArrowheads="1"/>
          </p:cNvSpPr>
          <p:nvPr/>
        </p:nvSpPr>
        <p:spPr bwMode="auto">
          <a:xfrm>
            <a:off x="8305800" y="5029200"/>
            <a:ext cx="76200" cy="76200"/>
          </a:xfrm>
          <a:prstGeom prst="ellipse">
            <a:avLst/>
          </a:prstGeom>
          <a:solidFill>
            <a:srgbClr val="0000FF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endParaRPr lang="en-US" altLang="en-US"/>
          </a:p>
        </p:txBody>
      </p:sp>
      <p:sp>
        <p:nvSpPr>
          <p:cNvPr id="150589" name="Oval 61"/>
          <p:cNvSpPr>
            <a:spLocks noChangeArrowheads="1"/>
          </p:cNvSpPr>
          <p:nvPr/>
        </p:nvSpPr>
        <p:spPr bwMode="auto">
          <a:xfrm>
            <a:off x="8382000" y="5181600"/>
            <a:ext cx="76200" cy="76200"/>
          </a:xfrm>
          <a:prstGeom prst="ellipse">
            <a:avLst/>
          </a:prstGeom>
          <a:solidFill>
            <a:srgbClr val="0000FF"/>
          </a:solidFill>
          <a:ln w="2857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endParaRPr lang="en-US" altLang="en-US">
              <a:solidFill>
                <a:srgbClr val="0000FF"/>
              </a:solidFill>
            </a:endParaRPr>
          </a:p>
        </p:txBody>
      </p:sp>
      <p:sp>
        <p:nvSpPr>
          <p:cNvPr id="150590" name="Oval 62"/>
          <p:cNvSpPr>
            <a:spLocks noChangeArrowheads="1"/>
          </p:cNvSpPr>
          <p:nvPr/>
        </p:nvSpPr>
        <p:spPr bwMode="auto">
          <a:xfrm>
            <a:off x="7620000" y="4724400"/>
            <a:ext cx="76200" cy="76200"/>
          </a:xfrm>
          <a:prstGeom prst="ellipse">
            <a:avLst/>
          </a:prstGeom>
          <a:solidFill>
            <a:srgbClr val="FF0000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endParaRPr lang="en-US" altLang="en-US">
              <a:solidFill>
                <a:srgbClr val="0000FF"/>
              </a:solidFill>
            </a:endParaRPr>
          </a:p>
        </p:txBody>
      </p:sp>
      <p:sp>
        <p:nvSpPr>
          <p:cNvPr id="150591" name="Oval 63"/>
          <p:cNvSpPr>
            <a:spLocks noChangeArrowheads="1"/>
          </p:cNvSpPr>
          <p:nvPr/>
        </p:nvSpPr>
        <p:spPr bwMode="auto">
          <a:xfrm>
            <a:off x="7543800" y="4800600"/>
            <a:ext cx="76200" cy="76200"/>
          </a:xfrm>
          <a:prstGeom prst="ellipse">
            <a:avLst/>
          </a:prstGeom>
          <a:solidFill>
            <a:srgbClr val="FF0000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endParaRPr lang="en-US" altLang="en-US"/>
          </a:p>
        </p:txBody>
      </p:sp>
      <p:sp>
        <p:nvSpPr>
          <p:cNvPr id="150592" name="Oval 64"/>
          <p:cNvSpPr>
            <a:spLocks noChangeArrowheads="1"/>
          </p:cNvSpPr>
          <p:nvPr/>
        </p:nvSpPr>
        <p:spPr bwMode="auto">
          <a:xfrm>
            <a:off x="7467600" y="4724400"/>
            <a:ext cx="76200" cy="76200"/>
          </a:xfrm>
          <a:prstGeom prst="ellipse">
            <a:avLst/>
          </a:prstGeom>
          <a:solidFill>
            <a:srgbClr val="FF0000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endParaRPr lang="en-US" altLang="en-US"/>
          </a:p>
        </p:txBody>
      </p:sp>
      <p:sp>
        <p:nvSpPr>
          <p:cNvPr id="150593" name="Oval 65"/>
          <p:cNvSpPr>
            <a:spLocks noChangeArrowheads="1"/>
          </p:cNvSpPr>
          <p:nvPr/>
        </p:nvSpPr>
        <p:spPr bwMode="auto">
          <a:xfrm>
            <a:off x="7467600" y="4953000"/>
            <a:ext cx="76200" cy="76200"/>
          </a:xfrm>
          <a:prstGeom prst="ellipse">
            <a:avLst/>
          </a:prstGeom>
          <a:solidFill>
            <a:srgbClr val="FF0000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endParaRPr lang="en-US" altLang="en-US"/>
          </a:p>
        </p:txBody>
      </p:sp>
      <p:sp>
        <p:nvSpPr>
          <p:cNvPr id="150594" name="Oval 66"/>
          <p:cNvSpPr>
            <a:spLocks noChangeArrowheads="1"/>
          </p:cNvSpPr>
          <p:nvPr/>
        </p:nvSpPr>
        <p:spPr bwMode="auto">
          <a:xfrm>
            <a:off x="7848600" y="4648200"/>
            <a:ext cx="76200" cy="76200"/>
          </a:xfrm>
          <a:prstGeom prst="ellipse">
            <a:avLst/>
          </a:prstGeom>
          <a:solidFill>
            <a:srgbClr val="FF0000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endParaRPr lang="en-US" altLang="en-US"/>
          </a:p>
        </p:txBody>
      </p:sp>
      <p:sp>
        <p:nvSpPr>
          <p:cNvPr id="70" name="Line 27"/>
          <p:cNvSpPr>
            <a:spLocks noChangeShapeType="1"/>
          </p:cNvSpPr>
          <p:nvPr/>
        </p:nvSpPr>
        <p:spPr bwMode="auto">
          <a:xfrm flipV="1">
            <a:off x="6392254" y="3352800"/>
            <a:ext cx="1588" cy="990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71" name="Line 28"/>
          <p:cNvSpPr>
            <a:spLocks noChangeShapeType="1"/>
          </p:cNvSpPr>
          <p:nvPr/>
        </p:nvSpPr>
        <p:spPr bwMode="auto">
          <a:xfrm>
            <a:off x="6087454" y="4267200"/>
            <a:ext cx="2743200" cy="1588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72" name="Oval 29"/>
          <p:cNvSpPr>
            <a:spLocks noChangeArrowheads="1"/>
          </p:cNvSpPr>
          <p:nvPr/>
        </p:nvSpPr>
        <p:spPr bwMode="auto">
          <a:xfrm>
            <a:off x="6620854" y="38862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endParaRPr lang="en-US" altLang="en-US"/>
          </a:p>
        </p:txBody>
      </p:sp>
      <p:sp>
        <p:nvSpPr>
          <p:cNvPr id="73" name="Oval 30"/>
          <p:cNvSpPr>
            <a:spLocks noChangeArrowheads="1"/>
          </p:cNvSpPr>
          <p:nvPr/>
        </p:nvSpPr>
        <p:spPr bwMode="auto">
          <a:xfrm>
            <a:off x="6849454" y="3810000"/>
            <a:ext cx="76200" cy="76200"/>
          </a:xfrm>
          <a:prstGeom prst="ellipse">
            <a:avLst/>
          </a:prstGeom>
          <a:solidFill>
            <a:schemeClr val="accent1"/>
          </a:solidFill>
          <a:ln w="6350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endParaRPr lang="en-US" altLang="en-US"/>
          </a:p>
        </p:txBody>
      </p:sp>
      <p:sp>
        <p:nvSpPr>
          <p:cNvPr id="74" name="Oval 31"/>
          <p:cNvSpPr>
            <a:spLocks noChangeArrowheads="1"/>
          </p:cNvSpPr>
          <p:nvPr/>
        </p:nvSpPr>
        <p:spPr bwMode="auto">
          <a:xfrm>
            <a:off x="8221054" y="4038600"/>
            <a:ext cx="76200" cy="76200"/>
          </a:xfrm>
          <a:prstGeom prst="ellipse">
            <a:avLst/>
          </a:prstGeom>
          <a:solidFill>
            <a:srgbClr val="0000FF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endParaRPr lang="en-US" altLang="en-US">
              <a:solidFill>
                <a:srgbClr val="0000FF"/>
              </a:solidFill>
            </a:endParaRPr>
          </a:p>
        </p:txBody>
      </p:sp>
      <p:sp>
        <p:nvSpPr>
          <p:cNvPr id="75" name="Oval 32"/>
          <p:cNvSpPr>
            <a:spLocks noChangeArrowheads="1"/>
          </p:cNvSpPr>
          <p:nvPr/>
        </p:nvSpPr>
        <p:spPr bwMode="auto">
          <a:xfrm>
            <a:off x="8602054" y="3886200"/>
            <a:ext cx="76200" cy="76200"/>
          </a:xfrm>
          <a:prstGeom prst="ellipse">
            <a:avLst/>
          </a:prstGeom>
          <a:solidFill>
            <a:srgbClr val="0000FF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endParaRPr lang="en-US" altLang="en-US"/>
          </a:p>
        </p:txBody>
      </p:sp>
      <p:sp>
        <p:nvSpPr>
          <p:cNvPr id="76" name="Oval 33"/>
          <p:cNvSpPr>
            <a:spLocks noChangeArrowheads="1"/>
          </p:cNvSpPr>
          <p:nvPr/>
        </p:nvSpPr>
        <p:spPr bwMode="auto">
          <a:xfrm>
            <a:off x="7687654" y="3657600"/>
            <a:ext cx="76200" cy="76200"/>
          </a:xfrm>
          <a:prstGeom prst="ellipse">
            <a:avLst/>
          </a:prstGeom>
          <a:solidFill>
            <a:srgbClr val="FF0000"/>
          </a:solidFill>
          <a:ln w="2857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endParaRPr lang="en-US" altLang="en-US"/>
          </a:p>
        </p:txBody>
      </p:sp>
      <p:sp>
        <p:nvSpPr>
          <p:cNvPr id="77" name="Oval 34"/>
          <p:cNvSpPr>
            <a:spLocks noChangeArrowheads="1"/>
          </p:cNvSpPr>
          <p:nvPr/>
        </p:nvSpPr>
        <p:spPr bwMode="auto">
          <a:xfrm>
            <a:off x="6544654" y="40386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endParaRPr lang="en-US" altLang="en-US"/>
          </a:p>
        </p:txBody>
      </p:sp>
      <p:sp>
        <p:nvSpPr>
          <p:cNvPr id="78" name="Oval 35"/>
          <p:cNvSpPr>
            <a:spLocks noChangeArrowheads="1"/>
          </p:cNvSpPr>
          <p:nvPr/>
        </p:nvSpPr>
        <p:spPr bwMode="auto">
          <a:xfrm>
            <a:off x="6773254" y="40386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endParaRPr lang="en-US" altLang="en-US"/>
          </a:p>
        </p:txBody>
      </p:sp>
      <p:sp>
        <p:nvSpPr>
          <p:cNvPr id="79" name="Oval 36"/>
          <p:cNvSpPr>
            <a:spLocks noChangeArrowheads="1"/>
          </p:cNvSpPr>
          <p:nvPr/>
        </p:nvSpPr>
        <p:spPr bwMode="auto">
          <a:xfrm>
            <a:off x="7763854" y="3505200"/>
            <a:ext cx="76200" cy="76200"/>
          </a:xfrm>
          <a:prstGeom prst="ellipse">
            <a:avLst/>
          </a:prstGeom>
          <a:solidFill>
            <a:srgbClr val="FF0000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endParaRPr lang="en-US" altLang="en-US"/>
          </a:p>
        </p:txBody>
      </p:sp>
      <p:sp>
        <p:nvSpPr>
          <p:cNvPr id="80" name="Oval 37"/>
          <p:cNvSpPr>
            <a:spLocks noChangeArrowheads="1"/>
          </p:cNvSpPr>
          <p:nvPr/>
        </p:nvSpPr>
        <p:spPr bwMode="auto">
          <a:xfrm>
            <a:off x="6697054" y="3962400"/>
            <a:ext cx="76200" cy="76200"/>
          </a:xfrm>
          <a:prstGeom prst="ellipse">
            <a:avLst/>
          </a:prstGeom>
          <a:solidFill>
            <a:schemeClr val="accent1"/>
          </a:solidFill>
          <a:ln w="2857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endParaRPr lang="en-US" altLang="en-US">
              <a:solidFill>
                <a:srgbClr val="0000FF"/>
              </a:solidFill>
            </a:endParaRPr>
          </a:p>
        </p:txBody>
      </p:sp>
      <p:sp>
        <p:nvSpPr>
          <p:cNvPr id="81" name="Oval 38"/>
          <p:cNvSpPr>
            <a:spLocks noChangeArrowheads="1"/>
          </p:cNvSpPr>
          <p:nvPr/>
        </p:nvSpPr>
        <p:spPr bwMode="auto">
          <a:xfrm>
            <a:off x="8449654" y="4038600"/>
            <a:ext cx="76200" cy="76200"/>
          </a:xfrm>
          <a:prstGeom prst="ellipse">
            <a:avLst/>
          </a:prstGeom>
          <a:solidFill>
            <a:srgbClr val="0000FF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endParaRPr lang="en-US" altLang="en-US"/>
          </a:p>
        </p:txBody>
      </p:sp>
      <p:sp>
        <p:nvSpPr>
          <p:cNvPr id="82" name="Oval 39"/>
          <p:cNvSpPr>
            <a:spLocks noChangeArrowheads="1"/>
          </p:cNvSpPr>
          <p:nvPr/>
        </p:nvSpPr>
        <p:spPr bwMode="auto">
          <a:xfrm>
            <a:off x="8144854" y="3886200"/>
            <a:ext cx="76200" cy="76200"/>
          </a:xfrm>
          <a:prstGeom prst="ellipse">
            <a:avLst/>
          </a:prstGeom>
          <a:solidFill>
            <a:srgbClr val="FF0000"/>
          </a:solidFill>
          <a:ln w="6350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endParaRPr lang="en-US" altLang="en-US"/>
          </a:p>
        </p:txBody>
      </p:sp>
      <p:sp>
        <p:nvSpPr>
          <p:cNvPr id="83" name="Oval 40"/>
          <p:cNvSpPr>
            <a:spLocks noChangeArrowheads="1"/>
          </p:cNvSpPr>
          <p:nvPr/>
        </p:nvSpPr>
        <p:spPr bwMode="auto">
          <a:xfrm>
            <a:off x="8297254" y="3810000"/>
            <a:ext cx="76200" cy="76200"/>
          </a:xfrm>
          <a:prstGeom prst="ellipse">
            <a:avLst/>
          </a:prstGeom>
          <a:solidFill>
            <a:srgbClr val="FF0000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endParaRPr lang="en-US" altLang="en-US"/>
          </a:p>
        </p:txBody>
      </p:sp>
      <p:sp>
        <p:nvSpPr>
          <p:cNvPr id="84" name="Oval 41"/>
          <p:cNvSpPr>
            <a:spLocks noChangeArrowheads="1"/>
          </p:cNvSpPr>
          <p:nvPr/>
        </p:nvSpPr>
        <p:spPr bwMode="auto">
          <a:xfrm>
            <a:off x="8373454" y="3962400"/>
            <a:ext cx="76200" cy="76200"/>
          </a:xfrm>
          <a:prstGeom prst="ellipse">
            <a:avLst/>
          </a:prstGeom>
          <a:solidFill>
            <a:srgbClr val="0000FF"/>
          </a:solidFill>
          <a:ln w="2857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endParaRPr lang="en-US" altLang="en-US">
              <a:solidFill>
                <a:srgbClr val="0000FF"/>
              </a:solidFill>
            </a:endParaRPr>
          </a:p>
        </p:txBody>
      </p:sp>
      <p:sp>
        <p:nvSpPr>
          <p:cNvPr id="85" name="Oval 42"/>
          <p:cNvSpPr>
            <a:spLocks noChangeArrowheads="1"/>
          </p:cNvSpPr>
          <p:nvPr/>
        </p:nvSpPr>
        <p:spPr bwMode="auto">
          <a:xfrm>
            <a:off x="7611454" y="3505200"/>
            <a:ext cx="76200" cy="76200"/>
          </a:xfrm>
          <a:prstGeom prst="ellipse">
            <a:avLst/>
          </a:prstGeom>
          <a:solidFill>
            <a:srgbClr val="FF0000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endParaRPr lang="en-US" altLang="en-US">
              <a:solidFill>
                <a:srgbClr val="0000FF"/>
              </a:solidFill>
            </a:endParaRPr>
          </a:p>
        </p:txBody>
      </p:sp>
      <p:sp>
        <p:nvSpPr>
          <p:cNvPr id="86" name="Oval 43"/>
          <p:cNvSpPr>
            <a:spLocks noChangeArrowheads="1"/>
          </p:cNvSpPr>
          <p:nvPr/>
        </p:nvSpPr>
        <p:spPr bwMode="auto">
          <a:xfrm>
            <a:off x="7535254" y="3581400"/>
            <a:ext cx="76200" cy="76200"/>
          </a:xfrm>
          <a:prstGeom prst="ellipse">
            <a:avLst/>
          </a:prstGeom>
          <a:solidFill>
            <a:srgbClr val="FF0000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endParaRPr lang="en-US" altLang="en-US"/>
          </a:p>
        </p:txBody>
      </p:sp>
      <p:sp>
        <p:nvSpPr>
          <p:cNvPr id="87" name="Oval 44"/>
          <p:cNvSpPr>
            <a:spLocks noChangeArrowheads="1"/>
          </p:cNvSpPr>
          <p:nvPr/>
        </p:nvSpPr>
        <p:spPr bwMode="auto">
          <a:xfrm>
            <a:off x="7459054" y="3505200"/>
            <a:ext cx="76200" cy="76200"/>
          </a:xfrm>
          <a:prstGeom prst="ellipse">
            <a:avLst/>
          </a:prstGeom>
          <a:solidFill>
            <a:srgbClr val="FF0000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endParaRPr lang="en-US" altLang="en-US"/>
          </a:p>
        </p:txBody>
      </p:sp>
      <p:sp>
        <p:nvSpPr>
          <p:cNvPr id="88" name="Oval 45"/>
          <p:cNvSpPr>
            <a:spLocks noChangeArrowheads="1"/>
          </p:cNvSpPr>
          <p:nvPr/>
        </p:nvSpPr>
        <p:spPr bwMode="auto">
          <a:xfrm>
            <a:off x="7459054" y="37338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endParaRPr lang="en-US" altLang="en-US"/>
          </a:p>
        </p:txBody>
      </p:sp>
      <p:sp>
        <p:nvSpPr>
          <p:cNvPr id="89" name="Oval 46"/>
          <p:cNvSpPr>
            <a:spLocks noChangeArrowheads="1"/>
          </p:cNvSpPr>
          <p:nvPr/>
        </p:nvSpPr>
        <p:spPr bwMode="auto">
          <a:xfrm>
            <a:off x="7840054" y="3429000"/>
            <a:ext cx="76200" cy="76200"/>
          </a:xfrm>
          <a:prstGeom prst="ellipse">
            <a:avLst/>
          </a:prstGeom>
          <a:solidFill>
            <a:srgbClr val="FF0000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20021153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en-US"/>
              <a:t>2014</a:t>
            </a:r>
          </a:p>
        </p:txBody>
      </p:sp>
      <p:sp>
        <p:nvSpPr>
          <p:cNvPr id="28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160208-1B16-4767-B9D7-CFFE3BDDC2DE}" type="slidenum">
              <a:rPr lang="en-US" altLang="en-US"/>
              <a:pPr/>
              <a:t>10</a:t>
            </a:fld>
            <a:endParaRPr lang="en-US" altLang="en-US"/>
          </a:p>
        </p:txBody>
      </p:sp>
      <p:sp>
        <p:nvSpPr>
          <p:cNvPr id="151554" name="AutoShape 2"/>
          <p:cNvSpPr>
            <a:spLocks noChangeArrowheads="1"/>
          </p:cNvSpPr>
          <p:nvPr/>
        </p:nvSpPr>
        <p:spPr bwMode="auto">
          <a:xfrm>
            <a:off x="304800" y="152400"/>
            <a:ext cx="8610600" cy="914400"/>
          </a:xfrm>
          <a:prstGeom prst="roundRect">
            <a:avLst>
              <a:gd name="adj" fmla="val 16667"/>
            </a:avLst>
          </a:prstGeom>
          <a:solidFill>
            <a:srgbClr val="FFCCFF"/>
          </a:solidFill>
          <a:ln w="34925">
            <a:solidFill>
              <a:srgbClr val="FF3300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51555" name="AutoShape 3"/>
          <p:cNvSpPr>
            <a:spLocks noChangeArrowheads="1"/>
          </p:cNvSpPr>
          <p:nvPr/>
        </p:nvSpPr>
        <p:spPr bwMode="auto">
          <a:xfrm>
            <a:off x="304800" y="1143000"/>
            <a:ext cx="8610600" cy="4953000"/>
          </a:xfrm>
          <a:prstGeom prst="roundRect">
            <a:avLst>
              <a:gd name="adj" fmla="val 16667"/>
            </a:avLst>
          </a:prstGeom>
          <a:noFill/>
          <a:ln w="34925">
            <a:solidFill>
              <a:srgbClr val="FF33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51556" name="Rectangle 4"/>
          <p:cNvSpPr>
            <a:spLocks noChangeArrowheads="1"/>
          </p:cNvSpPr>
          <p:nvPr/>
        </p:nvSpPr>
        <p:spPr bwMode="auto">
          <a:xfrm>
            <a:off x="762000" y="228600"/>
            <a:ext cx="7772400" cy="685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/>
          <a:lstStyle>
            <a:lvl1pPr algn="ctr">
              <a:defRPr sz="4400">
                <a:solidFill>
                  <a:schemeClr val="tx2"/>
                </a:solidFill>
                <a:latin typeface="Times New Roman" pitchFamily="18" charset="0"/>
              </a:defRPr>
            </a:lvl1pPr>
            <a:lvl2pPr algn="ctr">
              <a:defRPr sz="4400">
                <a:solidFill>
                  <a:schemeClr val="tx2"/>
                </a:solidFill>
                <a:latin typeface="Times New Roman" pitchFamily="18" charset="0"/>
              </a:defRPr>
            </a:lvl2pPr>
            <a:lvl3pPr algn="ctr">
              <a:defRPr sz="4400">
                <a:solidFill>
                  <a:schemeClr val="tx2"/>
                </a:solidFill>
                <a:latin typeface="Times New Roman" pitchFamily="18" charset="0"/>
              </a:defRPr>
            </a:lvl3pPr>
            <a:lvl4pPr algn="ctr">
              <a:defRPr sz="4400">
                <a:solidFill>
                  <a:schemeClr val="tx2"/>
                </a:solidFill>
                <a:latin typeface="Times New Roman" pitchFamily="18" charset="0"/>
              </a:defRPr>
            </a:lvl4pPr>
            <a:lvl5pPr algn="ctr">
              <a:defRPr sz="4400">
                <a:solidFill>
                  <a:schemeClr val="tx2"/>
                </a:solidFill>
                <a:latin typeface="Times New Roman" pitchFamily="18" charset="0"/>
              </a:defRPr>
            </a:lvl5pPr>
            <a:lvl6pPr marL="457200" algn="ctr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imes New Roman" pitchFamily="18" charset="0"/>
              </a:defRPr>
            </a:lvl6pPr>
            <a:lvl7pPr marL="914400" algn="ctr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imes New Roman" pitchFamily="18" charset="0"/>
              </a:defRPr>
            </a:lvl7pPr>
            <a:lvl8pPr marL="1371600" algn="ctr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imes New Roman" pitchFamily="18" charset="0"/>
              </a:defRPr>
            </a:lvl8pPr>
            <a:lvl9pPr marL="1828800" algn="ctr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imes New Roman" pitchFamily="18" charset="0"/>
              </a:defRPr>
            </a:lvl9pPr>
          </a:lstStyle>
          <a:p>
            <a:r>
              <a:rPr lang="en-US" altLang="en-US" sz="2800" i="1">
                <a:solidFill>
                  <a:srgbClr val="0000FF"/>
                </a:solidFill>
                <a:latin typeface="Arial" charset="0"/>
              </a:rPr>
              <a:t>Clustering (cont’d)</a:t>
            </a:r>
          </a:p>
        </p:txBody>
      </p:sp>
      <p:sp>
        <p:nvSpPr>
          <p:cNvPr id="151557" name="Rectangle 5"/>
          <p:cNvSpPr>
            <a:spLocks noChangeArrowheads="1"/>
          </p:cNvSpPr>
          <p:nvPr/>
        </p:nvSpPr>
        <p:spPr bwMode="auto">
          <a:xfrm>
            <a:off x="609600" y="1219200"/>
            <a:ext cx="7696200" cy="4495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marL="342900" indent="-342900"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08585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lvl="2"/>
            <a:r>
              <a:rPr lang="en-US" altLang="en-US" sz="1800" dirty="0"/>
              <a:t>Repeat the previous two steps, unless during </a:t>
            </a:r>
          </a:p>
          <a:p>
            <a:pPr lvl="2">
              <a:buFontTx/>
              <a:buNone/>
            </a:pPr>
            <a:r>
              <a:rPr lang="en-US" altLang="en-US" sz="1800" dirty="0"/>
              <a:t>	the last iteration, no example has changed</a:t>
            </a:r>
          </a:p>
          <a:p>
            <a:pPr lvl="2">
              <a:buFontTx/>
              <a:buNone/>
            </a:pPr>
            <a:r>
              <a:rPr lang="en-US" altLang="en-US" sz="1800" dirty="0"/>
              <a:t>	its class</a:t>
            </a:r>
          </a:p>
          <a:p>
            <a:pPr lvl="2">
              <a:buFontTx/>
              <a:buNone/>
            </a:pPr>
            <a:endParaRPr lang="en-US" altLang="en-US" sz="1600" dirty="0"/>
          </a:p>
          <a:p>
            <a:pPr lvl="1"/>
            <a:r>
              <a:rPr lang="en-US" altLang="en-US" sz="2000" dirty="0"/>
              <a:t>Advantages of K-means</a:t>
            </a:r>
          </a:p>
          <a:p>
            <a:pPr lvl="2"/>
            <a:r>
              <a:rPr lang="en-US" altLang="en-US" sz="1800" dirty="0"/>
              <a:t>Simple and fast</a:t>
            </a:r>
          </a:p>
          <a:p>
            <a:pPr lvl="2"/>
            <a:r>
              <a:rPr lang="en-US" altLang="en-US" sz="1800" dirty="0"/>
              <a:t>Works on a wide range of simple data</a:t>
            </a:r>
          </a:p>
          <a:p>
            <a:pPr lvl="1"/>
            <a:r>
              <a:rPr lang="en-US" altLang="en-US" sz="2000" dirty="0"/>
              <a:t>Disadvantages:</a:t>
            </a:r>
          </a:p>
          <a:p>
            <a:pPr lvl="2"/>
            <a:r>
              <a:rPr lang="en-US" altLang="en-US" sz="1800" dirty="0"/>
              <a:t>Assumes that the number of classes is available</a:t>
            </a:r>
          </a:p>
          <a:p>
            <a:pPr lvl="2"/>
            <a:r>
              <a:rPr lang="en-US" altLang="en-US" sz="1800" dirty="0"/>
              <a:t>Depends on initial centers</a:t>
            </a:r>
          </a:p>
          <a:p>
            <a:pPr lvl="2"/>
            <a:r>
              <a:rPr lang="en-US" altLang="en-US" sz="1800" dirty="0"/>
              <a:t>Unable to cluster complicated data</a:t>
            </a:r>
          </a:p>
          <a:p>
            <a:pPr lvl="1"/>
            <a:r>
              <a:rPr lang="en-US" altLang="en-US" sz="2000" dirty="0"/>
              <a:t>Solutions:</a:t>
            </a:r>
          </a:p>
          <a:p>
            <a:pPr lvl="2"/>
            <a:r>
              <a:rPr lang="en-US" altLang="en-US" sz="1800" dirty="0"/>
              <a:t>ISODATA</a:t>
            </a:r>
          </a:p>
          <a:p>
            <a:pPr lvl="2"/>
            <a:r>
              <a:rPr lang="en-US" altLang="en-US" sz="1800" dirty="0" err="1"/>
              <a:t>Kohonen</a:t>
            </a:r>
            <a:r>
              <a:rPr lang="en-US" altLang="en-US" sz="1800" dirty="0"/>
              <a:t> self-organizing map</a:t>
            </a:r>
          </a:p>
        </p:txBody>
      </p:sp>
      <p:sp>
        <p:nvSpPr>
          <p:cNvPr id="151558" name="Line 6"/>
          <p:cNvSpPr>
            <a:spLocks noChangeShapeType="1"/>
          </p:cNvSpPr>
          <p:nvPr/>
        </p:nvSpPr>
        <p:spPr bwMode="auto">
          <a:xfrm flipV="1">
            <a:off x="6248400" y="1371600"/>
            <a:ext cx="1588" cy="990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51559" name="Line 7"/>
          <p:cNvSpPr>
            <a:spLocks noChangeShapeType="1"/>
          </p:cNvSpPr>
          <p:nvPr/>
        </p:nvSpPr>
        <p:spPr bwMode="auto">
          <a:xfrm>
            <a:off x="5943600" y="2286000"/>
            <a:ext cx="2743200" cy="1588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51560" name="Oval 8"/>
          <p:cNvSpPr>
            <a:spLocks noChangeArrowheads="1"/>
          </p:cNvSpPr>
          <p:nvPr/>
        </p:nvSpPr>
        <p:spPr bwMode="auto">
          <a:xfrm>
            <a:off x="6477000" y="19050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endParaRPr lang="en-US" altLang="en-US"/>
          </a:p>
        </p:txBody>
      </p:sp>
      <p:sp>
        <p:nvSpPr>
          <p:cNvPr id="151561" name="Oval 9"/>
          <p:cNvSpPr>
            <a:spLocks noChangeArrowheads="1"/>
          </p:cNvSpPr>
          <p:nvPr/>
        </p:nvSpPr>
        <p:spPr bwMode="auto">
          <a:xfrm>
            <a:off x="6705600" y="18288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endParaRPr lang="en-US" altLang="en-US"/>
          </a:p>
        </p:txBody>
      </p:sp>
      <p:sp>
        <p:nvSpPr>
          <p:cNvPr id="151562" name="Oval 10"/>
          <p:cNvSpPr>
            <a:spLocks noChangeArrowheads="1"/>
          </p:cNvSpPr>
          <p:nvPr/>
        </p:nvSpPr>
        <p:spPr bwMode="auto">
          <a:xfrm>
            <a:off x="8077200" y="2057400"/>
            <a:ext cx="76200" cy="76200"/>
          </a:xfrm>
          <a:prstGeom prst="ellipse">
            <a:avLst/>
          </a:prstGeom>
          <a:solidFill>
            <a:srgbClr val="0000FF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endParaRPr lang="en-US" altLang="en-US">
              <a:solidFill>
                <a:srgbClr val="0000FF"/>
              </a:solidFill>
            </a:endParaRPr>
          </a:p>
        </p:txBody>
      </p:sp>
      <p:sp>
        <p:nvSpPr>
          <p:cNvPr id="151563" name="Oval 11"/>
          <p:cNvSpPr>
            <a:spLocks noChangeArrowheads="1"/>
          </p:cNvSpPr>
          <p:nvPr/>
        </p:nvSpPr>
        <p:spPr bwMode="auto">
          <a:xfrm>
            <a:off x="8458200" y="1905000"/>
            <a:ext cx="76200" cy="76200"/>
          </a:xfrm>
          <a:prstGeom prst="ellipse">
            <a:avLst/>
          </a:prstGeom>
          <a:solidFill>
            <a:srgbClr val="0000FF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endParaRPr lang="en-US" altLang="en-US"/>
          </a:p>
        </p:txBody>
      </p:sp>
      <p:sp>
        <p:nvSpPr>
          <p:cNvPr id="151564" name="Oval 12"/>
          <p:cNvSpPr>
            <a:spLocks noChangeArrowheads="1"/>
          </p:cNvSpPr>
          <p:nvPr/>
        </p:nvSpPr>
        <p:spPr bwMode="auto">
          <a:xfrm>
            <a:off x="7543800" y="1676400"/>
            <a:ext cx="76200" cy="76200"/>
          </a:xfrm>
          <a:prstGeom prst="ellipse">
            <a:avLst/>
          </a:prstGeom>
          <a:solidFill>
            <a:srgbClr val="FF0000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endParaRPr lang="en-US" altLang="en-US"/>
          </a:p>
        </p:txBody>
      </p:sp>
      <p:sp>
        <p:nvSpPr>
          <p:cNvPr id="151565" name="Oval 13"/>
          <p:cNvSpPr>
            <a:spLocks noChangeArrowheads="1"/>
          </p:cNvSpPr>
          <p:nvPr/>
        </p:nvSpPr>
        <p:spPr bwMode="auto">
          <a:xfrm>
            <a:off x="6400800" y="20574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endParaRPr lang="en-US" altLang="en-US"/>
          </a:p>
        </p:txBody>
      </p:sp>
      <p:sp>
        <p:nvSpPr>
          <p:cNvPr id="151566" name="Oval 14"/>
          <p:cNvSpPr>
            <a:spLocks noChangeArrowheads="1"/>
          </p:cNvSpPr>
          <p:nvPr/>
        </p:nvSpPr>
        <p:spPr bwMode="auto">
          <a:xfrm>
            <a:off x="6629400" y="20574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endParaRPr lang="en-US" altLang="en-US"/>
          </a:p>
        </p:txBody>
      </p:sp>
      <p:sp>
        <p:nvSpPr>
          <p:cNvPr id="151567" name="Oval 15"/>
          <p:cNvSpPr>
            <a:spLocks noChangeArrowheads="1"/>
          </p:cNvSpPr>
          <p:nvPr/>
        </p:nvSpPr>
        <p:spPr bwMode="auto">
          <a:xfrm>
            <a:off x="7620000" y="1524000"/>
            <a:ext cx="76200" cy="76200"/>
          </a:xfrm>
          <a:prstGeom prst="ellipse">
            <a:avLst/>
          </a:prstGeom>
          <a:solidFill>
            <a:srgbClr val="FF0000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endParaRPr lang="en-US" altLang="en-US"/>
          </a:p>
        </p:txBody>
      </p:sp>
      <p:sp>
        <p:nvSpPr>
          <p:cNvPr id="151568" name="Oval 16"/>
          <p:cNvSpPr>
            <a:spLocks noChangeArrowheads="1"/>
          </p:cNvSpPr>
          <p:nvPr/>
        </p:nvSpPr>
        <p:spPr bwMode="auto">
          <a:xfrm>
            <a:off x="6553200" y="1981200"/>
            <a:ext cx="76200" cy="76200"/>
          </a:xfrm>
          <a:prstGeom prst="ellipse">
            <a:avLst/>
          </a:prstGeom>
          <a:solidFill>
            <a:schemeClr val="accent1"/>
          </a:solidFill>
          <a:ln w="2857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endParaRPr lang="en-US" altLang="en-US">
              <a:solidFill>
                <a:srgbClr val="0000FF"/>
              </a:solidFill>
            </a:endParaRPr>
          </a:p>
        </p:txBody>
      </p:sp>
      <p:sp>
        <p:nvSpPr>
          <p:cNvPr id="151569" name="Oval 17"/>
          <p:cNvSpPr>
            <a:spLocks noChangeArrowheads="1"/>
          </p:cNvSpPr>
          <p:nvPr/>
        </p:nvSpPr>
        <p:spPr bwMode="auto">
          <a:xfrm>
            <a:off x="8305800" y="2057400"/>
            <a:ext cx="76200" cy="76200"/>
          </a:xfrm>
          <a:prstGeom prst="ellipse">
            <a:avLst/>
          </a:prstGeom>
          <a:solidFill>
            <a:srgbClr val="0000FF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endParaRPr lang="en-US" altLang="en-US"/>
          </a:p>
        </p:txBody>
      </p:sp>
      <p:sp>
        <p:nvSpPr>
          <p:cNvPr id="151570" name="Oval 18"/>
          <p:cNvSpPr>
            <a:spLocks noChangeArrowheads="1"/>
          </p:cNvSpPr>
          <p:nvPr/>
        </p:nvSpPr>
        <p:spPr bwMode="auto">
          <a:xfrm>
            <a:off x="8001000" y="1905000"/>
            <a:ext cx="76200" cy="76200"/>
          </a:xfrm>
          <a:prstGeom prst="ellipse">
            <a:avLst/>
          </a:prstGeom>
          <a:solidFill>
            <a:srgbClr val="0000FF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endParaRPr lang="en-US" altLang="en-US"/>
          </a:p>
        </p:txBody>
      </p:sp>
      <p:sp>
        <p:nvSpPr>
          <p:cNvPr id="151571" name="Oval 19"/>
          <p:cNvSpPr>
            <a:spLocks noChangeArrowheads="1"/>
          </p:cNvSpPr>
          <p:nvPr/>
        </p:nvSpPr>
        <p:spPr bwMode="auto">
          <a:xfrm>
            <a:off x="8153400" y="1828800"/>
            <a:ext cx="76200" cy="76200"/>
          </a:xfrm>
          <a:prstGeom prst="ellipse">
            <a:avLst/>
          </a:prstGeom>
          <a:solidFill>
            <a:srgbClr val="0000FF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endParaRPr lang="en-US" altLang="en-US"/>
          </a:p>
        </p:txBody>
      </p:sp>
      <p:sp>
        <p:nvSpPr>
          <p:cNvPr id="151572" name="Oval 20"/>
          <p:cNvSpPr>
            <a:spLocks noChangeArrowheads="1"/>
          </p:cNvSpPr>
          <p:nvPr/>
        </p:nvSpPr>
        <p:spPr bwMode="auto">
          <a:xfrm>
            <a:off x="8229600" y="1981200"/>
            <a:ext cx="76200" cy="76200"/>
          </a:xfrm>
          <a:prstGeom prst="ellipse">
            <a:avLst/>
          </a:prstGeom>
          <a:solidFill>
            <a:srgbClr val="0000FF"/>
          </a:solidFill>
          <a:ln w="2857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endParaRPr lang="en-US" altLang="en-US">
              <a:solidFill>
                <a:srgbClr val="0000FF"/>
              </a:solidFill>
            </a:endParaRPr>
          </a:p>
        </p:txBody>
      </p:sp>
      <p:sp>
        <p:nvSpPr>
          <p:cNvPr id="151573" name="Oval 21"/>
          <p:cNvSpPr>
            <a:spLocks noChangeArrowheads="1"/>
          </p:cNvSpPr>
          <p:nvPr/>
        </p:nvSpPr>
        <p:spPr bwMode="auto">
          <a:xfrm>
            <a:off x="7467600" y="1524000"/>
            <a:ext cx="76200" cy="76200"/>
          </a:xfrm>
          <a:prstGeom prst="ellipse">
            <a:avLst/>
          </a:prstGeom>
          <a:solidFill>
            <a:srgbClr val="FF0000"/>
          </a:solidFill>
          <a:ln w="2857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endParaRPr lang="en-US" altLang="en-US">
              <a:solidFill>
                <a:srgbClr val="0000FF"/>
              </a:solidFill>
            </a:endParaRPr>
          </a:p>
        </p:txBody>
      </p:sp>
      <p:sp>
        <p:nvSpPr>
          <p:cNvPr id="151574" name="Oval 22"/>
          <p:cNvSpPr>
            <a:spLocks noChangeArrowheads="1"/>
          </p:cNvSpPr>
          <p:nvPr/>
        </p:nvSpPr>
        <p:spPr bwMode="auto">
          <a:xfrm>
            <a:off x="7391400" y="1600200"/>
            <a:ext cx="76200" cy="76200"/>
          </a:xfrm>
          <a:prstGeom prst="ellipse">
            <a:avLst/>
          </a:prstGeom>
          <a:solidFill>
            <a:srgbClr val="FF0000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endParaRPr lang="en-US" altLang="en-US"/>
          </a:p>
        </p:txBody>
      </p:sp>
      <p:sp>
        <p:nvSpPr>
          <p:cNvPr id="151575" name="Oval 23"/>
          <p:cNvSpPr>
            <a:spLocks noChangeArrowheads="1"/>
          </p:cNvSpPr>
          <p:nvPr/>
        </p:nvSpPr>
        <p:spPr bwMode="auto">
          <a:xfrm>
            <a:off x="7315200" y="1524000"/>
            <a:ext cx="76200" cy="76200"/>
          </a:xfrm>
          <a:prstGeom prst="ellipse">
            <a:avLst/>
          </a:prstGeom>
          <a:solidFill>
            <a:srgbClr val="FF0000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endParaRPr lang="en-US" altLang="en-US"/>
          </a:p>
        </p:txBody>
      </p:sp>
      <p:sp>
        <p:nvSpPr>
          <p:cNvPr id="151576" name="Oval 24"/>
          <p:cNvSpPr>
            <a:spLocks noChangeArrowheads="1"/>
          </p:cNvSpPr>
          <p:nvPr/>
        </p:nvSpPr>
        <p:spPr bwMode="auto">
          <a:xfrm>
            <a:off x="7315200" y="1752600"/>
            <a:ext cx="76200" cy="76200"/>
          </a:xfrm>
          <a:prstGeom prst="ellipse">
            <a:avLst/>
          </a:prstGeom>
          <a:solidFill>
            <a:srgbClr val="FF0000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endParaRPr lang="en-US" altLang="en-US"/>
          </a:p>
        </p:txBody>
      </p:sp>
      <p:sp>
        <p:nvSpPr>
          <p:cNvPr id="151577" name="Oval 25"/>
          <p:cNvSpPr>
            <a:spLocks noChangeArrowheads="1"/>
          </p:cNvSpPr>
          <p:nvPr/>
        </p:nvSpPr>
        <p:spPr bwMode="auto">
          <a:xfrm>
            <a:off x="7696200" y="1447800"/>
            <a:ext cx="76200" cy="76200"/>
          </a:xfrm>
          <a:prstGeom prst="ellipse">
            <a:avLst/>
          </a:prstGeom>
          <a:solidFill>
            <a:srgbClr val="FF0000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13668219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en-US"/>
              <a:t>2014</a:t>
            </a:r>
          </a:p>
        </p:txBody>
      </p:sp>
      <p:sp>
        <p:nvSpPr>
          <p:cNvPr id="8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43E22E-599A-4201-8FE5-D49427C94BCD}" type="slidenum">
              <a:rPr lang="en-US" altLang="en-US"/>
              <a:pPr/>
              <a:t>11</a:t>
            </a:fld>
            <a:endParaRPr lang="en-US" altLang="en-US"/>
          </a:p>
        </p:txBody>
      </p:sp>
      <p:sp>
        <p:nvSpPr>
          <p:cNvPr id="152578" name="AutoShape 2"/>
          <p:cNvSpPr>
            <a:spLocks noChangeArrowheads="1"/>
          </p:cNvSpPr>
          <p:nvPr/>
        </p:nvSpPr>
        <p:spPr bwMode="auto">
          <a:xfrm>
            <a:off x="304800" y="152400"/>
            <a:ext cx="8610600" cy="914400"/>
          </a:xfrm>
          <a:prstGeom prst="roundRect">
            <a:avLst>
              <a:gd name="adj" fmla="val 16667"/>
            </a:avLst>
          </a:prstGeom>
          <a:solidFill>
            <a:srgbClr val="FFCCFF"/>
          </a:solidFill>
          <a:ln w="34925">
            <a:solidFill>
              <a:srgbClr val="FF3300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52579" name="AutoShape 3"/>
          <p:cNvSpPr>
            <a:spLocks noChangeArrowheads="1"/>
          </p:cNvSpPr>
          <p:nvPr/>
        </p:nvSpPr>
        <p:spPr bwMode="auto">
          <a:xfrm>
            <a:off x="304800" y="1143000"/>
            <a:ext cx="8610600" cy="4953000"/>
          </a:xfrm>
          <a:prstGeom prst="roundRect">
            <a:avLst>
              <a:gd name="adj" fmla="val 16667"/>
            </a:avLst>
          </a:prstGeom>
          <a:noFill/>
          <a:ln w="34925">
            <a:solidFill>
              <a:srgbClr val="FF33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52580" name="Rectangle 4"/>
          <p:cNvSpPr>
            <a:spLocks noChangeArrowheads="1"/>
          </p:cNvSpPr>
          <p:nvPr/>
        </p:nvSpPr>
        <p:spPr bwMode="auto">
          <a:xfrm>
            <a:off x="762000" y="228600"/>
            <a:ext cx="7772400" cy="685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/>
          <a:lstStyle>
            <a:lvl1pPr algn="ctr">
              <a:defRPr sz="4400">
                <a:solidFill>
                  <a:schemeClr val="tx2"/>
                </a:solidFill>
                <a:latin typeface="Times New Roman" pitchFamily="18" charset="0"/>
              </a:defRPr>
            </a:lvl1pPr>
            <a:lvl2pPr algn="ctr">
              <a:defRPr sz="4400">
                <a:solidFill>
                  <a:schemeClr val="tx2"/>
                </a:solidFill>
                <a:latin typeface="Times New Roman" pitchFamily="18" charset="0"/>
              </a:defRPr>
            </a:lvl2pPr>
            <a:lvl3pPr algn="ctr">
              <a:defRPr sz="4400">
                <a:solidFill>
                  <a:schemeClr val="tx2"/>
                </a:solidFill>
                <a:latin typeface="Times New Roman" pitchFamily="18" charset="0"/>
              </a:defRPr>
            </a:lvl3pPr>
            <a:lvl4pPr algn="ctr">
              <a:defRPr sz="4400">
                <a:solidFill>
                  <a:schemeClr val="tx2"/>
                </a:solidFill>
                <a:latin typeface="Times New Roman" pitchFamily="18" charset="0"/>
              </a:defRPr>
            </a:lvl4pPr>
            <a:lvl5pPr algn="ctr">
              <a:defRPr sz="4400">
                <a:solidFill>
                  <a:schemeClr val="tx2"/>
                </a:solidFill>
                <a:latin typeface="Times New Roman" pitchFamily="18" charset="0"/>
              </a:defRPr>
            </a:lvl5pPr>
            <a:lvl6pPr marL="457200" algn="ctr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imes New Roman" pitchFamily="18" charset="0"/>
              </a:defRPr>
            </a:lvl6pPr>
            <a:lvl7pPr marL="914400" algn="ctr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imes New Roman" pitchFamily="18" charset="0"/>
              </a:defRPr>
            </a:lvl7pPr>
            <a:lvl8pPr marL="1371600" algn="ctr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imes New Roman" pitchFamily="18" charset="0"/>
              </a:defRPr>
            </a:lvl8pPr>
            <a:lvl9pPr marL="1828800" algn="ctr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imes New Roman" pitchFamily="18" charset="0"/>
              </a:defRPr>
            </a:lvl9pPr>
          </a:lstStyle>
          <a:p>
            <a:r>
              <a:rPr lang="en-US" altLang="en-US" sz="2800" dirty="0">
                <a:solidFill>
                  <a:srgbClr val="0000FF"/>
                </a:solidFill>
                <a:latin typeface="Arial" charset="0"/>
              </a:rPr>
              <a:t>Classification with KNN</a:t>
            </a:r>
          </a:p>
        </p:txBody>
      </p:sp>
      <p:sp>
        <p:nvSpPr>
          <p:cNvPr id="152581" name="Rectangle 5"/>
          <p:cNvSpPr>
            <a:spLocks noChangeArrowheads="1"/>
          </p:cNvSpPr>
          <p:nvPr/>
        </p:nvSpPr>
        <p:spPr bwMode="auto">
          <a:xfrm>
            <a:off x="609600" y="1126327"/>
            <a:ext cx="4724400" cy="4495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marL="342900" indent="-342900"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08585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r>
              <a:rPr lang="en-US" altLang="en-US" sz="2400" dirty="0"/>
              <a:t>Simplest type of classification algorithm: K Nearest Neighbors</a:t>
            </a:r>
          </a:p>
          <a:p>
            <a:pPr lvl="1"/>
            <a:r>
              <a:rPr lang="en-US" altLang="en-US" sz="2000" dirty="0"/>
              <a:t>General concept: </a:t>
            </a:r>
          </a:p>
          <a:p>
            <a:pPr lvl="2"/>
            <a:r>
              <a:rPr lang="en-US" altLang="en-US" sz="1800" dirty="0"/>
              <a:t>Calculate the distance of the new example to all known examples (and not just centers)</a:t>
            </a:r>
          </a:p>
          <a:p>
            <a:pPr lvl="2"/>
            <a:r>
              <a:rPr lang="en-US" altLang="en-US" sz="1800" dirty="0"/>
              <a:t>For each class, find the K known examples that belong to the class and have the minimal distance from the new pattern (among all examples belonging to this class)</a:t>
            </a:r>
          </a:p>
          <a:p>
            <a:pPr lvl="2"/>
            <a:r>
              <a:rPr lang="en-US" altLang="en-US" sz="1800" dirty="0"/>
              <a:t>Find the total distance of all the examples of each class and do this for all of the classes</a:t>
            </a:r>
          </a:p>
          <a:p>
            <a:pPr lvl="2"/>
            <a:r>
              <a:rPr lang="en-US" altLang="en-US" sz="1800" dirty="0"/>
              <a:t>The class with minimum total distance wins the new pattern</a:t>
            </a:r>
          </a:p>
        </p:txBody>
      </p:sp>
      <p:cxnSp>
        <p:nvCxnSpPr>
          <p:cNvPr id="10" name="Straight Arrow Connector 9"/>
          <p:cNvCxnSpPr/>
          <p:nvPr/>
        </p:nvCxnSpPr>
        <p:spPr bwMode="auto">
          <a:xfrm flipV="1">
            <a:off x="5943600" y="2438400"/>
            <a:ext cx="0" cy="1066800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arrow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2" name="Straight Arrow Connector 11"/>
          <p:cNvCxnSpPr/>
          <p:nvPr/>
        </p:nvCxnSpPr>
        <p:spPr bwMode="auto">
          <a:xfrm>
            <a:off x="5638800" y="3276600"/>
            <a:ext cx="2362200" cy="0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arrow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grpSp>
        <p:nvGrpSpPr>
          <p:cNvPr id="17" name="Group 16"/>
          <p:cNvGrpSpPr/>
          <p:nvPr/>
        </p:nvGrpSpPr>
        <p:grpSpPr>
          <a:xfrm>
            <a:off x="6432932" y="2526536"/>
            <a:ext cx="381000" cy="381000"/>
            <a:chOff x="6248400" y="1371600"/>
            <a:chExt cx="381000" cy="381000"/>
          </a:xfrm>
        </p:grpSpPr>
        <p:sp>
          <p:nvSpPr>
            <p:cNvPr id="13" name="Oval 12"/>
            <p:cNvSpPr/>
            <p:nvPr/>
          </p:nvSpPr>
          <p:spPr bwMode="auto">
            <a:xfrm>
              <a:off x="6400800" y="1371600"/>
              <a:ext cx="76200" cy="76200"/>
            </a:xfrm>
            <a:prstGeom prst="ellips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24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</a:endParaRPr>
            </a:p>
          </p:txBody>
        </p:sp>
        <p:sp>
          <p:nvSpPr>
            <p:cNvPr id="14" name="Oval 13"/>
            <p:cNvSpPr/>
            <p:nvPr/>
          </p:nvSpPr>
          <p:spPr bwMode="auto">
            <a:xfrm>
              <a:off x="6248400" y="1524000"/>
              <a:ext cx="76200" cy="76200"/>
            </a:xfrm>
            <a:prstGeom prst="ellips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24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</a:endParaRPr>
            </a:p>
          </p:txBody>
        </p:sp>
        <p:sp>
          <p:nvSpPr>
            <p:cNvPr id="15" name="Oval 14"/>
            <p:cNvSpPr/>
            <p:nvPr/>
          </p:nvSpPr>
          <p:spPr bwMode="auto">
            <a:xfrm>
              <a:off x="6553200" y="1524000"/>
              <a:ext cx="76200" cy="76200"/>
            </a:xfrm>
            <a:prstGeom prst="ellips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24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</a:endParaRPr>
            </a:p>
          </p:txBody>
        </p:sp>
        <p:sp>
          <p:nvSpPr>
            <p:cNvPr id="16" name="Oval 15"/>
            <p:cNvSpPr/>
            <p:nvPr/>
          </p:nvSpPr>
          <p:spPr bwMode="auto">
            <a:xfrm>
              <a:off x="6324600" y="1676400"/>
              <a:ext cx="76200" cy="76200"/>
            </a:xfrm>
            <a:prstGeom prst="ellips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24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</a:endParaRPr>
            </a:p>
          </p:txBody>
        </p:sp>
      </p:grpSp>
      <p:grpSp>
        <p:nvGrpSpPr>
          <p:cNvPr id="18" name="Group 17"/>
          <p:cNvGrpSpPr/>
          <p:nvPr/>
        </p:nvGrpSpPr>
        <p:grpSpPr>
          <a:xfrm>
            <a:off x="6629400" y="2590800"/>
            <a:ext cx="381000" cy="381000"/>
            <a:chOff x="6248400" y="1371600"/>
            <a:chExt cx="381000" cy="381000"/>
          </a:xfrm>
        </p:grpSpPr>
        <p:sp>
          <p:nvSpPr>
            <p:cNvPr id="19" name="Oval 18"/>
            <p:cNvSpPr/>
            <p:nvPr/>
          </p:nvSpPr>
          <p:spPr bwMode="auto">
            <a:xfrm>
              <a:off x="6400800" y="1371600"/>
              <a:ext cx="76200" cy="76200"/>
            </a:xfrm>
            <a:prstGeom prst="ellips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24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</a:endParaRPr>
            </a:p>
          </p:txBody>
        </p:sp>
        <p:sp>
          <p:nvSpPr>
            <p:cNvPr id="20" name="Oval 19"/>
            <p:cNvSpPr/>
            <p:nvPr/>
          </p:nvSpPr>
          <p:spPr bwMode="auto">
            <a:xfrm>
              <a:off x="6248400" y="1524000"/>
              <a:ext cx="76200" cy="76200"/>
            </a:xfrm>
            <a:prstGeom prst="ellips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24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</a:endParaRPr>
            </a:p>
          </p:txBody>
        </p:sp>
        <p:sp>
          <p:nvSpPr>
            <p:cNvPr id="21" name="Oval 20"/>
            <p:cNvSpPr/>
            <p:nvPr/>
          </p:nvSpPr>
          <p:spPr bwMode="auto">
            <a:xfrm>
              <a:off x="6553200" y="1524000"/>
              <a:ext cx="76200" cy="76200"/>
            </a:xfrm>
            <a:prstGeom prst="ellips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24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</a:endParaRPr>
            </a:p>
          </p:txBody>
        </p:sp>
        <p:sp>
          <p:nvSpPr>
            <p:cNvPr id="22" name="Oval 21"/>
            <p:cNvSpPr/>
            <p:nvPr/>
          </p:nvSpPr>
          <p:spPr bwMode="auto">
            <a:xfrm>
              <a:off x="6324600" y="1676400"/>
              <a:ext cx="76200" cy="76200"/>
            </a:xfrm>
            <a:prstGeom prst="ellips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24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</a:endParaRPr>
            </a:p>
          </p:txBody>
        </p:sp>
      </p:grpSp>
      <p:grpSp>
        <p:nvGrpSpPr>
          <p:cNvPr id="29" name="Group 28"/>
          <p:cNvGrpSpPr/>
          <p:nvPr/>
        </p:nvGrpSpPr>
        <p:grpSpPr>
          <a:xfrm>
            <a:off x="7391400" y="2667000"/>
            <a:ext cx="381000" cy="457200"/>
            <a:chOff x="7391400" y="1524000"/>
            <a:chExt cx="381000" cy="457200"/>
          </a:xfrm>
        </p:grpSpPr>
        <p:sp>
          <p:nvSpPr>
            <p:cNvPr id="23" name="Rounded Rectangle 22"/>
            <p:cNvSpPr/>
            <p:nvPr/>
          </p:nvSpPr>
          <p:spPr bwMode="auto">
            <a:xfrm>
              <a:off x="7391400" y="1524000"/>
              <a:ext cx="76200" cy="76200"/>
            </a:xfrm>
            <a:prstGeom prst="roundRect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24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</a:endParaRPr>
            </a:p>
          </p:txBody>
        </p:sp>
        <p:sp>
          <p:nvSpPr>
            <p:cNvPr id="24" name="Rounded Rectangle 23"/>
            <p:cNvSpPr/>
            <p:nvPr/>
          </p:nvSpPr>
          <p:spPr bwMode="auto">
            <a:xfrm>
              <a:off x="7543800" y="1676400"/>
              <a:ext cx="76200" cy="76200"/>
            </a:xfrm>
            <a:prstGeom prst="roundRect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24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</a:endParaRPr>
            </a:p>
          </p:txBody>
        </p:sp>
        <p:sp>
          <p:nvSpPr>
            <p:cNvPr id="25" name="Rounded Rectangle 24"/>
            <p:cNvSpPr/>
            <p:nvPr/>
          </p:nvSpPr>
          <p:spPr bwMode="auto">
            <a:xfrm>
              <a:off x="7696200" y="1828800"/>
              <a:ext cx="76200" cy="76200"/>
            </a:xfrm>
            <a:prstGeom prst="roundRect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24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</a:endParaRPr>
            </a:p>
          </p:txBody>
        </p:sp>
        <p:grpSp>
          <p:nvGrpSpPr>
            <p:cNvPr id="28" name="Group 27"/>
            <p:cNvGrpSpPr/>
            <p:nvPr/>
          </p:nvGrpSpPr>
          <p:grpSpPr>
            <a:xfrm>
              <a:off x="7391400" y="1752600"/>
              <a:ext cx="228600" cy="228600"/>
              <a:chOff x="7696200" y="1828800"/>
              <a:chExt cx="228600" cy="228600"/>
            </a:xfrm>
          </p:grpSpPr>
          <p:sp>
            <p:nvSpPr>
              <p:cNvPr id="26" name="Rounded Rectangle 25"/>
              <p:cNvSpPr/>
              <p:nvPr/>
            </p:nvSpPr>
            <p:spPr bwMode="auto">
              <a:xfrm>
                <a:off x="7696200" y="1828800"/>
                <a:ext cx="76200" cy="76200"/>
              </a:xfrm>
              <a:prstGeom prst="roundRect">
                <a:avLst/>
              </a:prstGeom>
              <a:solidFill>
                <a:schemeClr val="accent1"/>
              </a:solidFill>
              <a:ln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vert="horz" wrap="square" lIns="91440" tIns="45720" rIns="91440" bIns="45720" numCol="1" rtlCol="0" anchor="t" anchorCtr="0" compatLnSpc="1">
                <a:prstTxWarp prst="textNoShape">
                  <a:avLst/>
                </a:prstTxWarp>
              </a:bodyPr>
              <a:lstStyle/>
              <a:p>
                <a:pPr marL="0" marR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endParaRPr kumimoji="0" lang="en-US" sz="2400" b="0" i="0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Times New Roman" pitchFamily="18" charset="0"/>
                </a:endParaRPr>
              </a:p>
            </p:txBody>
          </p:sp>
          <p:sp>
            <p:nvSpPr>
              <p:cNvPr id="27" name="Rounded Rectangle 26"/>
              <p:cNvSpPr/>
              <p:nvPr/>
            </p:nvSpPr>
            <p:spPr bwMode="auto">
              <a:xfrm>
                <a:off x="7848600" y="1981200"/>
                <a:ext cx="76200" cy="76200"/>
              </a:xfrm>
              <a:prstGeom prst="roundRect">
                <a:avLst/>
              </a:prstGeom>
              <a:solidFill>
                <a:schemeClr val="accent1"/>
              </a:solidFill>
              <a:ln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vert="horz" wrap="square" lIns="91440" tIns="45720" rIns="91440" bIns="45720" numCol="1" rtlCol="0" anchor="t" anchorCtr="0" compatLnSpc="1">
                <a:prstTxWarp prst="textNoShape">
                  <a:avLst/>
                </a:prstTxWarp>
              </a:bodyPr>
              <a:lstStyle/>
              <a:p>
                <a:pPr marL="0" marR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endParaRPr kumimoji="0" lang="en-US" sz="2400" b="0" i="0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Times New Roman" pitchFamily="18" charset="0"/>
                </a:endParaRPr>
              </a:p>
            </p:txBody>
          </p:sp>
        </p:grpSp>
      </p:grpSp>
      <p:grpSp>
        <p:nvGrpSpPr>
          <p:cNvPr id="30" name="Group 29"/>
          <p:cNvGrpSpPr/>
          <p:nvPr/>
        </p:nvGrpSpPr>
        <p:grpSpPr>
          <a:xfrm>
            <a:off x="7272051" y="2644966"/>
            <a:ext cx="381000" cy="457200"/>
            <a:chOff x="7391400" y="1524000"/>
            <a:chExt cx="381000" cy="457200"/>
          </a:xfrm>
        </p:grpSpPr>
        <p:sp>
          <p:nvSpPr>
            <p:cNvPr id="31" name="Rounded Rectangle 30"/>
            <p:cNvSpPr/>
            <p:nvPr/>
          </p:nvSpPr>
          <p:spPr bwMode="auto">
            <a:xfrm>
              <a:off x="7391400" y="1524000"/>
              <a:ext cx="76200" cy="76200"/>
            </a:xfrm>
            <a:prstGeom prst="roundRect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24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</a:endParaRPr>
            </a:p>
          </p:txBody>
        </p:sp>
        <p:sp>
          <p:nvSpPr>
            <p:cNvPr id="32" name="Rounded Rectangle 31"/>
            <p:cNvSpPr/>
            <p:nvPr/>
          </p:nvSpPr>
          <p:spPr bwMode="auto">
            <a:xfrm>
              <a:off x="7543800" y="1676400"/>
              <a:ext cx="76200" cy="76200"/>
            </a:xfrm>
            <a:prstGeom prst="roundRect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24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</a:endParaRPr>
            </a:p>
          </p:txBody>
        </p:sp>
        <p:sp>
          <p:nvSpPr>
            <p:cNvPr id="33" name="Rounded Rectangle 32"/>
            <p:cNvSpPr/>
            <p:nvPr/>
          </p:nvSpPr>
          <p:spPr bwMode="auto">
            <a:xfrm>
              <a:off x="7696200" y="1828800"/>
              <a:ext cx="76200" cy="76200"/>
            </a:xfrm>
            <a:prstGeom prst="roundRect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24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</a:endParaRPr>
            </a:p>
          </p:txBody>
        </p:sp>
        <p:grpSp>
          <p:nvGrpSpPr>
            <p:cNvPr id="34" name="Group 27"/>
            <p:cNvGrpSpPr/>
            <p:nvPr/>
          </p:nvGrpSpPr>
          <p:grpSpPr>
            <a:xfrm>
              <a:off x="7391400" y="1752600"/>
              <a:ext cx="228600" cy="228600"/>
              <a:chOff x="7696200" y="1828800"/>
              <a:chExt cx="228600" cy="228600"/>
            </a:xfrm>
          </p:grpSpPr>
          <p:sp>
            <p:nvSpPr>
              <p:cNvPr id="35" name="Rounded Rectangle 34"/>
              <p:cNvSpPr/>
              <p:nvPr/>
            </p:nvSpPr>
            <p:spPr bwMode="auto">
              <a:xfrm>
                <a:off x="7696200" y="1828800"/>
                <a:ext cx="76200" cy="76200"/>
              </a:xfrm>
              <a:prstGeom prst="roundRect">
                <a:avLst/>
              </a:prstGeom>
              <a:solidFill>
                <a:schemeClr val="accent1"/>
              </a:solidFill>
              <a:ln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vert="horz" wrap="square" lIns="91440" tIns="45720" rIns="91440" bIns="45720" numCol="1" rtlCol="0" anchor="t" anchorCtr="0" compatLnSpc="1">
                <a:prstTxWarp prst="textNoShape">
                  <a:avLst/>
                </a:prstTxWarp>
              </a:bodyPr>
              <a:lstStyle/>
              <a:p>
                <a:pPr marL="0" marR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endParaRPr kumimoji="0" lang="en-US" sz="2400" b="0" i="0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Times New Roman" pitchFamily="18" charset="0"/>
                </a:endParaRPr>
              </a:p>
            </p:txBody>
          </p:sp>
          <p:sp>
            <p:nvSpPr>
              <p:cNvPr id="36" name="Rounded Rectangle 35"/>
              <p:cNvSpPr/>
              <p:nvPr/>
            </p:nvSpPr>
            <p:spPr bwMode="auto">
              <a:xfrm>
                <a:off x="7848600" y="1981200"/>
                <a:ext cx="76200" cy="76200"/>
              </a:xfrm>
              <a:prstGeom prst="roundRect">
                <a:avLst/>
              </a:prstGeom>
              <a:solidFill>
                <a:schemeClr val="accent1"/>
              </a:solidFill>
              <a:ln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vert="horz" wrap="square" lIns="91440" tIns="45720" rIns="91440" bIns="45720" numCol="1" rtlCol="0" anchor="t" anchorCtr="0" compatLnSpc="1">
                <a:prstTxWarp prst="textNoShape">
                  <a:avLst/>
                </a:prstTxWarp>
              </a:bodyPr>
              <a:lstStyle/>
              <a:p>
                <a:pPr marL="0" marR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endParaRPr kumimoji="0" lang="en-US" sz="2400" b="0" i="0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Times New Roman" pitchFamily="18" charset="0"/>
                </a:endParaRPr>
              </a:p>
            </p:txBody>
          </p:sp>
        </p:grpSp>
      </p:grpSp>
      <p:sp>
        <p:nvSpPr>
          <p:cNvPr id="37" name="Isosceles Triangle 36"/>
          <p:cNvSpPr/>
          <p:nvPr/>
        </p:nvSpPr>
        <p:spPr bwMode="auto">
          <a:xfrm>
            <a:off x="7118732" y="3048000"/>
            <a:ext cx="76200" cy="76200"/>
          </a:xfrm>
          <a:prstGeom prst="triangle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</a:endParaRPr>
          </a:p>
        </p:txBody>
      </p:sp>
      <p:cxnSp>
        <p:nvCxnSpPr>
          <p:cNvPr id="38" name="Straight Arrow Connector 37"/>
          <p:cNvCxnSpPr/>
          <p:nvPr/>
        </p:nvCxnSpPr>
        <p:spPr bwMode="auto">
          <a:xfrm flipV="1">
            <a:off x="5943600" y="1295400"/>
            <a:ext cx="0" cy="1066800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arrow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39" name="Straight Arrow Connector 38"/>
          <p:cNvCxnSpPr/>
          <p:nvPr/>
        </p:nvCxnSpPr>
        <p:spPr bwMode="auto">
          <a:xfrm>
            <a:off x="5638800" y="2133600"/>
            <a:ext cx="2362200" cy="0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arrow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grpSp>
        <p:nvGrpSpPr>
          <p:cNvPr id="40" name="Group 39"/>
          <p:cNvGrpSpPr/>
          <p:nvPr/>
        </p:nvGrpSpPr>
        <p:grpSpPr>
          <a:xfrm>
            <a:off x="6432932" y="1383536"/>
            <a:ext cx="381000" cy="381000"/>
            <a:chOff x="6248400" y="1371600"/>
            <a:chExt cx="381000" cy="381000"/>
          </a:xfrm>
        </p:grpSpPr>
        <p:sp>
          <p:nvSpPr>
            <p:cNvPr id="41" name="Oval 40"/>
            <p:cNvSpPr/>
            <p:nvPr/>
          </p:nvSpPr>
          <p:spPr bwMode="auto">
            <a:xfrm>
              <a:off x="6400800" y="1371600"/>
              <a:ext cx="76200" cy="76200"/>
            </a:xfrm>
            <a:prstGeom prst="ellips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24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</a:endParaRPr>
            </a:p>
          </p:txBody>
        </p:sp>
        <p:sp>
          <p:nvSpPr>
            <p:cNvPr id="42" name="Oval 41"/>
            <p:cNvSpPr/>
            <p:nvPr/>
          </p:nvSpPr>
          <p:spPr bwMode="auto">
            <a:xfrm>
              <a:off x="6248400" y="1524000"/>
              <a:ext cx="76200" cy="76200"/>
            </a:xfrm>
            <a:prstGeom prst="ellips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24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</a:endParaRPr>
            </a:p>
          </p:txBody>
        </p:sp>
        <p:sp>
          <p:nvSpPr>
            <p:cNvPr id="43" name="Oval 42"/>
            <p:cNvSpPr/>
            <p:nvPr/>
          </p:nvSpPr>
          <p:spPr bwMode="auto">
            <a:xfrm>
              <a:off x="6553200" y="1524000"/>
              <a:ext cx="76200" cy="76200"/>
            </a:xfrm>
            <a:prstGeom prst="ellips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24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</a:endParaRPr>
            </a:p>
          </p:txBody>
        </p:sp>
        <p:sp>
          <p:nvSpPr>
            <p:cNvPr id="44" name="Oval 43"/>
            <p:cNvSpPr/>
            <p:nvPr/>
          </p:nvSpPr>
          <p:spPr bwMode="auto">
            <a:xfrm>
              <a:off x="6324600" y="1676400"/>
              <a:ext cx="76200" cy="76200"/>
            </a:xfrm>
            <a:prstGeom prst="ellips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24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</a:endParaRPr>
            </a:p>
          </p:txBody>
        </p:sp>
      </p:grpSp>
      <p:grpSp>
        <p:nvGrpSpPr>
          <p:cNvPr id="45" name="Group 44"/>
          <p:cNvGrpSpPr/>
          <p:nvPr/>
        </p:nvGrpSpPr>
        <p:grpSpPr>
          <a:xfrm>
            <a:off x="6629400" y="1447800"/>
            <a:ext cx="381000" cy="381000"/>
            <a:chOff x="6248400" y="1371600"/>
            <a:chExt cx="381000" cy="381000"/>
          </a:xfrm>
        </p:grpSpPr>
        <p:sp>
          <p:nvSpPr>
            <p:cNvPr id="46" name="Oval 45"/>
            <p:cNvSpPr/>
            <p:nvPr/>
          </p:nvSpPr>
          <p:spPr bwMode="auto">
            <a:xfrm>
              <a:off x="6400800" y="1371600"/>
              <a:ext cx="76200" cy="76200"/>
            </a:xfrm>
            <a:prstGeom prst="ellips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24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</a:endParaRPr>
            </a:p>
          </p:txBody>
        </p:sp>
        <p:sp>
          <p:nvSpPr>
            <p:cNvPr id="47" name="Oval 46"/>
            <p:cNvSpPr/>
            <p:nvPr/>
          </p:nvSpPr>
          <p:spPr bwMode="auto">
            <a:xfrm>
              <a:off x="6248400" y="1524000"/>
              <a:ext cx="76200" cy="76200"/>
            </a:xfrm>
            <a:prstGeom prst="ellips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24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</a:endParaRPr>
            </a:p>
          </p:txBody>
        </p:sp>
        <p:sp>
          <p:nvSpPr>
            <p:cNvPr id="48" name="Oval 47"/>
            <p:cNvSpPr/>
            <p:nvPr/>
          </p:nvSpPr>
          <p:spPr bwMode="auto">
            <a:xfrm>
              <a:off x="6553200" y="1524000"/>
              <a:ext cx="76200" cy="76200"/>
            </a:xfrm>
            <a:prstGeom prst="ellips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24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</a:endParaRPr>
            </a:p>
          </p:txBody>
        </p:sp>
        <p:sp>
          <p:nvSpPr>
            <p:cNvPr id="49" name="Oval 48"/>
            <p:cNvSpPr/>
            <p:nvPr/>
          </p:nvSpPr>
          <p:spPr bwMode="auto">
            <a:xfrm>
              <a:off x="6324600" y="1676400"/>
              <a:ext cx="76200" cy="76200"/>
            </a:xfrm>
            <a:prstGeom prst="ellips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24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</a:endParaRPr>
            </a:p>
          </p:txBody>
        </p:sp>
      </p:grpSp>
      <p:grpSp>
        <p:nvGrpSpPr>
          <p:cNvPr id="50" name="Group 49"/>
          <p:cNvGrpSpPr/>
          <p:nvPr/>
        </p:nvGrpSpPr>
        <p:grpSpPr>
          <a:xfrm>
            <a:off x="7391400" y="1524000"/>
            <a:ext cx="381000" cy="457200"/>
            <a:chOff x="7391400" y="1524000"/>
            <a:chExt cx="381000" cy="457200"/>
          </a:xfrm>
        </p:grpSpPr>
        <p:sp>
          <p:nvSpPr>
            <p:cNvPr id="51" name="Rounded Rectangle 50"/>
            <p:cNvSpPr/>
            <p:nvPr/>
          </p:nvSpPr>
          <p:spPr bwMode="auto">
            <a:xfrm>
              <a:off x="7391400" y="1524000"/>
              <a:ext cx="76200" cy="76200"/>
            </a:xfrm>
            <a:prstGeom prst="roundRect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24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</a:endParaRPr>
            </a:p>
          </p:txBody>
        </p:sp>
        <p:sp>
          <p:nvSpPr>
            <p:cNvPr id="52" name="Rounded Rectangle 51"/>
            <p:cNvSpPr/>
            <p:nvPr/>
          </p:nvSpPr>
          <p:spPr bwMode="auto">
            <a:xfrm>
              <a:off x="7543800" y="1676400"/>
              <a:ext cx="76200" cy="76200"/>
            </a:xfrm>
            <a:prstGeom prst="roundRect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24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</a:endParaRPr>
            </a:p>
          </p:txBody>
        </p:sp>
        <p:sp>
          <p:nvSpPr>
            <p:cNvPr id="53" name="Rounded Rectangle 52"/>
            <p:cNvSpPr/>
            <p:nvPr/>
          </p:nvSpPr>
          <p:spPr bwMode="auto">
            <a:xfrm>
              <a:off x="7696200" y="1828800"/>
              <a:ext cx="76200" cy="76200"/>
            </a:xfrm>
            <a:prstGeom prst="roundRect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24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</a:endParaRPr>
            </a:p>
          </p:txBody>
        </p:sp>
        <p:grpSp>
          <p:nvGrpSpPr>
            <p:cNvPr id="54" name="Group 53"/>
            <p:cNvGrpSpPr/>
            <p:nvPr/>
          </p:nvGrpSpPr>
          <p:grpSpPr>
            <a:xfrm>
              <a:off x="7391400" y="1752600"/>
              <a:ext cx="228600" cy="228600"/>
              <a:chOff x="7696200" y="1828800"/>
              <a:chExt cx="228600" cy="228600"/>
            </a:xfrm>
          </p:grpSpPr>
          <p:sp>
            <p:nvSpPr>
              <p:cNvPr id="55" name="Rounded Rectangle 54"/>
              <p:cNvSpPr/>
              <p:nvPr/>
            </p:nvSpPr>
            <p:spPr bwMode="auto">
              <a:xfrm>
                <a:off x="7696200" y="1828800"/>
                <a:ext cx="76200" cy="76200"/>
              </a:xfrm>
              <a:prstGeom prst="roundRect">
                <a:avLst/>
              </a:prstGeom>
              <a:solidFill>
                <a:schemeClr val="accent1"/>
              </a:solidFill>
              <a:ln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vert="horz" wrap="square" lIns="91440" tIns="45720" rIns="91440" bIns="45720" numCol="1" rtlCol="0" anchor="t" anchorCtr="0" compatLnSpc="1">
                <a:prstTxWarp prst="textNoShape">
                  <a:avLst/>
                </a:prstTxWarp>
              </a:bodyPr>
              <a:lstStyle/>
              <a:p>
                <a:pPr marL="0" marR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endParaRPr kumimoji="0" lang="en-US" sz="2400" b="0" i="0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Times New Roman" pitchFamily="18" charset="0"/>
                </a:endParaRPr>
              </a:p>
            </p:txBody>
          </p:sp>
          <p:sp>
            <p:nvSpPr>
              <p:cNvPr id="56" name="Rounded Rectangle 55"/>
              <p:cNvSpPr/>
              <p:nvPr/>
            </p:nvSpPr>
            <p:spPr bwMode="auto">
              <a:xfrm>
                <a:off x="7848600" y="1981200"/>
                <a:ext cx="76200" cy="76200"/>
              </a:xfrm>
              <a:prstGeom prst="roundRect">
                <a:avLst/>
              </a:prstGeom>
              <a:solidFill>
                <a:schemeClr val="accent1"/>
              </a:solidFill>
              <a:ln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vert="horz" wrap="square" lIns="91440" tIns="45720" rIns="91440" bIns="45720" numCol="1" rtlCol="0" anchor="t" anchorCtr="0" compatLnSpc="1">
                <a:prstTxWarp prst="textNoShape">
                  <a:avLst/>
                </a:prstTxWarp>
              </a:bodyPr>
              <a:lstStyle/>
              <a:p>
                <a:pPr marL="0" marR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endParaRPr kumimoji="0" lang="en-US" sz="2400" b="0" i="0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Times New Roman" pitchFamily="18" charset="0"/>
                </a:endParaRPr>
              </a:p>
            </p:txBody>
          </p:sp>
        </p:grpSp>
      </p:grpSp>
      <p:grpSp>
        <p:nvGrpSpPr>
          <p:cNvPr id="57" name="Group 56"/>
          <p:cNvGrpSpPr/>
          <p:nvPr/>
        </p:nvGrpSpPr>
        <p:grpSpPr>
          <a:xfrm>
            <a:off x="7272051" y="1501966"/>
            <a:ext cx="381000" cy="457200"/>
            <a:chOff x="7391400" y="1524000"/>
            <a:chExt cx="381000" cy="457200"/>
          </a:xfrm>
        </p:grpSpPr>
        <p:sp>
          <p:nvSpPr>
            <p:cNvPr id="58" name="Rounded Rectangle 57"/>
            <p:cNvSpPr/>
            <p:nvPr/>
          </p:nvSpPr>
          <p:spPr bwMode="auto">
            <a:xfrm>
              <a:off x="7391400" y="1524000"/>
              <a:ext cx="76200" cy="76200"/>
            </a:xfrm>
            <a:prstGeom prst="roundRect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24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</a:endParaRPr>
            </a:p>
          </p:txBody>
        </p:sp>
        <p:sp>
          <p:nvSpPr>
            <p:cNvPr id="59" name="Rounded Rectangle 58"/>
            <p:cNvSpPr/>
            <p:nvPr/>
          </p:nvSpPr>
          <p:spPr bwMode="auto">
            <a:xfrm>
              <a:off x="7543800" y="1676400"/>
              <a:ext cx="76200" cy="76200"/>
            </a:xfrm>
            <a:prstGeom prst="roundRect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24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</a:endParaRPr>
            </a:p>
          </p:txBody>
        </p:sp>
        <p:sp>
          <p:nvSpPr>
            <p:cNvPr id="60" name="Rounded Rectangle 59"/>
            <p:cNvSpPr/>
            <p:nvPr/>
          </p:nvSpPr>
          <p:spPr bwMode="auto">
            <a:xfrm>
              <a:off x="7696200" y="1828800"/>
              <a:ext cx="76200" cy="76200"/>
            </a:xfrm>
            <a:prstGeom prst="roundRect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24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</a:endParaRPr>
            </a:p>
          </p:txBody>
        </p:sp>
        <p:grpSp>
          <p:nvGrpSpPr>
            <p:cNvPr id="61" name="Group 27"/>
            <p:cNvGrpSpPr/>
            <p:nvPr/>
          </p:nvGrpSpPr>
          <p:grpSpPr>
            <a:xfrm>
              <a:off x="7391400" y="1752600"/>
              <a:ext cx="228600" cy="228600"/>
              <a:chOff x="7696200" y="1828800"/>
              <a:chExt cx="228600" cy="228600"/>
            </a:xfrm>
          </p:grpSpPr>
          <p:sp>
            <p:nvSpPr>
              <p:cNvPr id="62" name="Rounded Rectangle 61"/>
              <p:cNvSpPr/>
              <p:nvPr/>
            </p:nvSpPr>
            <p:spPr bwMode="auto">
              <a:xfrm>
                <a:off x="7696200" y="1828800"/>
                <a:ext cx="76200" cy="76200"/>
              </a:xfrm>
              <a:prstGeom prst="roundRect">
                <a:avLst/>
              </a:prstGeom>
              <a:solidFill>
                <a:schemeClr val="accent1"/>
              </a:solidFill>
              <a:ln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vert="horz" wrap="square" lIns="91440" tIns="45720" rIns="91440" bIns="45720" numCol="1" rtlCol="0" anchor="t" anchorCtr="0" compatLnSpc="1">
                <a:prstTxWarp prst="textNoShape">
                  <a:avLst/>
                </a:prstTxWarp>
              </a:bodyPr>
              <a:lstStyle/>
              <a:p>
                <a:pPr marL="0" marR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endParaRPr kumimoji="0" lang="en-US" sz="2400" b="0" i="0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Times New Roman" pitchFamily="18" charset="0"/>
                </a:endParaRPr>
              </a:p>
            </p:txBody>
          </p:sp>
          <p:sp>
            <p:nvSpPr>
              <p:cNvPr id="63" name="Rounded Rectangle 62"/>
              <p:cNvSpPr/>
              <p:nvPr/>
            </p:nvSpPr>
            <p:spPr bwMode="auto">
              <a:xfrm>
                <a:off x="7848600" y="1981200"/>
                <a:ext cx="76200" cy="76200"/>
              </a:xfrm>
              <a:prstGeom prst="roundRect">
                <a:avLst/>
              </a:prstGeom>
              <a:solidFill>
                <a:schemeClr val="accent1"/>
              </a:solidFill>
              <a:ln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vert="horz" wrap="square" lIns="91440" tIns="45720" rIns="91440" bIns="45720" numCol="1" rtlCol="0" anchor="t" anchorCtr="0" compatLnSpc="1">
                <a:prstTxWarp prst="textNoShape">
                  <a:avLst/>
                </a:prstTxWarp>
              </a:bodyPr>
              <a:lstStyle/>
              <a:p>
                <a:pPr marL="0" marR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endParaRPr kumimoji="0" lang="en-US" sz="2400" b="0" i="0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Times New Roman" pitchFamily="18" charset="0"/>
                </a:endParaRPr>
              </a:p>
            </p:txBody>
          </p:sp>
        </p:grpSp>
      </p:grpSp>
      <p:cxnSp>
        <p:nvCxnSpPr>
          <p:cNvPr id="68" name="Straight Arrow Connector 67"/>
          <p:cNvCxnSpPr/>
          <p:nvPr/>
        </p:nvCxnSpPr>
        <p:spPr bwMode="auto">
          <a:xfrm flipV="1">
            <a:off x="5943600" y="3581400"/>
            <a:ext cx="0" cy="1066800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arrow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69" name="Straight Arrow Connector 68"/>
          <p:cNvCxnSpPr/>
          <p:nvPr/>
        </p:nvCxnSpPr>
        <p:spPr bwMode="auto">
          <a:xfrm>
            <a:off x="5638800" y="4419600"/>
            <a:ext cx="2362200" cy="0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arrow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grpSp>
        <p:nvGrpSpPr>
          <p:cNvPr id="70" name="Group 69"/>
          <p:cNvGrpSpPr/>
          <p:nvPr/>
        </p:nvGrpSpPr>
        <p:grpSpPr>
          <a:xfrm>
            <a:off x="6432932" y="3669536"/>
            <a:ext cx="381000" cy="381000"/>
            <a:chOff x="6248400" y="1371600"/>
            <a:chExt cx="381000" cy="381000"/>
          </a:xfrm>
        </p:grpSpPr>
        <p:sp>
          <p:nvSpPr>
            <p:cNvPr id="71" name="Oval 70"/>
            <p:cNvSpPr/>
            <p:nvPr/>
          </p:nvSpPr>
          <p:spPr bwMode="auto">
            <a:xfrm>
              <a:off x="6400800" y="1371600"/>
              <a:ext cx="76200" cy="76200"/>
            </a:xfrm>
            <a:prstGeom prst="ellips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24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</a:endParaRPr>
            </a:p>
          </p:txBody>
        </p:sp>
        <p:sp>
          <p:nvSpPr>
            <p:cNvPr id="72" name="Oval 71"/>
            <p:cNvSpPr/>
            <p:nvPr/>
          </p:nvSpPr>
          <p:spPr bwMode="auto">
            <a:xfrm>
              <a:off x="6248400" y="1524000"/>
              <a:ext cx="76200" cy="76200"/>
            </a:xfrm>
            <a:prstGeom prst="ellips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24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</a:endParaRPr>
            </a:p>
          </p:txBody>
        </p:sp>
        <p:sp>
          <p:nvSpPr>
            <p:cNvPr id="73" name="Oval 72"/>
            <p:cNvSpPr/>
            <p:nvPr/>
          </p:nvSpPr>
          <p:spPr bwMode="auto">
            <a:xfrm>
              <a:off x="6553200" y="1524000"/>
              <a:ext cx="76200" cy="76200"/>
            </a:xfrm>
            <a:prstGeom prst="ellips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24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</a:endParaRPr>
            </a:p>
          </p:txBody>
        </p:sp>
        <p:sp>
          <p:nvSpPr>
            <p:cNvPr id="74" name="Oval 73"/>
            <p:cNvSpPr/>
            <p:nvPr/>
          </p:nvSpPr>
          <p:spPr bwMode="auto">
            <a:xfrm>
              <a:off x="6324600" y="1676400"/>
              <a:ext cx="76200" cy="76200"/>
            </a:xfrm>
            <a:prstGeom prst="ellips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24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</a:endParaRPr>
            </a:p>
          </p:txBody>
        </p:sp>
      </p:grpSp>
      <p:grpSp>
        <p:nvGrpSpPr>
          <p:cNvPr id="75" name="Group 74"/>
          <p:cNvGrpSpPr/>
          <p:nvPr/>
        </p:nvGrpSpPr>
        <p:grpSpPr>
          <a:xfrm>
            <a:off x="6629400" y="3733800"/>
            <a:ext cx="381000" cy="381000"/>
            <a:chOff x="6248400" y="1371600"/>
            <a:chExt cx="381000" cy="381000"/>
          </a:xfrm>
        </p:grpSpPr>
        <p:sp>
          <p:nvSpPr>
            <p:cNvPr id="76" name="Oval 75"/>
            <p:cNvSpPr/>
            <p:nvPr/>
          </p:nvSpPr>
          <p:spPr bwMode="auto">
            <a:xfrm>
              <a:off x="6400800" y="1371600"/>
              <a:ext cx="76200" cy="76200"/>
            </a:xfrm>
            <a:prstGeom prst="ellips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24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</a:endParaRPr>
            </a:p>
          </p:txBody>
        </p:sp>
        <p:sp>
          <p:nvSpPr>
            <p:cNvPr id="77" name="Oval 76"/>
            <p:cNvSpPr/>
            <p:nvPr/>
          </p:nvSpPr>
          <p:spPr bwMode="auto">
            <a:xfrm>
              <a:off x="6248400" y="1524000"/>
              <a:ext cx="76200" cy="76200"/>
            </a:xfrm>
            <a:prstGeom prst="ellips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24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</a:endParaRPr>
            </a:p>
          </p:txBody>
        </p:sp>
        <p:sp>
          <p:nvSpPr>
            <p:cNvPr id="78" name="Oval 77"/>
            <p:cNvSpPr/>
            <p:nvPr/>
          </p:nvSpPr>
          <p:spPr bwMode="auto">
            <a:xfrm>
              <a:off x="6553200" y="1524000"/>
              <a:ext cx="76200" cy="76200"/>
            </a:xfrm>
            <a:prstGeom prst="ellips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24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</a:endParaRPr>
            </a:p>
          </p:txBody>
        </p:sp>
        <p:sp>
          <p:nvSpPr>
            <p:cNvPr id="79" name="Oval 78"/>
            <p:cNvSpPr/>
            <p:nvPr/>
          </p:nvSpPr>
          <p:spPr bwMode="auto">
            <a:xfrm>
              <a:off x="6324600" y="1676400"/>
              <a:ext cx="76200" cy="76200"/>
            </a:xfrm>
            <a:prstGeom prst="ellips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24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</a:endParaRPr>
            </a:p>
          </p:txBody>
        </p:sp>
      </p:grpSp>
      <p:grpSp>
        <p:nvGrpSpPr>
          <p:cNvPr id="80" name="Group 79"/>
          <p:cNvGrpSpPr/>
          <p:nvPr/>
        </p:nvGrpSpPr>
        <p:grpSpPr>
          <a:xfrm>
            <a:off x="7391400" y="3810000"/>
            <a:ext cx="381000" cy="457200"/>
            <a:chOff x="7391400" y="1524000"/>
            <a:chExt cx="381000" cy="457200"/>
          </a:xfrm>
        </p:grpSpPr>
        <p:sp>
          <p:nvSpPr>
            <p:cNvPr id="81" name="Rounded Rectangle 80"/>
            <p:cNvSpPr/>
            <p:nvPr/>
          </p:nvSpPr>
          <p:spPr bwMode="auto">
            <a:xfrm>
              <a:off x="7391400" y="1524000"/>
              <a:ext cx="76200" cy="76200"/>
            </a:xfrm>
            <a:prstGeom prst="roundRect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24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</a:endParaRPr>
            </a:p>
          </p:txBody>
        </p:sp>
        <p:sp>
          <p:nvSpPr>
            <p:cNvPr id="82" name="Rounded Rectangle 81"/>
            <p:cNvSpPr/>
            <p:nvPr/>
          </p:nvSpPr>
          <p:spPr bwMode="auto">
            <a:xfrm>
              <a:off x="7543800" y="1676400"/>
              <a:ext cx="76200" cy="76200"/>
            </a:xfrm>
            <a:prstGeom prst="roundRect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24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</a:endParaRPr>
            </a:p>
          </p:txBody>
        </p:sp>
        <p:sp>
          <p:nvSpPr>
            <p:cNvPr id="83" name="Rounded Rectangle 82"/>
            <p:cNvSpPr/>
            <p:nvPr/>
          </p:nvSpPr>
          <p:spPr bwMode="auto">
            <a:xfrm>
              <a:off x="7696200" y="1828800"/>
              <a:ext cx="76200" cy="76200"/>
            </a:xfrm>
            <a:prstGeom prst="roundRect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24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</a:endParaRPr>
            </a:p>
          </p:txBody>
        </p:sp>
        <p:grpSp>
          <p:nvGrpSpPr>
            <p:cNvPr id="84" name="Group 27"/>
            <p:cNvGrpSpPr/>
            <p:nvPr/>
          </p:nvGrpSpPr>
          <p:grpSpPr>
            <a:xfrm>
              <a:off x="7391400" y="1752600"/>
              <a:ext cx="228600" cy="228600"/>
              <a:chOff x="7696200" y="1828800"/>
              <a:chExt cx="228600" cy="228600"/>
            </a:xfrm>
          </p:grpSpPr>
          <p:sp>
            <p:nvSpPr>
              <p:cNvPr id="85" name="Rounded Rectangle 25"/>
              <p:cNvSpPr/>
              <p:nvPr/>
            </p:nvSpPr>
            <p:spPr bwMode="auto">
              <a:xfrm>
                <a:off x="7696200" y="1828800"/>
                <a:ext cx="76200" cy="76200"/>
              </a:xfrm>
              <a:prstGeom prst="roundRect">
                <a:avLst/>
              </a:prstGeom>
              <a:solidFill>
                <a:schemeClr val="accent1"/>
              </a:solidFill>
              <a:ln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vert="horz" wrap="square" lIns="91440" tIns="45720" rIns="91440" bIns="45720" numCol="1" rtlCol="0" anchor="t" anchorCtr="0" compatLnSpc="1">
                <a:prstTxWarp prst="textNoShape">
                  <a:avLst/>
                </a:prstTxWarp>
              </a:bodyPr>
              <a:lstStyle/>
              <a:p>
                <a:pPr marL="0" marR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endParaRPr kumimoji="0" lang="en-US" sz="2400" b="0" i="0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Times New Roman" pitchFamily="18" charset="0"/>
                </a:endParaRPr>
              </a:p>
            </p:txBody>
          </p:sp>
          <p:sp>
            <p:nvSpPr>
              <p:cNvPr id="86" name="Rounded Rectangle 85"/>
              <p:cNvSpPr/>
              <p:nvPr/>
            </p:nvSpPr>
            <p:spPr bwMode="auto">
              <a:xfrm>
                <a:off x="7848600" y="1981200"/>
                <a:ext cx="76200" cy="76200"/>
              </a:xfrm>
              <a:prstGeom prst="roundRect">
                <a:avLst/>
              </a:prstGeom>
              <a:solidFill>
                <a:schemeClr val="accent1"/>
              </a:solidFill>
              <a:ln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vert="horz" wrap="square" lIns="91440" tIns="45720" rIns="91440" bIns="45720" numCol="1" rtlCol="0" anchor="t" anchorCtr="0" compatLnSpc="1">
                <a:prstTxWarp prst="textNoShape">
                  <a:avLst/>
                </a:prstTxWarp>
              </a:bodyPr>
              <a:lstStyle/>
              <a:p>
                <a:pPr marL="0" marR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endParaRPr kumimoji="0" lang="en-US" sz="2400" b="0" i="0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Times New Roman" pitchFamily="18" charset="0"/>
                </a:endParaRPr>
              </a:p>
            </p:txBody>
          </p:sp>
        </p:grpSp>
      </p:grpSp>
      <p:grpSp>
        <p:nvGrpSpPr>
          <p:cNvPr id="87" name="Group 86"/>
          <p:cNvGrpSpPr/>
          <p:nvPr/>
        </p:nvGrpSpPr>
        <p:grpSpPr>
          <a:xfrm>
            <a:off x="7272051" y="3787966"/>
            <a:ext cx="381000" cy="457200"/>
            <a:chOff x="7391400" y="1524000"/>
            <a:chExt cx="381000" cy="457200"/>
          </a:xfrm>
        </p:grpSpPr>
        <p:sp>
          <p:nvSpPr>
            <p:cNvPr id="88" name="Rounded Rectangle 87"/>
            <p:cNvSpPr/>
            <p:nvPr/>
          </p:nvSpPr>
          <p:spPr bwMode="auto">
            <a:xfrm>
              <a:off x="7391400" y="1524000"/>
              <a:ext cx="76200" cy="76200"/>
            </a:xfrm>
            <a:prstGeom prst="roundRect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24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</a:endParaRPr>
            </a:p>
          </p:txBody>
        </p:sp>
        <p:sp>
          <p:nvSpPr>
            <p:cNvPr id="89" name="Rounded Rectangle 88"/>
            <p:cNvSpPr/>
            <p:nvPr/>
          </p:nvSpPr>
          <p:spPr bwMode="auto">
            <a:xfrm>
              <a:off x="7543800" y="1676400"/>
              <a:ext cx="76200" cy="76200"/>
            </a:xfrm>
            <a:prstGeom prst="roundRect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24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</a:endParaRPr>
            </a:p>
          </p:txBody>
        </p:sp>
        <p:sp>
          <p:nvSpPr>
            <p:cNvPr id="90" name="Rounded Rectangle 89"/>
            <p:cNvSpPr/>
            <p:nvPr/>
          </p:nvSpPr>
          <p:spPr bwMode="auto">
            <a:xfrm>
              <a:off x="7696200" y="1828800"/>
              <a:ext cx="76200" cy="76200"/>
            </a:xfrm>
            <a:prstGeom prst="roundRect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24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</a:endParaRPr>
            </a:p>
          </p:txBody>
        </p:sp>
        <p:grpSp>
          <p:nvGrpSpPr>
            <p:cNvPr id="91" name="Group 90"/>
            <p:cNvGrpSpPr/>
            <p:nvPr/>
          </p:nvGrpSpPr>
          <p:grpSpPr>
            <a:xfrm>
              <a:off x="7391400" y="1752600"/>
              <a:ext cx="228600" cy="228600"/>
              <a:chOff x="7696200" y="1828800"/>
              <a:chExt cx="228600" cy="228600"/>
            </a:xfrm>
          </p:grpSpPr>
          <p:sp>
            <p:nvSpPr>
              <p:cNvPr id="92" name="Rounded Rectangle 91"/>
              <p:cNvSpPr/>
              <p:nvPr/>
            </p:nvSpPr>
            <p:spPr bwMode="auto">
              <a:xfrm>
                <a:off x="7696200" y="1828800"/>
                <a:ext cx="76200" cy="76200"/>
              </a:xfrm>
              <a:prstGeom prst="roundRect">
                <a:avLst/>
              </a:prstGeom>
              <a:solidFill>
                <a:schemeClr val="accent1"/>
              </a:solidFill>
              <a:ln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vert="horz" wrap="square" lIns="91440" tIns="45720" rIns="91440" bIns="45720" numCol="1" rtlCol="0" anchor="t" anchorCtr="0" compatLnSpc="1">
                <a:prstTxWarp prst="textNoShape">
                  <a:avLst/>
                </a:prstTxWarp>
              </a:bodyPr>
              <a:lstStyle/>
              <a:p>
                <a:pPr marL="0" marR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endParaRPr kumimoji="0" lang="en-US" sz="2400" b="0" i="0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Times New Roman" pitchFamily="18" charset="0"/>
                </a:endParaRPr>
              </a:p>
            </p:txBody>
          </p:sp>
          <p:sp>
            <p:nvSpPr>
              <p:cNvPr id="93" name="Rounded Rectangle 92"/>
              <p:cNvSpPr/>
              <p:nvPr/>
            </p:nvSpPr>
            <p:spPr bwMode="auto">
              <a:xfrm>
                <a:off x="7848600" y="1981200"/>
                <a:ext cx="76200" cy="76200"/>
              </a:xfrm>
              <a:prstGeom prst="roundRect">
                <a:avLst/>
              </a:prstGeom>
              <a:solidFill>
                <a:schemeClr val="accent1"/>
              </a:solidFill>
              <a:ln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vert="horz" wrap="square" lIns="91440" tIns="45720" rIns="91440" bIns="45720" numCol="1" rtlCol="0" anchor="t" anchorCtr="0" compatLnSpc="1">
                <a:prstTxWarp prst="textNoShape">
                  <a:avLst/>
                </a:prstTxWarp>
              </a:bodyPr>
              <a:lstStyle/>
              <a:p>
                <a:pPr marL="0" marR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endParaRPr kumimoji="0" lang="en-US" sz="2400" b="0" i="0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Times New Roman" pitchFamily="18" charset="0"/>
                </a:endParaRPr>
              </a:p>
            </p:txBody>
          </p:sp>
        </p:grpSp>
      </p:grpSp>
      <p:sp>
        <p:nvSpPr>
          <p:cNvPr id="94" name="Isosceles Triangle 93"/>
          <p:cNvSpPr/>
          <p:nvPr/>
        </p:nvSpPr>
        <p:spPr bwMode="auto">
          <a:xfrm>
            <a:off x="7118732" y="4191000"/>
            <a:ext cx="76200" cy="76200"/>
          </a:xfrm>
          <a:prstGeom prst="triangle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</a:endParaRPr>
          </a:p>
        </p:txBody>
      </p:sp>
      <p:cxnSp>
        <p:nvCxnSpPr>
          <p:cNvPr id="96" name="Straight Connector 95"/>
          <p:cNvCxnSpPr>
            <a:stCxn id="94" idx="3"/>
            <a:endCxn id="93" idx="1"/>
          </p:cNvCxnSpPr>
          <p:nvPr/>
        </p:nvCxnSpPr>
        <p:spPr bwMode="auto">
          <a:xfrm flipV="1">
            <a:off x="7156832" y="4207066"/>
            <a:ext cx="267619" cy="60134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98" name="Straight Connector 97"/>
          <p:cNvCxnSpPr>
            <a:stCxn id="94" idx="3"/>
            <a:endCxn id="85" idx="1"/>
          </p:cNvCxnSpPr>
          <p:nvPr/>
        </p:nvCxnSpPr>
        <p:spPr bwMode="auto">
          <a:xfrm flipV="1">
            <a:off x="7156832" y="4076700"/>
            <a:ext cx="234568" cy="190500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02" name="Straight Connector 101"/>
          <p:cNvCxnSpPr>
            <a:stCxn id="94" idx="1"/>
            <a:endCxn id="92" idx="0"/>
          </p:cNvCxnSpPr>
          <p:nvPr/>
        </p:nvCxnSpPr>
        <p:spPr bwMode="auto">
          <a:xfrm flipV="1">
            <a:off x="7137782" y="4016566"/>
            <a:ext cx="172369" cy="212534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04" name="Straight Connector 103"/>
          <p:cNvCxnSpPr>
            <a:stCxn id="94" idx="3"/>
            <a:endCxn id="78" idx="5"/>
          </p:cNvCxnSpPr>
          <p:nvPr/>
        </p:nvCxnSpPr>
        <p:spPr bwMode="auto">
          <a:xfrm flipH="1" flipV="1">
            <a:off x="6999241" y="3951241"/>
            <a:ext cx="157591" cy="315959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06" name="Straight Connector 105"/>
          <p:cNvCxnSpPr>
            <a:stCxn id="94" idx="3"/>
            <a:endCxn id="79" idx="5"/>
          </p:cNvCxnSpPr>
          <p:nvPr/>
        </p:nvCxnSpPr>
        <p:spPr bwMode="auto">
          <a:xfrm flipH="1" flipV="1">
            <a:off x="6770641" y="4103641"/>
            <a:ext cx="386191" cy="163559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08" name="Straight Connector 107"/>
          <p:cNvCxnSpPr>
            <a:stCxn id="94" idx="3"/>
            <a:endCxn id="73" idx="5"/>
          </p:cNvCxnSpPr>
          <p:nvPr/>
        </p:nvCxnSpPr>
        <p:spPr bwMode="auto">
          <a:xfrm flipH="1" flipV="1">
            <a:off x="6802773" y="3886977"/>
            <a:ext cx="354059" cy="380223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10" name="Straight Arrow Connector 109"/>
          <p:cNvCxnSpPr/>
          <p:nvPr/>
        </p:nvCxnSpPr>
        <p:spPr bwMode="auto">
          <a:xfrm flipV="1">
            <a:off x="5943600" y="4724400"/>
            <a:ext cx="0" cy="1066800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arrow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11" name="Straight Arrow Connector 110"/>
          <p:cNvCxnSpPr/>
          <p:nvPr/>
        </p:nvCxnSpPr>
        <p:spPr bwMode="auto">
          <a:xfrm>
            <a:off x="5638800" y="5562600"/>
            <a:ext cx="2362200" cy="0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arrow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grpSp>
        <p:nvGrpSpPr>
          <p:cNvPr id="112" name="Group 111"/>
          <p:cNvGrpSpPr/>
          <p:nvPr/>
        </p:nvGrpSpPr>
        <p:grpSpPr>
          <a:xfrm>
            <a:off x="6432932" y="4812536"/>
            <a:ext cx="381000" cy="381000"/>
            <a:chOff x="6248400" y="1371600"/>
            <a:chExt cx="381000" cy="381000"/>
          </a:xfrm>
        </p:grpSpPr>
        <p:sp>
          <p:nvSpPr>
            <p:cNvPr id="113" name="Oval 112"/>
            <p:cNvSpPr/>
            <p:nvPr/>
          </p:nvSpPr>
          <p:spPr bwMode="auto">
            <a:xfrm>
              <a:off x="6400800" y="1371600"/>
              <a:ext cx="76200" cy="76200"/>
            </a:xfrm>
            <a:prstGeom prst="ellips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24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</a:endParaRPr>
            </a:p>
          </p:txBody>
        </p:sp>
        <p:sp>
          <p:nvSpPr>
            <p:cNvPr id="114" name="Oval 113"/>
            <p:cNvSpPr/>
            <p:nvPr/>
          </p:nvSpPr>
          <p:spPr bwMode="auto">
            <a:xfrm>
              <a:off x="6248400" y="1524000"/>
              <a:ext cx="76200" cy="76200"/>
            </a:xfrm>
            <a:prstGeom prst="ellips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24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</a:endParaRPr>
            </a:p>
          </p:txBody>
        </p:sp>
        <p:sp>
          <p:nvSpPr>
            <p:cNvPr id="115" name="Oval 114"/>
            <p:cNvSpPr/>
            <p:nvPr/>
          </p:nvSpPr>
          <p:spPr bwMode="auto">
            <a:xfrm>
              <a:off x="6553200" y="1524000"/>
              <a:ext cx="76200" cy="76200"/>
            </a:xfrm>
            <a:prstGeom prst="ellips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24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</a:endParaRPr>
            </a:p>
          </p:txBody>
        </p:sp>
        <p:sp>
          <p:nvSpPr>
            <p:cNvPr id="116" name="Oval 115"/>
            <p:cNvSpPr/>
            <p:nvPr/>
          </p:nvSpPr>
          <p:spPr bwMode="auto">
            <a:xfrm>
              <a:off x="6324600" y="1676400"/>
              <a:ext cx="76200" cy="76200"/>
            </a:xfrm>
            <a:prstGeom prst="ellips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24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</a:endParaRPr>
            </a:p>
          </p:txBody>
        </p:sp>
      </p:grpSp>
      <p:grpSp>
        <p:nvGrpSpPr>
          <p:cNvPr id="117" name="Group 116"/>
          <p:cNvGrpSpPr/>
          <p:nvPr/>
        </p:nvGrpSpPr>
        <p:grpSpPr>
          <a:xfrm>
            <a:off x="6629400" y="4876800"/>
            <a:ext cx="381000" cy="381000"/>
            <a:chOff x="6248400" y="1371600"/>
            <a:chExt cx="381000" cy="381000"/>
          </a:xfrm>
        </p:grpSpPr>
        <p:sp>
          <p:nvSpPr>
            <p:cNvPr id="118" name="Oval 117"/>
            <p:cNvSpPr/>
            <p:nvPr/>
          </p:nvSpPr>
          <p:spPr bwMode="auto">
            <a:xfrm>
              <a:off x="6400800" y="1371600"/>
              <a:ext cx="76200" cy="76200"/>
            </a:xfrm>
            <a:prstGeom prst="ellips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24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</a:endParaRPr>
            </a:p>
          </p:txBody>
        </p:sp>
        <p:sp>
          <p:nvSpPr>
            <p:cNvPr id="119" name="Oval 118"/>
            <p:cNvSpPr/>
            <p:nvPr/>
          </p:nvSpPr>
          <p:spPr bwMode="auto">
            <a:xfrm>
              <a:off x="6248400" y="1524000"/>
              <a:ext cx="76200" cy="76200"/>
            </a:xfrm>
            <a:prstGeom prst="ellips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24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</a:endParaRPr>
            </a:p>
          </p:txBody>
        </p:sp>
        <p:sp>
          <p:nvSpPr>
            <p:cNvPr id="120" name="Oval 119"/>
            <p:cNvSpPr/>
            <p:nvPr/>
          </p:nvSpPr>
          <p:spPr bwMode="auto">
            <a:xfrm>
              <a:off x="6553200" y="1524000"/>
              <a:ext cx="76200" cy="76200"/>
            </a:xfrm>
            <a:prstGeom prst="ellips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24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</a:endParaRPr>
            </a:p>
          </p:txBody>
        </p:sp>
        <p:sp>
          <p:nvSpPr>
            <p:cNvPr id="121" name="Oval 120"/>
            <p:cNvSpPr/>
            <p:nvPr/>
          </p:nvSpPr>
          <p:spPr bwMode="auto">
            <a:xfrm>
              <a:off x="6324600" y="1676400"/>
              <a:ext cx="76200" cy="76200"/>
            </a:xfrm>
            <a:prstGeom prst="ellips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24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</a:endParaRPr>
            </a:p>
          </p:txBody>
        </p:sp>
      </p:grpSp>
      <p:grpSp>
        <p:nvGrpSpPr>
          <p:cNvPr id="122" name="Group 121"/>
          <p:cNvGrpSpPr/>
          <p:nvPr/>
        </p:nvGrpSpPr>
        <p:grpSpPr>
          <a:xfrm>
            <a:off x="7391400" y="4953000"/>
            <a:ext cx="381000" cy="457200"/>
            <a:chOff x="7391400" y="1524000"/>
            <a:chExt cx="381000" cy="457200"/>
          </a:xfrm>
        </p:grpSpPr>
        <p:sp>
          <p:nvSpPr>
            <p:cNvPr id="123" name="Rounded Rectangle 122"/>
            <p:cNvSpPr/>
            <p:nvPr/>
          </p:nvSpPr>
          <p:spPr bwMode="auto">
            <a:xfrm>
              <a:off x="7391400" y="1524000"/>
              <a:ext cx="76200" cy="76200"/>
            </a:xfrm>
            <a:prstGeom prst="roundRect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24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</a:endParaRPr>
            </a:p>
          </p:txBody>
        </p:sp>
        <p:sp>
          <p:nvSpPr>
            <p:cNvPr id="124" name="Rounded Rectangle 123"/>
            <p:cNvSpPr/>
            <p:nvPr/>
          </p:nvSpPr>
          <p:spPr bwMode="auto">
            <a:xfrm>
              <a:off x="7543800" y="1676400"/>
              <a:ext cx="76200" cy="76200"/>
            </a:xfrm>
            <a:prstGeom prst="roundRect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24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</a:endParaRPr>
            </a:p>
          </p:txBody>
        </p:sp>
        <p:sp>
          <p:nvSpPr>
            <p:cNvPr id="125" name="Rounded Rectangle 124"/>
            <p:cNvSpPr/>
            <p:nvPr/>
          </p:nvSpPr>
          <p:spPr bwMode="auto">
            <a:xfrm>
              <a:off x="7696200" y="1828800"/>
              <a:ext cx="76200" cy="76200"/>
            </a:xfrm>
            <a:prstGeom prst="roundRect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24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</a:endParaRPr>
            </a:p>
          </p:txBody>
        </p:sp>
        <p:grpSp>
          <p:nvGrpSpPr>
            <p:cNvPr id="126" name="Group 27"/>
            <p:cNvGrpSpPr/>
            <p:nvPr/>
          </p:nvGrpSpPr>
          <p:grpSpPr>
            <a:xfrm>
              <a:off x="7391400" y="1752600"/>
              <a:ext cx="228600" cy="228600"/>
              <a:chOff x="7696200" y="1828800"/>
              <a:chExt cx="228600" cy="228600"/>
            </a:xfrm>
          </p:grpSpPr>
          <p:sp>
            <p:nvSpPr>
              <p:cNvPr id="127" name="Rounded Rectangle 25"/>
              <p:cNvSpPr/>
              <p:nvPr/>
            </p:nvSpPr>
            <p:spPr bwMode="auto">
              <a:xfrm>
                <a:off x="7696200" y="1828800"/>
                <a:ext cx="76200" cy="76200"/>
              </a:xfrm>
              <a:prstGeom prst="roundRect">
                <a:avLst/>
              </a:prstGeom>
              <a:solidFill>
                <a:schemeClr val="accent1"/>
              </a:solidFill>
              <a:ln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vert="horz" wrap="square" lIns="91440" tIns="45720" rIns="91440" bIns="45720" numCol="1" rtlCol="0" anchor="t" anchorCtr="0" compatLnSpc="1">
                <a:prstTxWarp prst="textNoShape">
                  <a:avLst/>
                </a:prstTxWarp>
              </a:bodyPr>
              <a:lstStyle/>
              <a:p>
                <a:pPr marL="0" marR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endParaRPr kumimoji="0" lang="en-US" sz="2400" b="0" i="0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Times New Roman" pitchFamily="18" charset="0"/>
                </a:endParaRPr>
              </a:p>
            </p:txBody>
          </p:sp>
          <p:sp>
            <p:nvSpPr>
              <p:cNvPr id="128" name="Rounded Rectangle 127"/>
              <p:cNvSpPr/>
              <p:nvPr/>
            </p:nvSpPr>
            <p:spPr bwMode="auto">
              <a:xfrm>
                <a:off x="7848600" y="1981200"/>
                <a:ext cx="76200" cy="76200"/>
              </a:xfrm>
              <a:prstGeom prst="roundRect">
                <a:avLst/>
              </a:prstGeom>
              <a:solidFill>
                <a:schemeClr val="accent1"/>
              </a:solidFill>
              <a:ln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vert="horz" wrap="square" lIns="91440" tIns="45720" rIns="91440" bIns="45720" numCol="1" rtlCol="0" anchor="t" anchorCtr="0" compatLnSpc="1">
                <a:prstTxWarp prst="textNoShape">
                  <a:avLst/>
                </a:prstTxWarp>
              </a:bodyPr>
              <a:lstStyle/>
              <a:p>
                <a:pPr marL="0" marR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endParaRPr kumimoji="0" lang="en-US" sz="2400" b="0" i="0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Times New Roman" pitchFamily="18" charset="0"/>
                </a:endParaRPr>
              </a:p>
            </p:txBody>
          </p:sp>
        </p:grpSp>
      </p:grpSp>
      <p:grpSp>
        <p:nvGrpSpPr>
          <p:cNvPr id="129" name="Group 128"/>
          <p:cNvGrpSpPr/>
          <p:nvPr/>
        </p:nvGrpSpPr>
        <p:grpSpPr>
          <a:xfrm>
            <a:off x="7272051" y="4930966"/>
            <a:ext cx="381000" cy="457200"/>
            <a:chOff x="7391400" y="1524000"/>
            <a:chExt cx="381000" cy="457200"/>
          </a:xfrm>
        </p:grpSpPr>
        <p:sp>
          <p:nvSpPr>
            <p:cNvPr id="130" name="Rounded Rectangle 129"/>
            <p:cNvSpPr/>
            <p:nvPr/>
          </p:nvSpPr>
          <p:spPr bwMode="auto">
            <a:xfrm>
              <a:off x="7391400" y="1524000"/>
              <a:ext cx="76200" cy="76200"/>
            </a:xfrm>
            <a:prstGeom prst="roundRect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24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</a:endParaRPr>
            </a:p>
          </p:txBody>
        </p:sp>
        <p:sp>
          <p:nvSpPr>
            <p:cNvPr id="131" name="Rounded Rectangle 130"/>
            <p:cNvSpPr/>
            <p:nvPr/>
          </p:nvSpPr>
          <p:spPr bwMode="auto">
            <a:xfrm>
              <a:off x="7543800" y="1676400"/>
              <a:ext cx="76200" cy="76200"/>
            </a:xfrm>
            <a:prstGeom prst="roundRect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24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</a:endParaRPr>
            </a:p>
          </p:txBody>
        </p:sp>
        <p:sp>
          <p:nvSpPr>
            <p:cNvPr id="132" name="Rounded Rectangle 131"/>
            <p:cNvSpPr/>
            <p:nvPr/>
          </p:nvSpPr>
          <p:spPr bwMode="auto">
            <a:xfrm>
              <a:off x="7696200" y="1828800"/>
              <a:ext cx="76200" cy="76200"/>
            </a:xfrm>
            <a:prstGeom prst="roundRect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24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</a:endParaRPr>
            </a:p>
          </p:txBody>
        </p:sp>
        <p:grpSp>
          <p:nvGrpSpPr>
            <p:cNvPr id="133" name="Group 132"/>
            <p:cNvGrpSpPr/>
            <p:nvPr/>
          </p:nvGrpSpPr>
          <p:grpSpPr>
            <a:xfrm>
              <a:off x="7391400" y="1752600"/>
              <a:ext cx="228600" cy="228600"/>
              <a:chOff x="7696200" y="1828800"/>
              <a:chExt cx="228600" cy="228600"/>
            </a:xfrm>
          </p:grpSpPr>
          <p:sp>
            <p:nvSpPr>
              <p:cNvPr id="134" name="Rounded Rectangle 133"/>
              <p:cNvSpPr/>
              <p:nvPr/>
            </p:nvSpPr>
            <p:spPr bwMode="auto">
              <a:xfrm>
                <a:off x="7696200" y="1828800"/>
                <a:ext cx="76200" cy="76200"/>
              </a:xfrm>
              <a:prstGeom prst="roundRect">
                <a:avLst/>
              </a:prstGeom>
              <a:solidFill>
                <a:schemeClr val="accent1"/>
              </a:solidFill>
              <a:ln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vert="horz" wrap="square" lIns="91440" tIns="45720" rIns="91440" bIns="45720" numCol="1" rtlCol="0" anchor="t" anchorCtr="0" compatLnSpc="1">
                <a:prstTxWarp prst="textNoShape">
                  <a:avLst/>
                </a:prstTxWarp>
              </a:bodyPr>
              <a:lstStyle/>
              <a:p>
                <a:pPr marL="0" marR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endParaRPr kumimoji="0" lang="en-US" sz="2400" b="0" i="0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Times New Roman" pitchFamily="18" charset="0"/>
                </a:endParaRPr>
              </a:p>
            </p:txBody>
          </p:sp>
          <p:sp>
            <p:nvSpPr>
              <p:cNvPr id="135" name="Rounded Rectangle 134"/>
              <p:cNvSpPr/>
              <p:nvPr/>
            </p:nvSpPr>
            <p:spPr bwMode="auto">
              <a:xfrm>
                <a:off x="7848600" y="1981200"/>
                <a:ext cx="76200" cy="76200"/>
              </a:xfrm>
              <a:prstGeom prst="roundRect">
                <a:avLst/>
              </a:prstGeom>
              <a:solidFill>
                <a:schemeClr val="accent1"/>
              </a:solidFill>
              <a:ln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vert="horz" wrap="square" lIns="91440" tIns="45720" rIns="91440" bIns="45720" numCol="1" rtlCol="0" anchor="t" anchorCtr="0" compatLnSpc="1">
                <a:prstTxWarp prst="textNoShape">
                  <a:avLst/>
                </a:prstTxWarp>
              </a:bodyPr>
              <a:lstStyle/>
              <a:p>
                <a:pPr marL="0" marR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endParaRPr kumimoji="0" lang="en-US" sz="2400" b="0" i="0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Times New Roman" pitchFamily="18" charset="0"/>
                </a:endParaRPr>
              </a:p>
            </p:txBody>
          </p:sp>
        </p:grpSp>
      </p:grpSp>
      <p:sp>
        <p:nvSpPr>
          <p:cNvPr id="136" name="Isosceles Triangle 135"/>
          <p:cNvSpPr/>
          <p:nvPr/>
        </p:nvSpPr>
        <p:spPr bwMode="auto">
          <a:xfrm>
            <a:off x="7118732" y="5334000"/>
            <a:ext cx="76200" cy="76200"/>
          </a:xfrm>
          <a:prstGeom prst="triangle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</a:endParaRPr>
          </a:p>
        </p:txBody>
      </p:sp>
      <p:sp>
        <p:nvSpPr>
          <p:cNvPr id="138" name="Freeform 137"/>
          <p:cNvSpPr/>
          <p:nvPr/>
        </p:nvSpPr>
        <p:spPr bwMode="auto">
          <a:xfrm>
            <a:off x="6953057" y="4836405"/>
            <a:ext cx="924003" cy="804872"/>
          </a:xfrm>
          <a:custGeom>
            <a:avLst/>
            <a:gdLst>
              <a:gd name="connsiteX0" fmla="*/ 758750 w 924003"/>
              <a:gd name="connsiteY0" fmla="*/ 749147 h 804872"/>
              <a:gd name="connsiteX1" fmla="*/ 758750 w 924003"/>
              <a:gd name="connsiteY1" fmla="*/ 749147 h 804872"/>
              <a:gd name="connsiteX2" fmla="*/ 813834 w 924003"/>
              <a:gd name="connsiteY2" fmla="*/ 649995 h 804872"/>
              <a:gd name="connsiteX3" fmla="*/ 846885 w 924003"/>
              <a:gd name="connsiteY3" fmla="*/ 627961 h 804872"/>
              <a:gd name="connsiteX4" fmla="*/ 890952 w 924003"/>
              <a:gd name="connsiteY4" fmla="*/ 561860 h 804872"/>
              <a:gd name="connsiteX5" fmla="*/ 901969 w 924003"/>
              <a:gd name="connsiteY5" fmla="*/ 517792 h 804872"/>
              <a:gd name="connsiteX6" fmla="*/ 912986 w 924003"/>
              <a:gd name="connsiteY6" fmla="*/ 462708 h 804872"/>
              <a:gd name="connsiteX7" fmla="*/ 924003 w 924003"/>
              <a:gd name="connsiteY7" fmla="*/ 429658 h 804872"/>
              <a:gd name="connsiteX8" fmla="*/ 901969 w 924003"/>
              <a:gd name="connsiteY8" fmla="*/ 319489 h 804872"/>
              <a:gd name="connsiteX9" fmla="*/ 879935 w 924003"/>
              <a:gd name="connsiteY9" fmla="*/ 286438 h 804872"/>
              <a:gd name="connsiteX10" fmla="*/ 813834 w 924003"/>
              <a:gd name="connsiteY10" fmla="*/ 220337 h 804872"/>
              <a:gd name="connsiteX11" fmla="*/ 758750 w 924003"/>
              <a:gd name="connsiteY11" fmla="*/ 143219 h 804872"/>
              <a:gd name="connsiteX12" fmla="*/ 725699 w 924003"/>
              <a:gd name="connsiteY12" fmla="*/ 110168 h 804872"/>
              <a:gd name="connsiteX13" fmla="*/ 692648 w 924003"/>
              <a:gd name="connsiteY13" fmla="*/ 99151 h 804872"/>
              <a:gd name="connsiteX14" fmla="*/ 659598 w 924003"/>
              <a:gd name="connsiteY14" fmla="*/ 77118 h 804872"/>
              <a:gd name="connsiteX15" fmla="*/ 593497 w 924003"/>
              <a:gd name="connsiteY15" fmla="*/ 55084 h 804872"/>
              <a:gd name="connsiteX16" fmla="*/ 494345 w 924003"/>
              <a:gd name="connsiteY16" fmla="*/ 0 h 804872"/>
              <a:gd name="connsiteX17" fmla="*/ 406210 w 924003"/>
              <a:gd name="connsiteY17" fmla="*/ 11017 h 804872"/>
              <a:gd name="connsiteX18" fmla="*/ 329092 w 924003"/>
              <a:gd name="connsiteY18" fmla="*/ 22033 h 804872"/>
              <a:gd name="connsiteX19" fmla="*/ 262991 w 924003"/>
              <a:gd name="connsiteY19" fmla="*/ 121185 h 804872"/>
              <a:gd name="connsiteX20" fmla="*/ 240957 w 924003"/>
              <a:gd name="connsiteY20" fmla="*/ 154236 h 804872"/>
              <a:gd name="connsiteX21" fmla="*/ 218923 w 924003"/>
              <a:gd name="connsiteY21" fmla="*/ 198303 h 804872"/>
              <a:gd name="connsiteX22" fmla="*/ 185872 w 924003"/>
              <a:gd name="connsiteY22" fmla="*/ 242371 h 804872"/>
              <a:gd name="connsiteX23" fmla="*/ 163839 w 924003"/>
              <a:gd name="connsiteY23" fmla="*/ 297455 h 804872"/>
              <a:gd name="connsiteX24" fmla="*/ 141805 w 924003"/>
              <a:gd name="connsiteY24" fmla="*/ 330506 h 804872"/>
              <a:gd name="connsiteX25" fmla="*/ 97738 w 924003"/>
              <a:gd name="connsiteY25" fmla="*/ 429658 h 804872"/>
              <a:gd name="connsiteX26" fmla="*/ 64687 w 924003"/>
              <a:gd name="connsiteY26" fmla="*/ 462708 h 804872"/>
              <a:gd name="connsiteX27" fmla="*/ 20619 w 924003"/>
              <a:gd name="connsiteY27" fmla="*/ 528809 h 804872"/>
              <a:gd name="connsiteX28" fmla="*/ 20619 w 924003"/>
              <a:gd name="connsiteY28" fmla="*/ 672029 h 804872"/>
              <a:gd name="connsiteX29" fmla="*/ 42653 w 924003"/>
              <a:gd name="connsiteY29" fmla="*/ 705079 h 804872"/>
              <a:gd name="connsiteX30" fmla="*/ 108754 w 924003"/>
              <a:gd name="connsiteY30" fmla="*/ 727113 h 804872"/>
              <a:gd name="connsiteX31" fmla="*/ 141805 w 924003"/>
              <a:gd name="connsiteY31" fmla="*/ 749147 h 804872"/>
              <a:gd name="connsiteX32" fmla="*/ 251974 w 924003"/>
              <a:gd name="connsiteY32" fmla="*/ 771180 h 804872"/>
              <a:gd name="connsiteX33" fmla="*/ 516378 w 924003"/>
              <a:gd name="connsiteY33" fmla="*/ 793214 h 804872"/>
              <a:gd name="connsiteX34" fmla="*/ 615530 w 924003"/>
              <a:gd name="connsiteY34" fmla="*/ 782197 h 804872"/>
              <a:gd name="connsiteX35" fmla="*/ 703665 w 924003"/>
              <a:gd name="connsiteY35" fmla="*/ 760164 h 804872"/>
              <a:gd name="connsiteX36" fmla="*/ 736716 w 924003"/>
              <a:gd name="connsiteY36" fmla="*/ 738130 h 804872"/>
              <a:gd name="connsiteX37" fmla="*/ 758750 w 924003"/>
              <a:gd name="connsiteY37" fmla="*/ 749147 h 80487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</a:cxnLst>
            <a:rect l="l" t="t" r="r" b="b"/>
            <a:pathLst>
              <a:path w="924003" h="804872">
                <a:moveTo>
                  <a:pt x="758750" y="749147"/>
                </a:moveTo>
                <a:lnTo>
                  <a:pt x="758750" y="749147"/>
                </a:lnTo>
                <a:cubicBezTo>
                  <a:pt x="777111" y="716096"/>
                  <a:pt x="791596" y="680572"/>
                  <a:pt x="813834" y="649995"/>
                </a:cubicBezTo>
                <a:cubicBezTo>
                  <a:pt x="821622" y="639287"/>
                  <a:pt x="838166" y="637926"/>
                  <a:pt x="846885" y="627961"/>
                </a:cubicBezTo>
                <a:cubicBezTo>
                  <a:pt x="864323" y="608032"/>
                  <a:pt x="890952" y="561860"/>
                  <a:pt x="890952" y="561860"/>
                </a:cubicBezTo>
                <a:cubicBezTo>
                  <a:pt x="894624" y="547171"/>
                  <a:pt x="898684" y="532573"/>
                  <a:pt x="901969" y="517792"/>
                </a:cubicBezTo>
                <a:cubicBezTo>
                  <a:pt x="906031" y="499513"/>
                  <a:pt x="908444" y="480874"/>
                  <a:pt x="912986" y="462708"/>
                </a:cubicBezTo>
                <a:cubicBezTo>
                  <a:pt x="915803" y="451442"/>
                  <a:pt x="920331" y="440675"/>
                  <a:pt x="924003" y="429658"/>
                </a:cubicBezTo>
                <a:cubicBezTo>
                  <a:pt x="921518" y="414745"/>
                  <a:pt x="910934" y="340407"/>
                  <a:pt x="901969" y="319489"/>
                </a:cubicBezTo>
                <a:cubicBezTo>
                  <a:pt x="896753" y="307319"/>
                  <a:pt x="888732" y="296334"/>
                  <a:pt x="879935" y="286438"/>
                </a:cubicBezTo>
                <a:cubicBezTo>
                  <a:pt x="859233" y="263148"/>
                  <a:pt x="831119" y="246264"/>
                  <a:pt x="813834" y="220337"/>
                </a:cubicBezTo>
                <a:cubicBezTo>
                  <a:pt x="796397" y="194181"/>
                  <a:pt x="779246" y="167131"/>
                  <a:pt x="758750" y="143219"/>
                </a:cubicBezTo>
                <a:cubicBezTo>
                  <a:pt x="748610" y="131389"/>
                  <a:pt x="738663" y="118810"/>
                  <a:pt x="725699" y="110168"/>
                </a:cubicBezTo>
                <a:cubicBezTo>
                  <a:pt x="716036" y="103726"/>
                  <a:pt x="703035" y="104344"/>
                  <a:pt x="692648" y="99151"/>
                </a:cubicBezTo>
                <a:cubicBezTo>
                  <a:pt x="680805" y="93230"/>
                  <a:pt x="671697" y="82495"/>
                  <a:pt x="659598" y="77118"/>
                </a:cubicBezTo>
                <a:cubicBezTo>
                  <a:pt x="638374" y="67685"/>
                  <a:pt x="612822" y="67967"/>
                  <a:pt x="593497" y="55084"/>
                </a:cubicBezTo>
                <a:cubicBezTo>
                  <a:pt x="517733" y="4576"/>
                  <a:pt x="552517" y="19391"/>
                  <a:pt x="494345" y="0"/>
                </a:cubicBezTo>
                <a:lnTo>
                  <a:pt x="406210" y="11017"/>
                </a:lnTo>
                <a:cubicBezTo>
                  <a:pt x="380471" y="14449"/>
                  <a:pt x="349674" y="6201"/>
                  <a:pt x="329092" y="22033"/>
                </a:cubicBezTo>
                <a:cubicBezTo>
                  <a:pt x="297607" y="46252"/>
                  <a:pt x="285025" y="88134"/>
                  <a:pt x="262991" y="121185"/>
                </a:cubicBezTo>
                <a:cubicBezTo>
                  <a:pt x="255646" y="132202"/>
                  <a:pt x="246879" y="142393"/>
                  <a:pt x="240957" y="154236"/>
                </a:cubicBezTo>
                <a:cubicBezTo>
                  <a:pt x="233612" y="168925"/>
                  <a:pt x="227627" y="184376"/>
                  <a:pt x="218923" y="198303"/>
                </a:cubicBezTo>
                <a:cubicBezTo>
                  <a:pt x="209191" y="213874"/>
                  <a:pt x="194789" y="226320"/>
                  <a:pt x="185872" y="242371"/>
                </a:cubicBezTo>
                <a:cubicBezTo>
                  <a:pt x="176268" y="259658"/>
                  <a:pt x="172683" y="279767"/>
                  <a:pt x="163839" y="297455"/>
                </a:cubicBezTo>
                <a:cubicBezTo>
                  <a:pt x="157918" y="309298"/>
                  <a:pt x="147183" y="318406"/>
                  <a:pt x="141805" y="330506"/>
                </a:cubicBezTo>
                <a:cubicBezTo>
                  <a:pt x="114358" y="392262"/>
                  <a:pt x="133353" y="386920"/>
                  <a:pt x="97738" y="429658"/>
                </a:cubicBezTo>
                <a:cubicBezTo>
                  <a:pt x="87764" y="441627"/>
                  <a:pt x="74252" y="450410"/>
                  <a:pt x="64687" y="462708"/>
                </a:cubicBezTo>
                <a:cubicBezTo>
                  <a:pt x="48429" y="483611"/>
                  <a:pt x="20619" y="528809"/>
                  <a:pt x="20619" y="528809"/>
                </a:cubicBezTo>
                <a:cubicBezTo>
                  <a:pt x="5149" y="590693"/>
                  <a:pt x="0" y="589554"/>
                  <a:pt x="20619" y="672029"/>
                </a:cubicBezTo>
                <a:cubicBezTo>
                  <a:pt x="23830" y="684874"/>
                  <a:pt x="31425" y="698062"/>
                  <a:pt x="42653" y="705079"/>
                </a:cubicBezTo>
                <a:cubicBezTo>
                  <a:pt x="62348" y="717388"/>
                  <a:pt x="89429" y="714230"/>
                  <a:pt x="108754" y="727113"/>
                </a:cubicBezTo>
                <a:cubicBezTo>
                  <a:pt x="119771" y="734458"/>
                  <a:pt x="129635" y="743931"/>
                  <a:pt x="141805" y="749147"/>
                </a:cubicBezTo>
                <a:cubicBezTo>
                  <a:pt x="162725" y="758113"/>
                  <a:pt x="237057" y="768694"/>
                  <a:pt x="251974" y="771180"/>
                </a:cubicBezTo>
                <a:cubicBezTo>
                  <a:pt x="353047" y="804872"/>
                  <a:pt x="308132" y="793214"/>
                  <a:pt x="516378" y="793214"/>
                </a:cubicBezTo>
                <a:cubicBezTo>
                  <a:pt x="549632" y="793214"/>
                  <a:pt x="582610" y="786900"/>
                  <a:pt x="615530" y="782197"/>
                </a:cubicBezTo>
                <a:cubicBezTo>
                  <a:pt x="662059" y="775550"/>
                  <a:pt x="665218" y="772979"/>
                  <a:pt x="703665" y="760164"/>
                </a:cubicBezTo>
                <a:cubicBezTo>
                  <a:pt x="714682" y="752819"/>
                  <a:pt x="724318" y="742779"/>
                  <a:pt x="736716" y="738130"/>
                </a:cubicBezTo>
                <a:cubicBezTo>
                  <a:pt x="754249" y="731555"/>
                  <a:pt x="755078" y="747311"/>
                  <a:pt x="758750" y="749147"/>
                </a:cubicBezTo>
                <a:close/>
              </a:path>
            </a:pathLst>
          </a:cu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1741730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en-US"/>
              <a:t>2014</a:t>
            </a:r>
          </a:p>
        </p:txBody>
      </p:sp>
      <p:sp>
        <p:nvSpPr>
          <p:cNvPr id="8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E314C7-9012-4661-BDDB-1402047CC8C6}" type="slidenum">
              <a:rPr lang="en-US" altLang="en-US"/>
              <a:pPr/>
              <a:t>12</a:t>
            </a:fld>
            <a:endParaRPr lang="en-US" altLang="en-US"/>
          </a:p>
        </p:txBody>
      </p:sp>
      <p:sp>
        <p:nvSpPr>
          <p:cNvPr id="153604" name="AutoShape 4"/>
          <p:cNvSpPr>
            <a:spLocks noChangeArrowheads="1"/>
          </p:cNvSpPr>
          <p:nvPr/>
        </p:nvSpPr>
        <p:spPr bwMode="auto">
          <a:xfrm>
            <a:off x="304800" y="152400"/>
            <a:ext cx="8610600" cy="914400"/>
          </a:xfrm>
          <a:prstGeom prst="roundRect">
            <a:avLst>
              <a:gd name="adj" fmla="val 16667"/>
            </a:avLst>
          </a:prstGeom>
          <a:solidFill>
            <a:srgbClr val="FFCCFF"/>
          </a:solidFill>
          <a:ln w="34925">
            <a:solidFill>
              <a:srgbClr val="FF3300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53605" name="AutoShape 5"/>
          <p:cNvSpPr>
            <a:spLocks noChangeArrowheads="1"/>
          </p:cNvSpPr>
          <p:nvPr/>
        </p:nvSpPr>
        <p:spPr bwMode="auto">
          <a:xfrm>
            <a:off x="304800" y="1143000"/>
            <a:ext cx="8610600" cy="4953000"/>
          </a:xfrm>
          <a:prstGeom prst="roundRect">
            <a:avLst>
              <a:gd name="adj" fmla="val 16667"/>
            </a:avLst>
          </a:prstGeom>
          <a:noFill/>
          <a:ln w="34925">
            <a:solidFill>
              <a:srgbClr val="FF33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53606" name="Rectangle 6"/>
          <p:cNvSpPr>
            <a:spLocks noChangeArrowheads="1"/>
          </p:cNvSpPr>
          <p:nvPr/>
        </p:nvSpPr>
        <p:spPr bwMode="auto">
          <a:xfrm>
            <a:off x="762000" y="228600"/>
            <a:ext cx="7772400" cy="685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/>
          <a:lstStyle>
            <a:lvl1pPr algn="ctr">
              <a:defRPr sz="4400">
                <a:solidFill>
                  <a:schemeClr val="tx2"/>
                </a:solidFill>
                <a:latin typeface="Times New Roman" pitchFamily="18" charset="0"/>
              </a:defRPr>
            </a:lvl1pPr>
            <a:lvl2pPr algn="ctr">
              <a:defRPr sz="4400">
                <a:solidFill>
                  <a:schemeClr val="tx2"/>
                </a:solidFill>
                <a:latin typeface="Times New Roman" pitchFamily="18" charset="0"/>
              </a:defRPr>
            </a:lvl2pPr>
            <a:lvl3pPr algn="ctr">
              <a:defRPr sz="4400">
                <a:solidFill>
                  <a:schemeClr val="tx2"/>
                </a:solidFill>
                <a:latin typeface="Times New Roman" pitchFamily="18" charset="0"/>
              </a:defRPr>
            </a:lvl3pPr>
            <a:lvl4pPr algn="ctr">
              <a:defRPr sz="4400">
                <a:solidFill>
                  <a:schemeClr val="tx2"/>
                </a:solidFill>
                <a:latin typeface="Times New Roman" pitchFamily="18" charset="0"/>
              </a:defRPr>
            </a:lvl4pPr>
            <a:lvl5pPr algn="ctr">
              <a:defRPr sz="4400">
                <a:solidFill>
                  <a:schemeClr val="tx2"/>
                </a:solidFill>
                <a:latin typeface="Times New Roman" pitchFamily="18" charset="0"/>
              </a:defRPr>
            </a:lvl5pPr>
            <a:lvl6pPr marL="457200" algn="ctr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imes New Roman" pitchFamily="18" charset="0"/>
              </a:defRPr>
            </a:lvl6pPr>
            <a:lvl7pPr marL="914400" algn="ctr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imes New Roman" pitchFamily="18" charset="0"/>
              </a:defRPr>
            </a:lvl7pPr>
            <a:lvl8pPr marL="1371600" algn="ctr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imes New Roman" pitchFamily="18" charset="0"/>
              </a:defRPr>
            </a:lvl8pPr>
            <a:lvl9pPr marL="1828800" algn="ctr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imes New Roman" pitchFamily="18" charset="0"/>
              </a:defRPr>
            </a:lvl9pPr>
          </a:lstStyle>
          <a:p>
            <a:r>
              <a:rPr lang="en-US" altLang="en-US" sz="2800" i="1" dirty="0">
                <a:solidFill>
                  <a:srgbClr val="0000FF"/>
                </a:solidFill>
                <a:latin typeface="Arial" charset="0"/>
              </a:rPr>
              <a:t>Classification with KNN (cont’d)</a:t>
            </a:r>
          </a:p>
        </p:txBody>
      </p:sp>
      <p:sp>
        <p:nvSpPr>
          <p:cNvPr id="153607" name="Rectangle 7"/>
          <p:cNvSpPr>
            <a:spLocks noChangeArrowheads="1"/>
          </p:cNvSpPr>
          <p:nvPr/>
        </p:nvSpPr>
        <p:spPr bwMode="auto">
          <a:xfrm>
            <a:off x="685800" y="1219200"/>
            <a:ext cx="7848600" cy="4419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marL="342900" indent="-342900"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08585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r>
              <a:rPr lang="en-US" altLang="en-US" sz="2400" dirty="0"/>
              <a:t>The main advantage of KNN is that, just like neural networks, it does not require the knowledge of probability distribution of the classes</a:t>
            </a:r>
          </a:p>
          <a:p>
            <a:pPr marL="342900" lvl="1" indent="-342900">
              <a:buFontTx/>
              <a:buChar char="•"/>
            </a:pPr>
            <a:r>
              <a:rPr lang="en-US" altLang="en-US" sz="2400" dirty="0"/>
              <a:t>KNN is much less complex and computationally intensive than connectionist methods such as neural networks and support vector machines</a:t>
            </a:r>
          </a:p>
          <a:p>
            <a:pPr marL="342900" lvl="1" indent="-342900">
              <a:buFontTx/>
              <a:buChar char="•"/>
            </a:pPr>
            <a:r>
              <a:rPr lang="en-US" altLang="en-US" dirty="0"/>
              <a:t>More computationally-intensive classifiers exist that do require the exact knowledge or at least an accurate estimation of the distributions</a:t>
            </a:r>
          </a:p>
          <a:p>
            <a:endParaRPr lang="en-US" altLang="en-US" sz="2400" dirty="0"/>
          </a:p>
        </p:txBody>
      </p:sp>
    </p:spTree>
    <p:extLst>
      <p:ext uri="{BB962C8B-B14F-4D97-AF65-F5344CB8AC3E}">
        <p14:creationId xmlns:p14="http://schemas.microsoft.com/office/powerpoint/2010/main" val="51102854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en-US"/>
              <a:t>2014</a:t>
            </a:r>
          </a:p>
        </p:txBody>
      </p:sp>
      <p:sp>
        <p:nvSpPr>
          <p:cNvPr id="9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ED5779-6EC4-4177-A5DA-E7A42771370A}" type="slidenum">
              <a:rPr lang="en-US" altLang="en-US"/>
              <a:pPr/>
              <a:t>13</a:t>
            </a:fld>
            <a:endParaRPr lang="en-US" altLang="en-US"/>
          </a:p>
        </p:txBody>
      </p:sp>
      <p:sp>
        <p:nvSpPr>
          <p:cNvPr id="14342" name="AutoShape 6"/>
          <p:cNvSpPr>
            <a:spLocks noChangeArrowheads="1"/>
          </p:cNvSpPr>
          <p:nvPr/>
        </p:nvSpPr>
        <p:spPr bwMode="auto">
          <a:xfrm>
            <a:off x="304800" y="152400"/>
            <a:ext cx="8610600" cy="685800"/>
          </a:xfrm>
          <a:prstGeom prst="roundRect">
            <a:avLst>
              <a:gd name="adj" fmla="val 16667"/>
            </a:avLst>
          </a:prstGeom>
          <a:solidFill>
            <a:srgbClr val="FFCCFF"/>
          </a:solidFill>
          <a:ln w="34925">
            <a:solidFill>
              <a:srgbClr val="FF3300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4343" name="AutoShape 7"/>
          <p:cNvSpPr>
            <a:spLocks noChangeArrowheads="1"/>
          </p:cNvSpPr>
          <p:nvPr/>
        </p:nvSpPr>
        <p:spPr bwMode="auto">
          <a:xfrm>
            <a:off x="304800" y="914400"/>
            <a:ext cx="8610600" cy="5257800"/>
          </a:xfrm>
          <a:prstGeom prst="roundRect">
            <a:avLst>
              <a:gd name="adj" fmla="val 16667"/>
            </a:avLst>
          </a:prstGeom>
          <a:noFill/>
          <a:ln w="34925">
            <a:solidFill>
              <a:srgbClr val="FF33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4338" name="Rectangle 2"/>
          <p:cNvSpPr>
            <a:spLocks noChangeArrowheads="1"/>
          </p:cNvSpPr>
          <p:nvPr/>
        </p:nvSpPr>
        <p:spPr bwMode="auto">
          <a:xfrm>
            <a:off x="685800" y="0"/>
            <a:ext cx="7620000" cy="914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/>
          <a:lstStyle>
            <a:lvl1pPr algn="ctr">
              <a:defRPr sz="4400">
                <a:solidFill>
                  <a:schemeClr val="tx2"/>
                </a:solidFill>
                <a:latin typeface="Times New Roman" pitchFamily="18" charset="0"/>
              </a:defRPr>
            </a:lvl1pPr>
            <a:lvl2pPr algn="ctr">
              <a:defRPr sz="4400">
                <a:solidFill>
                  <a:schemeClr val="tx2"/>
                </a:solidFill>
                <a:latin typeface="Times New Roman" pitchFamily="18" charset="0"/>
              </a:defRPr>
            </a:lvl2pPr>
            <a:lvl3pPr algn="ctr">
              <a:defRPr sz="4400">
                <a:solidFill>
                  <a:schemeClr val="tx2"/>
                </a:solidFill>
                <a:latin typeface="Times New Roman" pitchFamily="18" charset="0"/>
              </a:defRPr>
            </a:lvl3pPr>
            <a:lvl4pPr algn="ctr">
              <a:defRPr sz="4400">
                <a:solidFill>
                  <a:schemeClr val="tx2"/>
                </a:solidFill>
                <a:latin typeface="Times New Roman" pitchFamily="18" charset="0"/>
              </a:defRPr>
            </a:lvl4pPr>
            <a:lvl5pPr algn="ctr">
              <a:defRPr sz="4400">
                <a:solidFill>
                  <a:schemeClr val="tx2"/>
                </a:solidFill>
                <a:latin typeface="Times New Roman" pitchFamily="18" charset="0"/>
              </a:defRPr>
            </a:lvl5pPr>
            <a:lvl6pPr marL="457200" algn="ctr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imes New Roman" pitchFamily="18" charset="0"/>
              </a:defRPr>
            </a:lvl6pPr>
            <a:lvl7pPr marL="914400" algn="ctr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imes New Roman" pitchFamily="18" charset="0"/>
              </a:defRPr>
            </a:lvl7pPr>
            <a:lvl8pPr marL="1371600" algn="ctr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imes New Roman" pitchFamily="18" charset="0"/>
              </a:defRPr>
            </a:lvl8pPr>
            <a:lvl9pPr marL="1828800" algn="ctr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imes New Roman" pitchFamily="18" charset="0"/>
              </a:defRPr>
            </a:lvl9pPr>
          </a:lstStyle>
          <a:p>
            <a:r>
              <a:rPr lang="en-US" altLang="en-US" sz="2800" b="0" dirty="0">
                <a:solidFill>
                  <a:schemeClr val="accent2"/>
                </a:solidFill>
                <a:latin typeface="Arial" charset="0"/>
              </a:rPr>
              <a:t>Introduction to Connectionist Models</a:t>
            </a:r>
            <a:endParaRPr lang="en-US" altLang="en-US" b="0" dirty="0">
              <a:solidFill>
                <a:schemeClr val="accent2"/>
              </a:solidFill>
            </a:endParaRPr>
          </a:p>
        </p:txBody>
      </p:sp>
      <p:sp>
        <p:nvSpPr>
          <p:cNvPr id="14339" name="Rectangle 3"/>
          <p:cNvSpPr>
            <a:spLocks noChangeArrowheads="1"/>
          </p:cNvSpPr>
          <p:nvPr/>
        </p:nvSpPr>
        <p:spPr bwMode="auto">
          <a:xfrm>
            <a:off x="685800" y="914400"/>
            <a:ext cx="7848600" cy="5181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marL="342900" indent="-34290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r>
              <a:rPr lang="en-US" altLang="en-US" sz="2800" b="0" dirty="0"/>
              <a:t>Why connectionist models?</a:t>
            </a:r>
            <a:endParaRPr lang="en-US" altLang="en-US" b="0" dirty="0"/>
          </a:p>
          <a:p>
            <a:pPr lvl="1"/>
            <a:r>
              <a:rPr lang="en-US" altLang="en-US" sz="2000" b="0" dirty="0"/>
              <a:t>Algorithms developed over centuries do not fit the complexity of real world problem</a:t>
            </a:r>
          </a:p>
          <a:p>
            <a:pPr lvl="1"/>
            <a:r>
              <a:rPr lang="en-US" altLang="en-US" sz="2000" b="0" dirty="0"/>
              <a:t>The human brain: most sophisticated computer suitable for solving extremely complex problems</a:t>
            </a:r>
          </a:p>
          <a:p>
            <a:r>
              <a:rPr lang="en-US" altLang="en-US" sz="2400" b="0" dirty="0"/>
              <a:t>Historical knowledge on human brain</a:t>
            </a:r>
          </a:p>
          <a:p>
            <a:pPr lvl="1"/>
            <a:r>
              <a:rPr lang="en-US" altLang="en-US" sz="2000" b="0" dirty="0"/>
              <a:t>Phineas Gage’s Story</a:t>
            </a:r>
          </a:p>
          <a:p>
            <a:pPr lvl="2"/>
            <a:r>
              <a:rPr lang="en-US" altLang="en-US" sz="1800" b="0" dirty="0"/>
              <a:t>In a rail accident, a metal bar was shot </a:t>
            </a:r>
          </a:p>
          <a:p>
            <a:pPr lvl="2">
              <a:buFontTx/>
              <a:buNone/>
            </a:pPr>
            <a:r>
              <a:rPr lang="en-US" altLang="en-US" sz="1800" b="0" dirty="0"/>
              <a:t>	through the head of Mr. Phineas </a:t>
            </a:r>
          </a:p>
          <a:p>
            <a:pPr lvl="2">
              <a:buFontTx/>
              <a:buNone/>
            </a:pPr>
            <a:r>
              <a:rPr lang="en-US" altLang="en-US" sz="1800" dirty="0"/>
              <a:t>	</a:t>
            </a:r>
            <a:r>
              <a:rPr lang="en-US" altLang="en-US" sz="1800" b="0" dirty="0"/>
              <a:t>P. Gage at Cavendish, Vermont, </a:t>
            </a:r>
          </a:p>
          <a:p>
            <a:pPr lvl="2">
              <a:buFontTx/>
              <a:buNone/>
            </a:pPr>
            <a:r>
              <a:rPr lang="en-US" altLang="en-US" sz="1800" dirty="0"/>
              <a:t>	</a:t>
            </a:r>
            <a:r>
              <a:rPr lang="en-US" altLang="en-US" sz="1800" b="0" dirty="0"/>
              <a:t>Sept 14, 1848 </a:t>
            </a:r>
          </a:p>
          <a:p>
            <a:pPr lvl="3"/>
            <a:r>
              <a:rPr lang="en-US" altLang="en-US" sz="1600" b="0" dirty="0"/>
              <a:t>Iron bar was 3 feet 7 inches long </a:t>
            </a:r>
          </a:p>
          <a:p>
            <a:pPr marL="1371600" lvl="3" indent="0">
              <a:buNone/>
            </a:pPr>
            <a:r>
              <a:rPr lang="en-US" altLang="en-US" sz="1600" b="0" dirty="0"/>
              <a:t>and weighed 13 1/2 pounds.  </a:t>
            </a:r>
            <a:endParaRPr lang="en-US" altLang="en-US" sz="1600" dirty="0"/>
          </a:p>
          <a:p>
            <a:pPr marL="1371600" lvl="3" indent="0">
              <a:buNone/>
            </a:pPr>
            <a:r>
              <a:rPr lang="en-US" altLang="en-US" sz="1600" b="0" dirty="0"/>
              <a:t>It was 1 1/4 inches in diameter </a:t>
            </a:r>
          </a:p>
          <a:p>
            <a:pPr marL="1371600" lvl="3" indent="0">
              <a:buNone/>
            </a:pPr>
            <a:r>
              <a:rPr lang="en-US" altLang="en-US" sz="1600" b="0" dirty="0"/>
              <a:t>at one end </a:t>
            </a:r>
          </a:p>
        </p:txBody>
      </p:sp>
      <p:pic>
        <p:nvPicPr>
          <p:cNvPr id="4813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638800" y="3124199"/>
            <a:ext cx="3055232" cy="24098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" name="Rectangle 2"/>
          <p:cNvSpPr/>
          <p:nvPr/>
        </p:nvSpPr>
        <p:spPr>
          <a:xfrm>
            <a:off x="4800600" y="5495836"/>
            <a:ext cx="3893432" cy="57708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050" dirty="0">
                <a:hlinkClick r:id="rId3"/>
              </a:rPr>
              <a:t>http://www.boston.com/news/local/massachusetts/articles/2009/07/22/newly_discovered_image_offers_fresh_insights_about_1848_medical_miracle/</a:t>
            </a:r>
            <a:r>
              <a:rPr lang="en-US" sz="1050" dirty="0"/>
              <a:t> (From the collection of Jack and Beverly </a:t>
            </a:r>
            <a:r>
              <a:rPr lang="en-US" sz="1050" dirty="0" err="1"/>
              <a:t>Wilgus</a:t>
            </a:r>
            <a:r>
              <a:rPr lang="en-US" sz="1050" dirty="0"/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355497436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en-US"/>
              <a:t>2014</a:t>
            </a:r>
          </a:p>
        </p:txBody>
      </p:sp>
      <p:sp>
        <p:nvSpPr>
          <p:cNvPr id="11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D2023A-B626-4C3B-9F8F-EA87AFD4002F}" type="slidenum">
              <a:rPr lang="en-US" altLang="en-US"/>
              <a:pPr/>
              <a:t>14</a:t>
            </a:fld>
            <a:endParaRPr lang="en-US" altLang="en-US"/>
          </a:p>
        </p:txBody>
      </p:sp>
      <p:sp>
        <p:nvSpPr>
          <p:cNvPr id="45064" name="AutoShape 8"/>
          <p:cNvSpPr>
            <a:spLocks noChangeArrowheads="1"/>
          </p:cNvSpPr>
          <p:nvPr/>
        </p:nvSpPr>
        <p:spPr bwMode="auto">
          <a:xfrm>
            <a:off x="304800" y="152400"/>
            <a:ext cx="8610600" cy="685800"/>
          </a:xfrm>
          <a:prstGeom prst="roundRect">
            <a:avLst>
              <a:gd name="adj" fmla="val 16667"/>
            </a:avLst>
          </a:prstGeom>
          <a:solidFill>
            <a:srgbClr val="FFCCFF"/>
          </a:solidFill>
          <a:ln w="34925">
            <a:solidFill>
              <a:srgbClr val="FF3300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45065" name="AutoShape 9"/>
          <p:cNvSpPr>
            <a:spLocks noChangeArrowheads="1"/>
          </p:cNvSpPr>
          <p:nvPr/>
        </p:nvSpPr>
        <p:spPr bwMode="auto">
          <a:xfrm>
            <a:off x="304800" y="914400"/>
            <a:ext cx="8610600" cy="5257800"/>
          </a:xfrm>
          <a:prstGeom prst="roundRect">
            <a:avLst>
              <a:gd name="adj" fmla="val 16667"/>
            </a:avLst>
          </a:prstGeom>
          <a:noFill/>
          <a:ln w="34925">
            <a:solidFill>
              <a:srgbClr val="FF33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45058" name="Rectangle 2"/>
          <p:cNvSpPr>
            <a:spLocks noChangeArrowheads="1"/>
          </p:cNvSpPr>
          <p:nvPr/>
        </p:nvSpPr>
        <p:spPr bwMode="auto">
          <a:xfrm>
            <a:off x="685800" y="0"/>
            <a:ext cx="7772400" cy="914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/>
          <a:lstStyle>
            <a:lvl1pPr algn="ctr">
              <a:defRPr sz="4400">
                <a:solidFill>
                  <a:schemeClr val="tx2"/>
                </a:solidFill>
                <a:latin typeface="Times New Roman" pitchFamily="18" charset="0"/>
              </a:defRPr>
            </a:lvl1pPr>
            <a:lvl2pPr algn="ctr">
              <a:defRPr sz="4400">
                <a:solidFill>
                  <a:schemeClr val="tx2"/>
                </a:solidFill>
                <a:latin typeface="Times New Roman" pitchFamily="18" charset="0"/>
              </a:defRPr>
            </a:lvl2pPr>
            <a:lvl3pPr algn="ctr">
              <a:defRPr sz="4400">
                <a:solidFill>
                  <a:schemeClr val="tx2"/>
                </a:solidFill>
                <a:latin typeface="Times New Roman" pitchFamily="18" charset="0"/>
              </a:defRPr>
            </a:lvl3pPr>
            <a:lvl4pPr algn="ctr">
              <a:defRPr sz="4400">
                <a:solidFill>
                  <a:schemeClr val="tx2"/>
                </a:solidFill>
                <a:latin typeface="Times New Roman" pitchFamily="18" charset="0"/>
              </a:defRPr>
            </a:lvl4pPr>
            <a:lvl5pPr algn="ctr">
              <a:defRPr sz="4400">
                <a:solidFill>
                  <a:schemeClr val="tx2"/>
                </a:solidFill>
                <a:latin typeface="Times New Roman" pitchFamily="18" charset="0"/>
              </a:defRPr>
            </a:lvl5pPr>
            <a:lvl6pPr marL="457200" algn="ctr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imes New Roman" pitchFamily="18" charset="0"/>
              </a:defRPr>
            </a:lvl6pPr>
            <a:lvl7pPr marL="914400" algn="ctr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imes New Roman" pitchFamily="18" charset="0"/>
              </a:defRPr>
            </a:lvl7pPr>
            <a:lvl8pPr marL="1371600" algn="ctr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imes New Roman" pitchFamily="18" charset="0"/>
              </a:defRPr>
            </a:lvl8pPr>
            <a:lvl9pPr marL="1828800" algn="ctr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imes New Roman" pitchFamily="18" charset="0"/>
              </a:defRPr>
            </a:lvl9pPr>
          </a:lstStyle>
          <a:p>
            <a:r>
              <a:rPr lang="en-US" altLang="en-US" sz="2800" b="0" i="1" dirty="0">
                <a:solidFill>
                  <a:schemeClr val="accent2"/>
                </a:solidFill>
                <a:latin typeface="Arial" charset="0"/>
              </a:rPr>
              <a:t>Introduction to Connectionist Models (cont’d)</a:t>
            </a:r>
            <a:endParaRPr lang="en-US" altLang="en-US" b="0" i="1" dirty="0">
              <a:solidFill>
                <a:schemeClr val="accent2"/>
              </a:solidFill>
            </a:endParaRPr>
          </a:p>
        </p:txBody>
      </p:sp>
      <p:sp>
        <p:nvSpPr>
          <p:cNvPr id="45059" name="Rectangle 3"/>
          <p:cNvSpPr>
            <a:spLocks noChangeArrowheads="1"/>
          </p:cNvSpPr>
          <p:nvPr/>
        </p:nvSpPr>
        <p:spPr bwMode="auto">
          <a:xfrm>
            <a:off x="685800" y="1066800"/>
            <a:ext cx="7848600" cy="5029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marL="342900" indent="-34290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lvl="2"/>
            <a:r>
              <a:rPr lang="en-US" altLang="en-US" sz="1800" b="0" dirty="0"/>
              <a:t>He survived the accident!</a:t>
            </a:r>
          </a:p>
          <a:p>
            <a:pPr lvl="3"/>
            <a:r>
              <a:rPr lang="en-US" altLang="en-US" sz="1600" b="0" dirty="0"/>
              <a:t>Originally he seemed to have [almost] fully recovered</a:t>
            </a:r>
          </a:p>
          <a:p>
            <a:pPr lvl="3">
              <a:buFontTx/>
              <a:buNone/>
            </a:pPr>
            <a:endParaRPr lang="en-US" altLang="en-US" sz="1600" b="0" dirty="0"/>
          </a:p>
          <a:p>
            <a:pPr lvl="3">
              <a:buFontTx/>
              <a:buNone/>
            </a:pPr>
            <a:endParaRPr lang="en-US" altLang="en-US" sz="1600" b="0" dirty="0"/>
          </a:p>
          <a:p>
            <a:pPr lvl="3">
              <a:buFontTx/>
              <a:buNone/>
            </a:pPr>
            <a:endParaRPr lang="en-US" altLang="en-US" sz="1600" b="0" dirty="0"/>
          </a:p>
          <a:p>
            <a:pPr lvl="3">
              <a:buFontTx/>
              <a:buNone/>
            </a:pPr>
            <a:endParaRPr lang="en-US" altLang="en-US" sz="1600" b="0" dirty="0"/>
          </a:p>
          <a:p>
            <a:pPr lvl="3">
              <a:buFontTx/>
              <a:buNone/>
            </a:pPr>
            <a:endParaRPr lang="en-US" altLang="en-US" sz="1600" b="0" dirty="0"/>
          </a:p>
          <a:p>
            <a:pPr lvl="3">
              <a:buFontTx/>
              <a:buNone/>
            </a:pPr>
            <a:endParaRPr lang="en-US" altLang="en-US" sz="1600" b="0" dirty="0"/>
          </a:p>
          <a:p>
            <a:pPr lvl="3">
              <a:buFontTx/>
              <a:buNone/>
            </a:pPr>
            <a:endParaRPr lang="en-US" altLang="en-US" sz="1600" b="0" dirty="0"/>
          </a:p>
          <a:p>
            <a:pPr lvl="3">
              <a:buFontTx/>
              <a:buNone/>
            </a:pPr>
            <a:endParaRPr lang="en-US" altLang="en-US" sz="1600" b="0" dirty="0"/>
          </a:p>
          <a:p>
            <a:pPr lvl="3">
              <a:buFontTx/>
              <a:buNone/>
            </a:pPr>
            <a:endParaRPr lang="en-US" altLang="en-US" sz="1600" b="0" dirty="0"/>
          </a:p>
          <a:p>
            <a:pPr lvl="2"/>
            <a:r>
              <a:rPr lang="en-US" altLang="en-US" sz="1800" b="0" dirty="0"/>
              <a:t>After a few weeks, </a:t>
            </a:r>
            <a:r>
              <a:rPr lang="en-US" altLang="en-US" sz="1800" b="0" dirty="0" err="1"/>
              <a:t>Phineas</a:t>
            </a:r>
            <a:r>
              <a:rPr lang="en-US" altLang="en-US" sz="1800" b="0" dirty="0"/>
              <a:t> exhibited profound personality changes</a:t>
            </a:r>
          </a:p>
          <a:p>
            <a:pPr lvl="1"/>
            <a:r>
              <a:rPr lang="en-US" altLang="en-US" sz="2000" b="0" dirty="0"/>
              <a:t>This is the first time, researchers have a clear evidence that the brain is not a continuum of cell mass and rather each region has relatively independent task</a:t>
            </a:r>
          </a:p>
        </p:txBody>
      </p:sp>
      <p:pic>
        <p:nvPicPr>
          <p:cNvPr id="49155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19200" y="1703462"/>
            <a:ext cx="4589982" cy="253149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" name="Rectangle 2"/>
          <p:cNvSpPr/>
          <p:nvPr/>
        </p:nvSpPr>
        <p:spPr>
          <a:xfrm>
            <a:off x="5943600" y="2204951"/>
            <a:ext cx="2782190" cy="138499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200" dirty="0"/>
              <a:t>Bigelow, Henry J. “Dr. Harlow’s case of recovery from the passage of an iron bar through the head.” American Journal of the Medical Sciences, </a:t>
            </a:r>
            <a:r>
              <a:rPr lang="en-US" sz="1200" dirty="0" err="1"/>
              <a:t>n.s</a:t>
            </a:r>
            <a:r>
              <a:rPr lang="en-US" sz="1200" dirty="0"/>
              <a:t>. v.20 (July 1850): 13-22. Available at: https://cms.www.countway.harvard.edu/wp/?tag=phineas-gage</a:t>
            </a:r>
          </a:p>
        </p:txBody>
      </p:sp>
    </p:spTree>
    <p:extLst>
      <p:ext uri="{BB962C8B-B14F-4D97-AF65-F5344CB8AC3E}">
        <p14:creationId xmlns:p14="http://schemas.microsoft.com/office/powerpoint/2010/main" val="350078966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en-US"/>
              <a:t>2014</a:t>
            </a:r>
          </a:p>
        </p:txBody>
      </p:sp>
      <p:sp>
        <p:nvSpPr>
          <p:cNvPr id="10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6509DA-4517-40DE-9801-C46AFBD93F9C}" type="slidenum">
              <a:rPr lang="en-US" altLang="en-US"/>
              <a:pPr/>
              <a:t>15</a:t>
            </a:fld>
            <a:endParaRPr lang="en-US" altLang="en-US"/>
          </a:p>
        </p:txBody>
      </p:sp>
      <p:sp>
        <p:nvSpPr>
          <p:cNvPr id="15386" name="AutoShape 26"/>
          <p:cNvSpPr>
            <a:spLocks noChangeArrowheads="1"/>
          </p:cNvSpPr>
          <p:nvPr/>
        </p:nvSpPr>
        <p:spPr bwMode="auto">
          <a:xfrm>
            <a:off x="304800" y="152400"/>
            <a:ext cx="8610600" cy="685800"/>
          </a:xfrm>
          <a:prstGeom prst="roundRect">
            <a:avLst>
              <a:gd name="adj" fmla="val 16667"/>
            </a:avLst>
          </a:prstGeom>
          <a:solidFill>
            <a:srgbClr val="FFCCFF"/>
          </a:solidFill>
          <a:ln w="34925">
            <a:solidFill>
              <a:srgbClr val="FF3300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5387" name="AutoShape 27"/>
          <p:cNvSpPr>
            <a:spLocks noChangeArrowheads="1"/>
          </p:cNvSpPr>
          <p:nvPr/>
        </p:nvSpPr>
        <p:spPr bwMode="auto">
          <a:xfrm>
            <a:off x="304800" y="914400"/>
            <a:ext cx="8610600" cy="5257800"/>
          </a:xfrm>
          <a:prstGeom prst="roundRect">
            <a:avLst>
              <a:gd name="adj" fmla="val 16667"/>
            </a:avLst>
          </a:prstGeom>
          <a:noFill/>
          <a:ln w="34925">
            <a:solidFill>
              <a:srgbClr val="FF33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5365" name="Rectangle 5"/>
          <p:cNvSpPr>
            <a:spLocks noChangeArrowheads="1"/>
          </p:cNvSpPr>
          <p:nvPr/>
        </p:nvSpPr>
        <p:spPr bwMode="auto">
          <a:xfrm>
            <a:off x="685800" y="990600"/>
            <a:ext cx="7772400" cy="4876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marL="342900" indent="-34290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itchFamily="18" charset="0"/>
              </a:defRPr>
            </a:lvl2pPr>
            <a:lvl3pPr marL="108585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42875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4pPr>
            <a:lvl5pPr marL="177165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5pPr>
            <a:lvl6pPr marL="222885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6pPr>
            <a:lvl7pPr marL="268605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7pPr>
            <a:lvl8pPr marL="314325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8pPr>
            <a:lvl9pPr marL="360045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lvl="2"/>
            <a:r>
              <a:rPr lang="en-US" altLang="en-US" sz="1800" b="0" dirty="0"/>
              <a:t>learning and generalization through examples</a:t>
            </a:r>
          </a:p>
          <a:p>
            <a:pPr lvl="2"/>
            <a:r>
              <a:rPr lang="en-US" altLang="en-US" sz="1800" b="0" dirty="0"/>
              <a:t>simple building block: neuron</a:t>
            </a:r>
          </a:p>
          <a:p>
            <a:pPr lvl="3"/>
            <a:r>
              <a:rPr lang="en-US" altLang="en-US" sz="1600" b="0" dirty="0"/>
              <a:t>Dendrites: collecting signals from other neurons</a:t>
            </a:r>
          </a:p>
          <a:p>
            <a:pPr lvl="3"/>
            <a:r>
              <a:rPr lang="en-US" altLang="en-US" sz="1600" b="0" dirty="0"/>
              <a:t>Soma (cell body): spatial summation and processing</a:t>
            </a:r>
          </a:p>
          <a:p>
            <a:pPr lvl="3"/>
            <a:r>
              <a:rPr lang="en-US" altLang="en-US" sz="1600" b="0" dirty="0"/>
              <a:t>Axon: transmitting signals to dendrites of other cells</a:t>
            </a:r>
          </a:p>
          <a:p>
            <a:pPr lvl="2">
              <a:buFontTx/>
              <a:buNone/>
            </a:pPr>
            <a:endParaRPr lang="en-US" altLang="en-US" sz="1800" b="0" dirty="0"/>
          </a:p>
        </p:txBody>
      </p:sp>
      <p:sp>
        <p:nvSpPr>
          <p:cNvPr id="15380" name="Rectangle 20"/>
          <p:cNvSpPr>
            <a:spLocks noChangeArrowheads="1"/>
          </p:cNvSpPr>
          <p:nvPr/>
        </p:nvSpPr>
        <p:spPr bwMode="auto">
          <a:xfrm>
            <a:off x="533400" y="0"/>
            <a:ext cx="8229600" cy="838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/>
          <a:lstStyle>
            <a:lvl1pPr algn="ctr">
              <a:defRPr sz="4400">
                <a:solidFill>
                  <a:schemeClr val="tx2"/>
                </a:solidFill>
                <a:latin typeface="Times New Roman" pitchFamily="18" charset="0"/>
              </a:defRPr>
            </a:lvl1pPr>
            <a:lvl2pPr algn="ctr">
              <a:defRPr sz="4400">
                <a:solidFill>
                  <a:schemeClr val="tx2"/>
                </a:solidFill>
                <a:latin typeface="Times New Roman" pitchFamily="18" charset="0"/>
              </a:defRPr>
            </a:lvl2pPr>
            <a:lvl3pPr algn="ctr">
              <a:defRPr sz="4400">
                <a:solidFill>
                  <a:schemeClr val="tx2"/>
                </a:solidFill>
                <a:latin typeface="Times New Roman" pitchFamily="18" charset="0"/>
              </a:defRPr>
            </a:lvl3pPr>
            <a:lvl4pPr algn="ctr">
              <a:defRPr sz="4400">
                <a:solidFill>
                  <a:schemeClr val="tx2"/>
                </a:solidFill>
                <a:latin typeface="Times New Roman" pitchFamily="18" charset="0"/>
              </a:defRPr>
            </a:lvl4pPr>
            <a:lvl5pPr algn="ctr">
              <a:defRPr sz="4400">
                <a:solidFill>
                  <a:schemeClr val="tx2"/>
                </a:solidFill>
                <a:latin typeface="Times New Roman" pitchFamily="18" charset="0"/>
              </a:defRPr>
            </a:lvl5pPr>
            <a:lvl6pPr marL="457200" algn="ctr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imes New Roman" pitchFamily="18" charset="0"/>
              </a:defRPr>
            </a:lvl6pPr>
            <a:lvl7pPr marL="914400" algn="ctr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imes New Roman" pitchFamily="18" charset="0"/>
              </a:defRPr>
            </a:lvl7pPr>
            <a:lvl8pPr marL="1371600" algn="ctr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imes New Roman" pitchFamily="18" charset="0"/>
              </a:defRPr>
            </a:lvl8pPr>
            <a:lvl9pPr marL="1828800" algn="ctr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imes New Roman" pitchFamily="18" charset="0"/>
              </a:defRPr>
            </a:lvl9pPr>
          </a:lstStyle>
          <a:p>
            <a:r>
              <a:rPr lang="en-US" altLang="en-US" sz="2800" b="0" i="1" dirty="0">
                <a:solidFill>
                  <a:schemeClr val="accent2"/>
                </a:solidFill>
                <a:latin typeface="Arial" charset="0"/>
              </a:rPr>
              <a:t>Introduction to Connectionist Models (Continued)</a:t>
            </a:r>
            <a:endParaRPr lang="en-US" altLang="en-US" b="0" dirty="0">
              <a:solidFill>
                <a:schemeClr val="accent2"/>
              </a:solidFill>
            </a:endParaRPr>
          </a:p>
        </p:txBody>
      </p:sp>
      <p:pic>
        <p:nvPicPr>
          <p:cNvPr id="15385" name="Picture 25" descr="neuron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05000" y="2971800"/>
            <a:ext cx="5486400" cy="20256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07750605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en-US"/>
              <a:t>2014</a:t>
            </a:r>
          </a:p>
        </p:txBody>
      </p:sp>
      <p:sp>
        <p:nvSpPr>
          <p:cNvPr id="24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14870D-960C-4E53-8181-7B993A55AD54}" type="slidenum">
              <a:rPr lang="en-US" altLang="en-US"/>
              <a:pPr/>
              <a:t>16</a:t>
            </a:fld>
            <a:endParaRPr lang="en-US" altLang="en-US"/>
          </a:p>
        </p:txBody>
      </p:sp>
      <p:sp>
        <p:nvSpPr>
          <p:cNvPr id="3139" name="AutoShape 67"/>
          <p:cNvSpPr>
            <a:spLocks noChangeArrowheads="1"/>
          </p:cNvSpPr>
          <p:nvPr/>
        </p:nvSpPr>
        <p:spPr bwMode="auto">
          <a:xfrm>
            <a:off x="304800" y="127000"/>
            <a:ext cx="8610600" cy="711200"/>
          </a:xfrm>
          <a:prstGeom prst="roundRect">
            <a:avLst>
              <a:gd name="adj" fmla="val 16667"/>
            </a:avLst>
          </a:prstGeom>
          <a:solidFill>
            <a:srgbClr val="FFCCFF"/>
          </a:solidFill>
          <a:ln w="34925">
            <a:solidFill>
              <a:srgbClr val="FF3300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endParaRPr lang="en-US" altLang="en-US">
              <a:solidFill>
                <a:schemeClr val="accent2"/>
              </a:solidFill>
            </a:endParaRPr>
          </a:p>
        </p:txBody>
      </p:sp>
      <p:sp>
        <p:nvSpPr>
          <p:cNvPr id="3140" name="AutoShape 68"/>
          <p:cNvSpPr>
            <a:spLocks noChangeArrowheads="1"/>
          </p:cNvSpPr>
          <p:nvPr/>
        </p:nvSpPr>
        <p:spPr bwMode="auto">
          <a:xfrm>
            <a:off x="304800" y="914400"/>
            <a:ext cx="8610600" cy="4953000"/>
          </a:xfrm>
          <a:prstGeom prst="roundRect">
            <a:avLst>
              <a:gd name="adj" fmla="val 16667"/>
            </a:avLst>
          </a:prstGeom>
          <a:noFill/>
          <a:ln w="34925">
            <a:solidFill>
              <a:srgbClr val="FF33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3093" name="Rectangle 21"/>
          <p:cNvSpPr>
            <a:spLocks noChangeArrowheads="1"/>
          </p:cNvSpPr>
          <p:nvPr/>
        </p:nvSpPr>
        <p:spPr bwMode="auto">
          <a:xfrm>
            <a:off x="762000" y="914400"/>
            <a:ext cx="7543800" cy="4800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2075" tIns="46038" rIns="92075" bIns="46038"/>
          <a:lstStyle>
            <a:lvl1pPr marL="342900" indent="-34290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itchFamily="18" charset="0"/>
              </a:defRPr>
            </a:lvl2pPr>
            <a:lvl3pPr marL="108585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>
              <a:buSzPct val="120000"/>
            </a:pPr>
            <a:r>
              <a:rPr lang="en-US" altLang="en-US" sz="2000" b="0" u="sng" dirty="0"/>
              <a:t>Reference book: </a:t>
            </a:r>
            <a:r>
              <a:rPr lang="en-US" altLang="en-US" sz="1800" b="0" dirty="0"/>
              <a:t>“Fundamentals of Neural Networks; Architecture, Algorithms, And Applications”, by: L. </a:t>
            </a:r>
            <a:r>
              <a:rPr lang="en-US" altLang="en-US" sz="1800" b="0" dirty="0" err="1"/>
              <a:t>Fausett</a:t>
            </a:r>
            <a:r>
              <a:rPr lang="en-US" altLang="en-US" sz="1800" b="0" dirty="0"/>
              <a:t>.</a:t>
            </a:r>
            <a:r>
              <a:rPr lang="en-US" altLang="en-US" sz="2000" b="0" dirty="0"/>
              <a:t> </a:t>
            </a:r>
          </a:p>
          <a:p>
            <a:pPr lvl="2">
              <a:buSzPct val="120000"/>
            </a:pPr>
            <a:r>
              <a:rPr lang="en-US" altLang="en-US" sz="1800" b="0" dirty="0"/>
              <a:t>Highly recommended for this course to learn practical applications of neural nets</a:t>
            </a:r>
            <a:endParaRPr lang="en-US" altLang="en-US" sz="1400" b="0" dirty="0"/>
          </a:p>
          <a:p>
            <a:pPr>
              <a:buSzPct val="120000"/>
            </a:pPr>
            <a:r>
              <a:rPr lang="en-US" altLang="en-US" sz="2400" b="0" dirty="0"/>
              <a:t>Biological vs. artificial neurons</a:t>
            </a:r>
          </a:p>
          <a:p>
            <a:pPr lvl="1">
              <a:buSzPct val="120000"/>
            </a:pPr>
            <a:r>
              <a:rPr lang="en-US" altLang="en-US" sz="2000" b="0" dirty="0">
                <a:solidFill>
                  <a:schemeClr val="tx2"/>
                </a:solidFill>
              </a:rPr>
              <a:t>From biological neuron to schematic structure of artificial neuron</a:t>
            </a:r>
          </a:p>
          <a:p>
            <a:pPr lvl="2">
              <a:buSzPct val="120000"/>
            </a:pPr>
            <a:r>
              <a:rPr lang="en-US" altLang="en-US" sz="1800" b="0" dirty="0">
                <a:solidFill>
                  <a:schemeClr val="tx2"/>
                </a:solidFill>
              </a:rPr>
              <a:t>biological:</a:t>
            </a:r>
          </a:p>
          <a:p>
            <a:pPr lvl="3">
              <a:buSzPct val="120000"/>
            </a:pPr>
            <a:r>
              <a:rPr lang="en-US" altLang="en-US" sz="1600" b="0" dirty="0">
                <a:solidFill>
                  <a:schemeClr val="tx2"/>
                </a:solidFill>
              </a:rPr>
              <a:t>Inputs</a:t>
            </a:r>
          </a:p>
          <a:p>
            <a:pPr lvl="3">
              <a:buSzPct val="120000"/>
            </a:pPr>
            <a:r>
              <a:rPr lang="en-US" altLang="en-US" sz="1600" b="0" dirty="0">
                <a:solidFill>
                  <a:schemeClr val="tx2"/>
                </a:solidFill>
              </a:rPr>
              <a:t>Summation</a:t>
            </a:r>
          </a:p>
          <a:p>
            <a:pPr lvl="3">
              <a:buSzPct val="120000"/>
              <a:buFontTx/>
              <a:buNone/>
            </a:pPr>
            <a:r>
              <a:rPr lang="en-US" altLang="en-US" sz="1600" b="0" dirty="0">
                <a:solidFill>
                  <a:schemeClr val="tx2"/>
                </a:solidFill>
              </a:rPr>
              <a:t>	of inputs</a:t>
            </a:r>
          </a:p>
          <a:p>
            <a:pPr lvl="3">
              <a:buSzPct val="120000"/>
            </a:pPr>
            <a:r>
              <a:rPr lang="en-US" altLang="en-US" sz="1600" b="0" dirty="0">
                <a:solidFill>
                  <a:schemeClr val="tx2"/>
                </a:solidFill>
              </a:rPr>
              <a:t>Processing</a:t>
            </a:r>
          </a:p>
          <a:p>
            <a:pPr lvl="3">
              <a:buSzPct val="120000"/>
              <a:buFontTx/>
              <a:buNone/>
            </a:pPr>
            <a:r>
              <a:rPr lang="en-US" altLang="en-US" sz="1600" b="0" dirty="0">
                <a:solidFill>
                  <a:schemeClr val="tx2"/>
                </a:solidFill>
              </a:rPr>
              <a:t>	unit </a:t>
            </a:r>
          </a:p>
          <a:p>
            <a:pPr lvl="3">
              <a:buSzPct val="120000"/>
            </a:pPr>
            <a:r>
              <a:rPr lang="en-US" altLang="en-US" sz="1600" b="0" dirty="0">
                <a:solidFill>
                  <a:schemeClr val="tx2"/>
                </a:solidFill>
              </a:rPr>
              <a:t>Output</a:t>
            </a:r>
          </a:p>
          <a:p>
            <a:pPr lvl="2">
              <a:buSzPct val="120000"/>
            </a:pPr>
            <a:r>
              <a:rPr lang="en-US" altLang="en-US" sz="1800" b="0" dirty="0">
                <a:solidFill>
                  <a:schemeClr val="tx2"/>
                </a:solidFill>
              </a:rPr>
              <a:t>artificial:</a:t>
            </a:r>
          </a:p>
        </p:txBody>
      </p:sp>
      <p:sp>
        <p:nvSpPr>
          <p:cNvPr id="3096" name="Rectangle 24"/>
          <p:cNvSpPr>
            <a:spLocks noChangeArrowheads="1"/>
          </p:cNvSpPr>
          <p:nvPr/>
        </p:nvSpPr>
        <p:spPr bwMode="auto">
          <a:xfrm>
            <a:off x="1219200" y="152400"/>
            <a:ext cx="678180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ctr"/>
            <a:r>
              <a:rPr lang="en-US" altLang="en-US" sz="2800" b="0">
                <a:solidFill>
                  <a:schemeClr val="accent2"/>
                </a:solidFill>
                <a:latin typeface="Arial" charset="0"/>
              </a:rPr>
              <a:t>From biological to artificial neural nets</a:t>
            </a:r>
          </a:p>
        </p:txBody>
      </p:sp>
      <p:pic>
        <p:nvPicPr>
          <p:cNvPr id="3098" name="Picture 26" descr="neuron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62400" y="3048000"/>
            <a:ext cx="4495800" cy="16795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101" name="Oval 29"/>
          <p:cNvSpPr>
            <a:spLocks noChangeArrowheads="1"/>
          </p:cNvSpPr>
          <p:nvPr/>
        </p:nvSpPr>
        <p:spPr bwMode="auto">
          <a:xfrm>
            <a:off x="4572000" y="5105400"/>
            <a:ext cx="152400" cy="152400"/>
          </a:xfrm>
          <a:prstGeom prst="ellipse">
            <a:avLst/>
          </a:prstGeom>
          <a:solidFill>
            <a:srgbClr val="0066FF"/>
          </a:solidFill>
          <a:ln w="12700" cap="sq">
            <a:solidFill>
              <a:schemeClr val="tx1"/>
            </a:solidFill>
            <a:round/>
            <a:headEnd type="none" w="sm" len="sm"/>
            <a:tailEnd type="none" w="sm" len="sm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endParaRPr lang="en-US" altLang="en-US" b="0"/>
          </a:p>
        </p:txBody>
      </p:sp>
      <p:sp>
        <p:nvSpPr>
          <p:cNvPr id="3102" name="Oval 30"/>
          <p:cNvSpPr>
            <a:spLocks noChangeArrowheads="1"/>
          </p:cNvSpPr>
          <p:nvPr/>
        </p:nvSpPr>
        <p:spPr bwMode="auto">
          <a:xfrm>
            <a:off x="4572000" y="5562600"/>
            <a:ext cx="152400" cy="152400"/>
          </a:xfrm>
          <a:prstGeom prst="ellipse">
            <a:avLst/>
          </a:prstGeom>
          <a:solidFill>
            <a:srgbClr val="0066FF"/>
          </a:solidFill>
          <a:ln w="12700" cap="sq">
            <a:solidFill>
              <a:schemeClr val="tx1"/>
            </a:solidFill>
            <a:round/>
            <a:headEnd type="none" w="sm" len="sm"/>
            <a:tailEnd type="none" w="sm" len="sm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endParaRPr lang="en-US" altLang="en-US" b="0"/>
          </a:p>
        </p:txBody>
      </p:sp>
      <p:sp>
        <p:nvSpPr>
          <p:cNvPr id="3104" name="Oval 32"/>
          <p:cNvSpPr>
            <a:spLocks noChangeArrowheads="1"/>
          </p:cNvSpPr>
          <p:nvPr/>
        </p:nvSpPr>
        <p:spPr bwMode="auto">
          <a:xfrm>
            <a:off x="5105400" y="5257800"/>
            <a:ext cx="304800" cy="304800"/>
          </a:xfrm>
          <a:prstGeom prst="ellipse">
            <a:avLst/>
          </a:prstGeom>
          <a:solidFill>
            <a:srgbClr val="FF0000"/>
          </a:solidFill>
          <a:ln w="12700" cap="sq">
            <a:solidFill>
              <a:schemeClr val="tx1"/>
            </a:solidFill>
            <a:round/>
            <a:headEnd type="none" w="sm" len="sm"/>
            <a:tailEnd type="none" w="sm" len="sm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endParaRPr lang="en-US" altLang="en-US" b="0"/>
          </a:p>
        </p:txBody>
      </p:sp>
      <p:sp>
        <p:nvSpPr>
          <p:cNvPr id="3107" name="Line 35"/>
          <p:cNvSpPr>
            <a:spLocks noChangeShapeType="1"/>
          </p:cNvSpPr>
          <p:nvPr/>
        </p:nvSpPr>
        <p:spPr bwMode="auto">
          <a:xfrm>
            <a:off x="3886200" y="5181600"/>
            <a:ext cx="685800" cy="1588"/>
          </a:xfrm>
          <a:prstGeom prst="line">
            <a:avLst/>
          </a:prstGeom>
          <a:noFill/>
          <a:ln w="28575" cap="sq">
            <a:solidFill>
              <a:schemeClr val="tx1"/>
            </a:solidFill>
            <a:round/>
            <a:headEnd type="none" w="sm" len="sm"/>
            <a:tailEnd type="triangl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3108" name="Line 36"/>
          <p:cNvSpPr>
            <a:spLocks noChangeShapeType="1"/>
          </p:cNvSpPr>
          <p:nvPr/>
        </p:nvSpPr>
        <p:spPr bwMode="auto">
          <a:xfrm>
            <a:off x="3886200" y="5638800"/>
            <a:ext cx="685800" cy="1588"/>
          </a:xfrm>
          <a:prstGeom prst="line">
            <a:avLst/>
          </a:prstGeom>
          <a:noFill/>
          <a:ln w="28575" cap="sq">
            <a:solidFill>
              <a:schemeClr val="tx1"/>
            </a:solidFill>
            <a:round/>
            <a:headEnd type="none" w="sm" len="sm"/>
            <a:tailEnd type="triangl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3110" name="Line 38"/>
          <p:cNvSpPr>
            <a:spLocks noChangeShapeType="1"/>
          </p:cNvSpPr>
          <p:nvPr/>
        </p:nvSpPr>
        <p:spPr bwMode="auto">
          <a:xfrm flipV="1">
            <a:off x="4724400" y="5410200"/>
            <a:ext cx="381000" cy="228600"/>
          </a:xfrm>
          <a:prstGeom prst="line">
            <a:avLst/>
          </a:prstGeom>
          <a:noFill/>
          <a:ln w="28575" cap="sq">
            <a:solidFill>
              <a:schemeClr val="tx1"/>
            </a:solidFill>
            <a:round/>
            <a:headEnd type="none" w="sm" len="sm"/>
            <a:tailEnd type="triangl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3115" name="Line 43"/>
          <p:cNvSpPr>
            <a:spLocks noChangeShapeType="1"/>
          </p:cNvSpPr>
          <p:nvPr/>
        </p:nvSpPr>
        <p:spPr bwMode="auto">
          <a:xfrm>
            <a:off x="4724400" y="5181600"/>
            <a:ext cx="381000" cy="152400"/>
          </a:xfrm>
          <a:prstGeom prst="line">
            <a:avLst/>
          </a:prstGeom>
          <a:noFill/>
          <a:ln w="28575" cap="sq">
            <a:solidFill>
              <a:schemeClr val="tx1"/>
            </a:solidFill>
            <a:round/>
            <a:headEnd type="none" w="sm" len="sm"/>
            <a:tailEnd type="triangl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3117" name="Line 45"/>
          <p:cNvSpPr>
            <a:spLocks noChangeShapeType="1"/>
          </p:cNvSpPr>
          <p:nvPr/>
        </p:nvSpPr>
        <p:spPr bwMode="auto">
          <a:xfrm>
            <a:off x="4267200" y="5257800"/>
            <a:ext cx="1588" cy="304800"/>
          </a:xfrm>
          <a:prstGeom prst="line">
            <a:avLst/>
          </a:prstGeom>
          <a:noFill/>
          <a:ln w="38100">
            <a:solidFill>
              <a:schemeClr val="tx1"/>
            </a:solidFill>
            <a:prstDash val="sysDot"/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graphicFrame>
        <p:nvGraphicFramePr>
          <p:cNvPr id="3119" name="Object 47"/>
          <p:cNvGraphicFramePr>
            <a:graphicFrameLocks noChangeAspect="1"/>
          </p:cNvGraphicFramePr>
          <p:nvPr/>
        </p:nvGraphicFramePr>
        <p:xfrm>
          <a:off x="3962400" y="4800600"/>
          <a:ext cx="236538" cy="3349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" imgW="152268" imgH="215713" progId="Equation.3">
                  <p:embed/>
                </p:oleObj>
              </mc:Choice>
              <mc:Fallback>
                <p:oleObj name="Equation" r:id="rId3" imgW="152268" imgH="215713" progId="Equation.3">
                  <p:embed/>
                  <p:pic>
                    <p:nvPicPr>
                      <p:cNvPr id="0" name="Picture 4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962400" y="4800600"/>
                        <a:ext cx="236538" cy="334963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120" name="Object 48"/>
          <p:cNvGraphicFramePr>
            <a:graphicFrameLocks noChangeAspect="1"/>
          </p:cNvGraphicFramePr>
          <p:nvPr/>
        </p:nvGraphicFramePr>
        <p:xfrm>
          <a:off x="3581400" y="5410200"/>
          <a:ext cx="315913" cy="3571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5" imgW="203112" imgH="228501" progId="Equation.3">
                  <p:embed/>
                </p:oleObj>
              </mc:Choice>
              <mc:Fallback>
                <p:oleObj name="Equation" r:id="rId5" imgW="203112" imgH="228501" progId="Equation.3">
                  <p:embed/>
                  <p:pic>
                    <p:nvPicPr>
                      <p:cNvPr id="0" name="Picture 4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581400" y="5410200"/>
                        <a:ext cx="315913" cy="357188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124" name="Object 52"/>
          <p:cNvGraphicFramePr>
            <a:graphicFrameLocks noChangeAspect="1"/>
          </p:cNvGraphicFramePr>
          <p:nvPr/>
        </p:nvGraphicFramePr>
        <p:xfrm>
          <a:off x="4876800" y="4953000"/>
          <a:ext cx="319088" cy="304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7" imgW="177569" imgH="215619" progId="Equation.3">
                  <p:embed/>
                </p:oleObj>
              </mc:Choice>
              <mc:Fallback>
                <p:oleObj name="Equation" r:id="rId7" imgW="177569" imgH="215619" progId="Equation.3">
                  <p:embed/>
                  <p:pic>
                    <p:nvPicPr>
                      <p:cNvPr id="0" name="Picture 4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876800" y="4953000"/>
                        <a:ext cx="319088" cy="3048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126" name="Object 54"/>
          <p:cNvGraphicFramePr>
            <a:graphicFrameLocks noChangeAspect="1"/>
          </p:cNvGraphicFramePr>
          <p:nvPr/>
        </p:nvGraphicFramePr>
        <p:xfrm>
          <a:off x="4876800" y="5486400"/>
          <a:ext cx="412750" cy="3254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9" imgW="228600" imgH="228600" progId="Equation.3">
                  <p:embed/>
                </p:oleObj>
              </mc:Choice>
              <mc:Fallback>
                <p:oleObj name="Equation" r:id="rId9" imgW="228600" imgH="228600" progId="Equation.3">
                  <p:embed/>
                  <p:pic>
                    <p:nvPicPr>
                      <p:cNvPr id="0" name="Picture 4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876800" y="5486400"/>
                        <a:ext cx="412750" cy="325438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129" name="Line 57"/>
          <p:cNvSpPr>
            <a:spLocks noChangeShapeType="1"/>
          </p:cNvSpPr>
          <p:nvPr/>
        </p:nvSpPr>
        <p:spPr bwMode="auto">
          <a:xfrm>
            <a:off x="4648200" y="5334000"/>
            <a:ext cx="1588" cy="228600"/>
          </a:xfrm>
          <a:prstGeom prst="line">
            <a:avLst/>
          </a:prstGeom>
          <a:noFill/>
          <a:ln w="38100">
            <a:solidFill>
              <a:schemeClr val="tx1"/>
            </a:solidFill>
            <a:prstDash val="sysDot"/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3132" name="Line 60"/>
          <p:cNvSpPr>
            <a:spLocks noChangeShapeType="1"/>
          </p:cNvSpPr>
          <p:nvPr/>
        </p:nvSpPr>
        <p:spPr bwMode="auto">
          <a:xfrm>
            <a:off x="5410200" y="5410200"/>
            <a:ext cx="2362200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graphicFrame>
        <p:nvGraphicFramePr>
          <p:cNvPr id="3136" name="Object 64"/>
          <p:cNvGraphicFramePr>
            <a:graphicFrameLocks noChangeAspect="1"/>
          </p:cNvGraphicFramePr>
          <p:nvPr/>
        </p:nvGraphicFramePr>
        <p:xfrm>
          <a:off x="5334000" y="4953000"/>
          <a:ext cx="2230438" cy="3571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1" imgW="1422400" imgH="228600" progId="Equation.3">
                  <p:embed/>
                </p:oleObj>
              </mc:Choice>
              <mc:Fallback>
                <p:oleObj name="Equation" r:id="rId11" imgW="1422400" imgH="228600" progId="Equation.3">
                  <p:embed/>
                  <p:pic>
                    <p:nvPicPr>
                      <p:cNvPr id="0" name="Picture 4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334000" y="4953000"/>
                        <a:ext cx="2230438" cy="357188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cxnSp>
        <p:nvCxnSpPr>
          <p:cNvPr id="3" name="Straight Arrow Connector 2"/>
          <p:cNvCxnSpPr/>
          <p:nvPr/>
        </p:nvCxnSpPr>
        <p:spPr bwMode="auto">
          <a:xfrm flipH="1">
            <a:off x="5943600" y="4758197"/>
            <a:ext cx="266700" cy="194803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arrow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7" name="TextBox 6"/>
          <p:cNvSpPr txBox="1"/>
          <p:nvPr/>
        </p:nvSpPr>
        <p:spPr>
          <a:xfrm>
            <a:off x="6152972" y="4583668"/>
            <a:ext cx="139012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/>
              <a:t>Activation function</a:t>
            </a:r>
          </a:p>
        </p:txBody>
      </p:sp>
      <p:sp>
        <p:nvSpPr>
          <p:cNvPr id="2" name="Rectangle 1"/>
          <p:cNvSpPr/>
          <p:nvPr/>
        </p:nvSpPr>
        <p:spPr>
          <a:xfrm>
            <a:off x="8006697" y="4452863"/>
            <a:ext cx="934998" cy="2616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100" dirty="0"/>
              <a:t>L. </a:t>
            </a:r>
            <a:r>
              <a:rPr lang="en-US" sz="1100" dirty="0" err="1"/>
              <a:t>Fausett</a:t>
            </a:r>
            <a:endParaRPr lang="en-US" sz="1100" dirty="0"/>
          </a:p>
        </p:txBody>
      </p:sp>
    </p:spTree>
    <p:extLst>
      <p:ext uri="{BB962C8B-B14F-4D97-AF65-F5344CB8AC3E}">
        <p14:creationId xmlns:p14="http://schemas.microsoft.com/office/powerpoint/2010/main" val="314382094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en-US"/>
              <a:t>2014</a:t>
            </a:r>
          </a:p>
        </p:txBody>
      </p:sp>
      <p:sp>
        <p:nvSpPr>
          <p:cNvPr id="53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CFE010-63BD-40B4-A2CA-06B0FF8F4827}" type="slidenum">
              <a:rPr lang="en-US" altLang="en-US"/>
              <a:pPr/>
              <a:t>17</a:t>
            </a:fld>
            <a:endParaRPr lang="en-US" altLang="en-US"/>
          </a:p>
        </p:txBody>
      </p:sp>
      <p:sp>
        <p:nvSpPr>
          <p:cNvPr id="19536" name="AutoShape 80"/>
          <p:cNvSpPr>
            <a:spLocks noChangeArrowheads="1"/>
          </p:cNvSpPr>
          <p:nvPr/>
        </p:nvSpPr>
        <p:spPr bwMode="auto">
          <a:xfrm>
            <a:off x="304800" y="127000"/>
            <a:ext cx="8610600" cy="711200"/>
          </a:xfrm>
          <a:prstGeom prst="roundRect">
            <a:avLst>
              <a:gd name="adj" fmla="val 16667"/>
            </a:avLst>
          </a:prstGeom>
          <a:solidFill>
            <a:srgbClr val="FFCCFF"/>
          </a:solidFill>
          <a:ln w="34925">
            <a:solidFill>
              <a:srgbClr val="FF3300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9537" name="AutoShape 81"/>
          <p:cNvSpPr>
            <a:spLocks noChangeArrowheads="1"/>
          </p:cNvSpPr>
          <p:nvPr/>
        </p:nvSpPr>
        <p:spPr bwMode="auto">
          <a:xfrm>
            <a:off x="304800" y="914400"/>
            <a:ext cx="8610600" cy="4953000"/>
          </a:xfrm>
          <a:prstGeom prst="roundRect">
            <a:avLst>
              <a:gd name="adj" fmla="val 16667"/>
            </a:avLst>
          </a:prstGeom>
          <a:noFill/>
          <a:ln w="34925">
            <a:solidFill>
              <a:srgbClr val="FF33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9458" name="Rectangle 2"/>
          <p:cNvSpPr>
            <a:spLocks noChangeArrowheads="1"/>
          </p:cNvSpPr>
          <p:nvPr/>
        </p:nvSpPr>
        <p:spPr bwMode="auto">
          <a:xfrm>
            <a:off x="914400" y="1295400"/>
            <a:ext cx="7543800" cy="4648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2075" tIns="46038" rIns="92075" bIns="46038"/>
          <a:lstStyle>
            <a:lvl1pPr marL="342900" indent="-34290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itchFamily="18" charset="0"/>
              </a:defRPr>
            </a:lvl2pPr>
            <a:lvl3pPr marL="108585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lvl="1">
              <a:buSzPct val="120000"/>
            </a:pPr>
            <a:r>
              <a:rPr lang="en-US" altLang="en-US" sz="2000" b="0" dirty="0">
                <a:solidFill>
                  <a:schemeClr val="tx2"/>
                </a:solidFill>
              </a:rPr>
              <a:t>Artificial neural nets:</a:t>
            </a:r>
          </a:p>
          <a:p>
            <a:pPr lvl="1">
              <a:buSzPct val="120000"/>
            </a:pPr>
            <a:endParaRPr lang="en-US" altLang="en-US" sz="2000" b="0" dirty="0">
              <a:solidFill>
                <a:schemeClr val="tx2"/>
              </a:solidFill>
            </a:endParaRPr>
          </a:p>
          <a:p>
            <a:pPr lvl="2">
              <a:buSzPct val="120000"/>
            </a:pPr>
            <a:r>
              <a:rPr lang="en-US" altLang="en-US" sz="1800" dirty="0">
                <a:solidFill>
                  <a:schemeClr val="tx2"/>
                </a:solidFill>
              </a:rPr>
              <a:t>Single-layer</a:t>
            </a:r>
            <a:r>
              <a:rPr lang="en-US" altLang="en-US" sz="1800" b="0" dirty="0">
                <a:solidFill>
                  <a:schemeClr val="tx2"/>
                </a:solidFill>
              </a:rPr>
              <a:t>:</a:t>
            </a:r>
          </a:p>
          <a:p>
            <a:pPr lvl="2">
              <a:buSzPct val="120000"/>
            </a:pPr>
            <a:endParaRPr lang="en-US" altLang="en-US" sz="1800" dirty="0">
              <a:solidFill>
                <a:schemeClr val="tx2"/>
              </a:solidFill>
            </a:endParaRPr>
          </a:p>
          <a:p>
            <a:pPr lvl="2">
              <a:buSzPct val="120000"/>
            </a:pPr>
            <a:endParaRPr lang="en-US" altLang="en-US" sz="1800" b="0" dirty="0">
              <a:solidFill>
                <a:schemeClr val="tx2"/>
              </a:solidFill>
            </a:endParaRPr>
          </a:p>
          <a:p>
            <a:pPr lvl="2">
              <a:buSzPct val="120000"/>
            </a:pPr>
            <a:endParaRPr lang="en-US" altLang="en-US" sz="1800" dirty="0">
              <a:solidFill>
                <a:schemeClr val="tx2"/>
              </a:solidFill>
            </a:endParaRPr>
          </a:p>
          <a:p>
            <a:pPr lvl="2">
              <a:buSzPct val="120000"/>
            </a:pPr>
            <a:endParaRPr lang="en-US" altLang="en-US" sz="1800" b="0" dirty="0">
              <a:solidFill>
                <a:schemeClr val="tx2"/>
              </a:solidFill>
            </a:endParaRPr>
          </a:p>
          <a:p>
            <a:pPr lvl="2">
              <a:buSzPct val="120000"/>
            </a:pPr>
            <a:endParaRPr lang="en-US" altLang="en-US" sz="1800" dirty="0">
              <a:solidFill>
                <a:schemeClr val="tx2"/>
              </a:solidFill>
            </a:endParaRPr>
          </a:p>
          <a:p>
            <a:pPr lvl="2">
              <a:buSzPct val="120000"/>
            </a:pPr>
            <a:r>
              <a:rPr lang="en-US" altLang="en-US" sz="1800" b="0" dirty="0">
                <a:solidFill>
                  <a:schemeClr val="tx2"/>
                </a:solidFill>
              </a:rPr>
              <a:t>Multi-layer</a:t>
            </a:r>
          </a:p>
          <a:p>
            <a:pPr lvl="1">
              <a:buSzPct val="120000"/>
            </a:pPr>
            <a:endParaRPr lang="en-US" altLang="en-US" sz="2000" b="0" dirty="0">
              <a:solidFill>
                <a:schemeClr val="tx2"/>
              </a:solidFill>
            </a:endParaRPr>
          </a:p>
          <a:p>
            <a:pPr lvl="1">
              <a:buSzPct val="120000"/>
            </a:pPr>
            <a:endParaRPr lang="en-US" altLang="en-US" sz="2000" b="0" dirty="0">
              <a:solidFill>
                <a:schemeClr val="tx2"/>
              </a:solidFill>
            </a:endParaRPr>
          </a:p>
          <a:p>
            <a:pPr lvl="1">
              <a:buSzPct val="120000"/>
            </a:pPr>
            <a:endParaRPr lang="en-US" altLang="en-US" sz="2000" b="0" dirty="0">
              <a:solidFill>
                <a:schemeClr val="tx2"/>
              </a:solidFill>
            </a:endParaRPr>
          </a:p>
          <a:p>
            <a:pPr lvl="1">
              <a:buSzPct val="120000"/>
            </a:pPr>
            <a:endParaRPr lang="en-US" altLang="en-US" sz="2000" b="0" dirty="0">
              <a:solidFill>
                <a:schemeClr val="tx2"/>
              </a:solidFill>
            </a:endParaRPr>
          </a:p>
        </p:txBody>
      </p:sp>
      <p:sp>
        <p:nvSpPr>
          <p:cNvPr id="19459" name="Rectangle 3"/>
          <p:cNvSpPr>
            <a:spLocks noChangeArrowheads="1"/>
          </p:cNvSpPr>
          <p:nvPr/>
        </p:nvSpPr>
        <p:spPr bwMode="auto">
          <a:xfrm>
            <a:off x="1143000" y="228600"/>
            <a:ext cx="6781800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ctr"/>
            <a:r>
              <a:rPr lang="en-US" altLang="en-US" sz="2400" b="0" i="1" dirty="0">
                <a:solidFill>
                  <a:schemeClr val="accent2"/>
                </a:solidFill>
                <a:latin typeface="Arial" charset="0"/>
              </a:rPr>
              <a:t>From biological to artificial neural net (continued)</a:t>
            </a:r>
          </a:p>
        </p:txBody>
      </p:sp>
      <p:sp>
        <p:nvSpPr>
          <p:cNvPr id="19490" name="Oval 34"/>
          <p:cNvSpPr>
            <a:spLocks noChangeArrowheads="1"/>
          </p:cNvSpPr>
          <p:nvPr/>
        </p:nvSpPr>
        <p:spPr bwMode="auto">
          <a:xfrm>
            <a:off x="5567764" y="1910306"/>
            <a:ext cx="102747" cy="113878"/>
          </a:xfrm>
          <a:prstGeom prst="ellipse">
            <a:avLst/>
          </a:prstGeom>
          <a:solidFill>
            <a:srgbClr val="0066FF"/>
          </a:solidFill>
          <a:ln w="12700" cap="sq">
            <a:solidFill>
              <a:schemeClr val="tx1"/>
            </a:solidFill>
            <a:round/>
            <a:headEnd type="none" w="sm" len="sm"/>
            <a:tailEnd type="none" w="sm" len="sm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endParaRPr lang="en-US" altLang="en-US" sz="1400" b="0"/>
          </a:p>
        </p:txBody>
      </p:sp>
      <p:sp>
        <p:nvSpPr>
          <p:cNvPr id="19491" name="Oval 35"/>
          <p:cNvSpPr>
            <a:spLocks noChangeArrowheads="1"/>
          </p:cNvSpPr>
          <p:nvPr/>
        </p:nvSpPr>
        <p:spPr bwMode="auto">
          <a:xfrm>
            <a:off x="5567764" y="2251940"/>
            <a:ext cx="102747" cy="113878"/>
          </a:xfrm>
          <a:prstGeom prst="ellipse">
            <a:avLst/>
          </a:prstGeom>
          <a:solidFill>
            <a:srgbClr val="0066FF"/>
          </a:solidFill>
          <a:ln w="12700" cap="sq">
            <a:solidFill>
              <a:schemeClr val="tx1"/>
            </a:solidFill>
            <a:round/>
            <a:headEnd type="none" w="sm" len="sm"/>
            <a:tailEnd type="none" w="sm" len="sm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endParaRPr lang="en-US" altLang="en-US" sz="1400" b="0"/>
          </a:p>
        </p:txBody>
      </p:sp>
      <p:sp>
        <p:nvSpPr>
          <p:cNvPr id="19492" name="Oval 36"/>
          <p:cNvSpPr>
            <a:spLocks noChangeArrowheads="1"/>
          </p:cNvSpPr>
          <p:nvPr/>
        </p:nvSpPr>
        <p:spPr bwMode="auto">
          <a:xfrm>
            <a:off x="6441117" y="1170097"/>
            <a:ext cx="205495" cy="227756"/>
          </a:xfrm>
          <a:prstGeom prst="ellipse">
            <a:avLst/>
          </a:prstGeom>
          <a:solidFill>
            <a:srgbClr val="FF0000"/>
          </a:solidFill>
          <a:ln w="12700" cap="sq">
            <a:solidFill>
              <a:schemeClr val="tx1"/>
            </a:solidFill>
            <a:round/>
            <a:headEnd type="none" w="sm" len="sm"/>
            <a:tailEnd type="none" w="sm" len="sm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 sz="1400"/>
          </a:p>
        </p:txBody>
      </p:sp>
      <p:sp>
        <p:nvSpPr>
          <p:cNvPr id="19493" name="Oval 37"/>
          <p:cNvSpPr>
            <a:spLocks noChangeArrowheads="1"/>
          </p:cNvSpPr>
          <p:nvPr/>
        </p:nvSpPr>
        <p:spPr bwMode="auto">
          <a:xfrm>
            <a:off x="6441117" y="1568671"/>
            <a:ext cx="205495" cy="227756"/>
          </a:xfrm>
          <a:prstGeom prst="ellipse">
            <a:avLst/>
          </a:prstGeom>
          <a:solidFill>
            <a:srgbClr val="FF0000"/>
          </a:solidFill>
          <a:ln w="12700" cap="sq">
            <a:solidFill>
              <a:schemeClr val="tx1"/>
            </a:solidFill>
            <a:round/>
            <a:headEnd type="none" w="sm" len="sm"/>
            <a:tailEnd type="none" w="sm" len="sm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 sz="1400"/>
          </a:p>
        </p:txBody>
      </p:sp>
      <p:sp>
        <p:nvSpPr>
          <p:cNvPr id="19494" name="Oval 38"/>
          <p:cNvSpPr>
            <a:spLocks noChangeArrowheads="1"/>
          </p:cNvSpPr>
          <p:nvPr/>
        </p:nvSpPr>
        <p:spPr bwMode="auto">
          <a:xfrm>
            <a:off x="6441117" y="2081123"/>
            <a:ext cx="205495" cy="227756"/>
          </a:xfrm>
          <a:prstGeom prst="ellipse">
            <a:avLst/>
          </a:prstGeom>
          <a:solidFill>
            <a:srgbClr val="FF0000"/>
          </a:solidFill>
          <a:ln w="12700" cap="sq">
            <a:solidFill>
              <a:schemeClr val="tx1"/>
            </a:solidFill>
            <a:round/>
            <a:headEnd type="none" w="sm" len="sm"/>
            <a:tailEnd type="none" w="sm" len="sm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 sz="1400"/>
          </a:p>
        </p:txBody>
      </p:sp>
      <p:sp>
        <p:nvSpPr>
          <p:cNvPr id="19495" name="Oval 39"/>
          <p:cNvSpPr>
            <a:spLocks noChangeArrowheads="1"/>
          </p:cNvSpPr>
          <p:nvPr/>
        </p:nvSpPr>
        <p:spPr bwMode="auto">
          <a:xfrm>
            <a:off x="6441117" y="2707453"/>
            <a:ext cx="205495" cy="227756"/>
          </a:xfrm>
          <a:prstGeom prst="ellipse">
            <a:avLst/>
          </a:prstGeom>
          <a:solidFill>
            <a:srgbClr val="FF0000"/>
          </a:solidFill>
          <a:ln w="12700" cap="sq">
            <a:solidFill>
              <a:schemeClr val="tx1"/>
            </a:solidFill>
            <a:round/>
            <a:headEnd type="none" w="sm" len="sm"/>
            <a:tailEnd type="none" w="sm" len="sm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 sz="1400"/>
          </a:p>
        </p:txBody>
      </p:sp>
      <p:sp>
        <p:nvSpPr>
          <p:cNvPr id="19496" name="Oval 40"/>
          <p:cNvSpPr>
            <a:spLocks noChangeArrowheads="1"/>
          </p:cNvSpPr>
          <p:nvPr/>
        </p:nvSpPr>
        <p:spPr bwMode="auto">
          <a:xfrm>
            <a:off x="6441117" y="3049088"/>
            <a:ext cx="205495" cy="227756"/>
          </a:xfrm>
          <a:prstGeom prst="ellipse">
            <a:avLst/>
          </a:prstGeom>
          <a:solidFill>
            <a:srgbClr val="FF0000"/>
          </a:solidFill>
          <a:ln w="12700" cap="sq">
            <a:solidFill>
              <a:schemeClr val="tx1"/>
            </a:solidFill>
            <a:round/>
            <a:headEnd type="none" w="sm" len="sm"/>
            <a:tailEnd type="none" w="sm" len="sm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 sz="1400"/>
          </a:p>
        </p:txBody>
      </p:sp>
      <p:sp>
        <p:nvSpPr>
          <p:cNvPr id="19497" name="Line 41"/>
          <p:cNvSpPr>
            <a:spLocks noChangeShapeType="1"/>
          </p:cNvSpPr>
          <p:nvPr/>
        </p:nvSpPr>
        <p:spPr bwMode="auto">
          <a:xfrm>
            <a:off x="5105400" y="1967245"/>
            <a:ext cx="462364" cy="1187"/>
          </a:xfrm>
          <a:prstGeom prst="line">
            <a:avLst/>
          </a:prstGeom>
          <a:noFill/>
          <a:ln w="28575" cap="sq">
            <a:solidFill>
              <a:schemeClr val="tx1"/>
            </a:solidFill>
            <a:round/>
            <a:headEnd type="none" w="sm" len="sm"/>
            <a:tailEnd type="triangl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 sz="1400"/>
          </a:p>
        </p:txBody>
      </p:sp>
      <p:sp>
        <p:nvSpPr>
          <p:cNvPr id="19498" name="Line 42"/>
          <p:cNvSpPr>
            <a:spLocks noChangeShapeType="1"/>
          </p:cNvSpPr>
          <p:nvPr/>
        </p:nvSpPr>
        <p:spPr bwMode="auto">
          <a:xfrm>
            <a:off x="5105400" y="2308879"/>
            <a:ext cx="462364" cy="1187"/>
          </a:xfrm>
          <a:prstGeom prst="line">
            <a:avLst/>
          </a:prstGeom>
          <a:noFill/>
          <a:ln w="28575" cap="sq">
            <a:solidFill>
              <a:schemeClr val="tx1"/>
            </a:solidFill>
            <a:round/>
            <a:headEnd type="none" w="sm" len="sm"/>
            <a:tailEnd type="triangl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 sz="1400"/>
          </a:p>
        </p:txBody>
      </p:sp>
      <p:sp>
        <p:nvSpPr>
          <p:cNvPr id="19499" name="Line 43"/>
          <p:cNvSpPr>
            <a:spLocks noChangeShapeType="1"/>
          </p:cNvSpPr>
          <p:nvPr/>
        </p:nvSpPr>
        <p:spPr bwMode="auto">
          <a:xfrm flipV="1">
            <a:off x="5670511" y="1283975"/>
            <a:ext cx="770606" cy="683269"/>
          </a:xfrm>
          <a:prstGeom prst="line">
            <a:avLst/>
          </a:prstGeom>
          <a:noFill/>
          <a:ln w="28575" cap="sq">
            <a:solidFill>
              <a:schemeClr val="tx1"/>
            </a:solidFill>
            <a:round/>
            <a:headEnd type="none" w="sm" len="sm"/>
            <a:tailEnd type="triangl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 sz="1400"/>
          </a:p>
        </p:txBody>
      </p:sp>
      <p:sp>
        <p:nvSpPr>
          <p:cNvPr id="19500" name="Line 44"/>
          <p:cNvSpPr>
            <a:spLocks noChangeShapeType="1"/>
          </p:cNvSpPr>
          <p:nvPr/>
        </p:nvSpPr>
        <p:spPr bwMode="auto">
          <a:xfrm flipV="1">
            <a:off x="5670511" y="1682549"/>
            <a:ext cx="770606" cy="626330"/>
          </a:xfrm>
          <a:prstGeom prst="line">
            <a:avLst/>
          </a:prstGeom>
          <a:noFill/>
          <a:ln w="28575" cap="sq">
            <a:solidFill>
              <a:schemeClr val="tx1"/>
            </a:solidFill>
            <a:round/>
            <a:headEnd type="none" w="sm" len="sm"/>
            <a:tailEnd type="triangl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 sz="1400"/>
          </a:p>
        </p:txBody>
      </p:sp>
      <p:sp>
        <p:nvSpPr>
          <p:cNvPr id="19501" name="Line 45"/>
          <p:cNvSpPr>
            <a:spLocks noChangeShapeType="1"/>
          </p:cNvSpPr>
          <p:nvPr/>
        </p:nvSpPr>
        <p:spPr bwMode="auto">
          <a:xfrm flipV="1">
            <a:off x="5670511" y="2195001"/>
            <a:ext cx="770606" cy="113878"/>
          </a:xfrm>
          <a:prstGeom prst="line">
            <a:avLst/>
          </a:prstGeom>
          <a:noFill/>
          <a:ln w="28575" cap="sq">
            <a:solidFill>
              <a:schemeClr val="tx1"/>
            </a:solidFill>
            <a:round/>
            <a:headEnd type="none" w="sm" len="sm"/>
            <a:tailEnd type="triangl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 sz="1400"/>
          </a:p>
        </p:txBody>
      </p:sp>
      <p:sp>
        <p:nvSpPr>
          <p:cNvPr id="19502" name="Line 46"/>
          <p:cNvSpPr>
            <a:spLocks noChangeShapeType="1"/>
          </p:cNvSpPr>
          <p:nvPr/>
        </p:nvSpPr>
        <p:spPr bwMode="auto">
          <a:xfrm>
            <a:off x="5670511" y="2308879"/>
            <a:ext cx="770606" cy="512452"/>
          </a:xfrm>
          <a:prstGeom prst="line">
            <a:avLst/>
          </a:prstGeom>
          <a:noFill/>
          <a:ln w="28575" cap="sq">
            <a:solidFill>
              <a:schemeClr val="tx1"/>
            </a:solidFill>
            <a:round/>
            <a:headEnd type="none" w="sm" len="sm"/>
            <a:tailEnd type="triangl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 sz="1400"/>
          </a:p>
        </p:txBody>
      </p:sp>
      <p:sp>
        <p:nvSpPr>
          <p:cNvPr id="19503" name="Line 47"/>
          <p:cNvSpPr>
            <a:spLocks noChangeShapeType="1"/>
          </p:cNvSpPr>
          <p:nvPr/>
        </p:nvSpPr>
        <p:spPr bwMode="auto">
          <a:xfrm>
            <a:off x="5721885" y="2365818"/>
            <a:ext cx="719232" cy="797148"/>
          </a:xfrm>
          <a:prstGeom prst="line">
            <a:avLst/>
          </a:prstGeom>
          <a:noFill/>
          <a:ln w="28575" cap="sq">
            <a:solidFill>
              <a:schemeClr val="tx1"/>
            </a:solidFill>
            <a:round/>
            <a:headEnd type="none" w="sm" len="sm"/>
            <a:tailEnd type="triangl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 sz="1400"/>
          </a:p>
        </p:txBody>
      </p:sp>
      <p:sp>
        <p:nvSpPr>
          <p:cNvPr id="19504" name="Line 48"/>
          <p:cNvSpPr>
            <a:spLocks noChangeShapeType="1"/>
          </p:cNvSpPr>
          <p:nvPr/>
        </p:nvSpPr>
        <p:spPr bwMode="auto">
          <a:xfrm>
            <a:off x="5670511" y="1967245"/>
            <a:ext cx="770606" cy="1195721"/>
          </a:xfrm>
          <a:prstGeom prst="line">
            <a:avLst/>
          </a:prstGeom>
          <a:noFill/>
          <a:ln w="28575" cap="sq">
            <a:solidFill>
              <a:schemeClr val="tx1"/>
            </a:solidFill>
            <a:round/>
            <a:headEnd type="none" w="sm" len="sm"/>
            <a:tailEnd type="triangl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 sz="1400"/>
          </a:p>
        </p:txBody>
      </p:sp>
      <p:sp>
        <p:nvSpPr>
          <p:cNvPr id="19505" name="Line 49"/>
          <p:cNvSpPr>
            <a:spLocks noChangeShapeType="1"/>
          </p:cNvSpPr>
          <p:nvPr/>
        </p:nvSpPr>
        <p:spPr bwMode="auto">
          <a:xfrm>
            <a:off x="5670511" y="1967245"/>
            <a:ext cx="770606" cy="854087"/>
          </a:xfrm>
          <a:prstGeom prst="line">
            <a:avLst/>
          </a:prstGeom>
          <a:noFill/>
          <a:ln w="28575" cap="sq">
            <a:solidFill>
              <a:schemeClr val="tx1"/>
            </a:solidFill>
            <a:round/>
            <a:headEnd type="none" w="sm" len="sm"/>
            <a:tailEnd type="triangl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 sz="1400"/>
          </a:p>
        </p:txBody>
      </p:sp>
      <p:sp>
        <p:nvSpPr>
          <p:cNvPr id="19506" name="Line 50"/>
          <p:cNvSpPr>
            <a:spLocks noChangeShapeType="1"/>
          </p:cNvSpPr>
          <p:nvPr/>
        </p:nvSpPr>
        <p:spPr bwMode="auto">
          <a:xfrm>
            <a:off x="5670511" y="1967245"/>
            <a:ext cx="770606" cy="170817"/>
          </a:xfrm>
          <a:prstGeom prst="line">
            <a:avLst/>
          </a:prstGeom>
          <a:noFill/>
          <a:ln w="28575" cap="sq">
            <a:solidFill>
              <a:schemeClr val="tx1"/>
            </a:solidFill>
            <a:round/>
            <a:headEnd type="none" w="sm" len="sm"/>
            <a:tailEnd type="triangl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 sz="1400"/>
          </a:p>
        </p:txBody>
      </p:sp>
      <p:sp>
        <p:nvSpPr>
          <p:cNvPr id="19507" name="Line 51"/>
          <p:cNvSpPr>
            <a:spLocks noChangeShapeType="1"/>
          </p:cNvSpPr>
          <p:nvPr/>
        </p:nvSpPr>
        <p:spPr bwMode="auto">
          <a:xfrm flipV="1">
            <a:off x="5670511" y="1682549"/>
            <a:ext cx="770606" cy="284696"/>
          </a:xfrm>
          <a:prstGeom prst="line">
            <a:avLst/>
          </a:prstGeom>
          <a:noFill/>
          <a:ln w="28575" cap="sq">
            <a:solidFill>
              <a:schemeClr val="tx1"/>
            </a:solidFill>
            <a:round/>
            <a:headEnd type="none" w="sm" len="sm"/>
            <a:tailEnd type="triangl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 sz="1400"/>
          </a:p>
        </p:txBody>
      </p:sp>
      <p:sp>
        <p:nvSpPr>
          <p:cNvPr id="19508" name="Line 52"/>
          <p:cNvSpPr>
            <a:spLocks noChangeShapeType="1"/>
          </p:cNvSpPr>
          <p:nvPr/>
        </p:nvSpPr>
        <p:spPr bwMode="auto">
          <a:xfrm flipV="1">
            <a:off x="5670511" y="1283975"/>
            <a:ext cx="770606" cy="1024904"/>
          </a:xfrm>
          <a:prstGeom prst="line">
            <a:avLst/>
          </a:prstGeom>
          <a:noFill/>
          <a:ln w="28575" cap="sq">
            <a:solidFill>
              <a:schemeClr val="tx1"/>
            </a:solidFill>
            <a:round/>
            <a:headEnd type="none" w="sm" len="sm"/>
            <a:tailEnd type="triangl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 sz="1400"/>
          </a:p>
        </p:txBody>
      </p:sp>
      <p:sp>
        <p:nvSpPr>
          <p:cNvPr id="19509" name="Text Box 53"/>
          <p:cNvSpPr txBox="1">
            <a:spLocks noChangeArrowheads="1"/>
          </p:cNvSpPr>
          <p:nvPr/>
        </p:nvSpPr>
        <p:spPr bwMode="auto">
          <a:xfrm>
            <a:off x="6646612" y="1056219"/>
            <a:ext cx="494113" cy="19548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rgbClr val="FF0000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en-US" sz="1100" dirty="0">
                <a:solidFill>
                  <a:srgbClr val="FF0000"/>
                </a:solidFill>
                <a:latin typeface="Arial" charset="0"/>
              </a:rPr>
              <a:t>neuron </a:t>
            </a:r>
            <a:r>
              <a:rPr lang="en-US" altLang="en-US" sz="1100" dirty="0">
                <a:solidFill>
                  <a:srgbClr val="FF0000"/>
                </a:solidFill>
              </a:rPr>
              <a:t>1</a:t>
            </a:r>
            <a:endParaRPr lang="en-US" altLang="en-US" sz="1400" b="0" dirty="0"/>
          </a:p>
        </p:txBody>
      </p:sp>
      <p:sp>
        <p:nvSpPr>
          <p:cNvPr id="19510" name="Line 54"/>
          <p:cNvSpPr>
            <a:spLocks noChangeShapeType="1"/>
          </p:cNvSpPr>
          <p:nvPr/>
        </p:nvSpPr>
        <p:spPr bwMode="auto">
          <a:xfrm>
            <a:off x="5362269" y="2024184"/>
            <a:ext cx="1071" cy="227756"/>
          </a:xfrm>
          <a:prstGeom prst="line">
            <a:avLst/>
          </a:prstGeom>
          <a:noFill/>
          <a:ln w="38100">
            <a:solidFill>
              <a:schemeClr val="tx1"/>
            </a:solidFill>
            <a:prstDash val="sysDot"/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 sz="1400"/>
          </a:p>
        </p:txBody>
      </p:sp>
      <p:sp>
        <p:nvSpPr>
          <p:cNvPr id="19511" name="Line 55"/>
          <p:cNvSpPr>
            <a:spLocks noChangeShapeType="1"/>
          </p:cNvSpPr>
          <p:nvPr/>
        </p:nvSpPr>
        <p:spPr bwMode="auto">
          <a:xfrm flipH="1">
            <a:off x="6543864" y="1853367"/>
            <a:ext cx="0" cy="170817"/>
          </a:xfrm>
          <a:prstGeom prst="line">
            <a:avLst/>
          </a:prstGeom>
          <a:noFill/>
          <a:ln w="38100">
            <a:solidFill>
              <a:schemeClr val="tx1"/>
            </a:solidFill>
            <a:prstDash val="sysDot"/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 sz="1400"/>
          </a:p>
        </p:txBody>
      </p:sp>
      <p:graphicFrame>
        <p:nvGraphicFramePr>
          <p:cNvPr id="19512" name="Object 5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614034549"/>
              </p:ext>
            </p:extLst>
          </p:nvPr>
        </p:nvGraphicFramePr>
        <p:xfrm>
          <a:off x="5105400" y="1739488"/>
          <a:ext cx="159473" cy="25029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152268" imgH="215713" progId="Equation.3">
                  <p:embed/>
                </p:oleObj>
              </mc:Choice>
              <mc:Fallback>
                <p:oleObj name="Equation" r:id="rId2" imgW="152268" imgH="215713" progId="Equation.3">
                  <p:embed/>
                  <p:pic>
                    <p:nvPicPr>
                      <p:cNvPr id="0" name="Picture 16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105400" y="1739488"/>
                        <a:ext cx="159473" cy="25029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9513" name="Object 5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548788403"/>
              </p:ext>
            </p:extLst>
          </p:nvPr>
        </p:nvGraphicFramePr>
        <p:xfrm>
          <a:off x="5105400" y="2081123"/>
          <a:ext cx="212987" cy="26690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203112" imgH="228501" progId="Equation.3">
                  <p:embed/>
                </p:oleObj>
              </mc:Choice>
              <mc:Fallback>
                <p:oleObj name="Equation" r:id="rId4" imgW="203112" imgH="228501" progId="Equation.3">
                  <p:embed/>
                  <p:pic>
                    <p:nvPicPr>
                      <p:cNvPr id="0" name="Picture 16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105400" y="2081123"/>
                        <a:ext cx="212987" cy="266902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9514" name="Object 5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662663735"/>
              </p:ext>
            </p:extLst>
          </p:nvPr>
        </p:nvGraphicFramePr>
        <p:xfrm>
          <a:off x="5800016" y="2650514"/>
          <a:ext cx="393865" cy="26690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304668" imgH="228501" progId="Equation.3">
                  <p:embed/>
                </p:oleObj>
              </mc:Choice>
              <mc:Fallback>
                <p:oleObj name="Equation" r:id="rId6" imgW="304668" imgH="228501" progId="Equation.3">
                  <p:embed/>
                  <p:pic>
                    <p:nvPicPr>
                      <p:cNvPr id="0" name="Picture 16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800016" y="2650514"/>
                        <a:ext cx="393865" cy="266902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9515" name="Text Box 59"/>
          <p:cNvSpPr txBox="1">
            <a:spLocks noChangeArrowheads="1"/>
          </p:cNvSpPr>
          <p:nvPr/>
        </p:nvSpPr>
        <p:spPr bwMode="auto">
          <a:xfrm>
            <a:off x="6646612" y="1397854"/>
            <a:ext cx="494113" cy="19548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rgbClr val="FF0000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en-US" sz="1100" dirty="0">
                <a:solidFill>
                  <a:srgbClr val="FF0000"/>
                </a:solidFill>
                <a:latin typeface="Arial" charset="0"/>
              </a:rPr>
              <a:t>neuron </a:t>
            </a:r>
            <a:r>
              <a:rPr lang="en-US" altLang="en-US" sz="1100" dirty="0">
                <a:solidFill>
                  <a:srgbClr val="FF0000"/>
                </a:solidFill>
              </a:rPr>
              <a:t>2</a:t>
            </a:r>
            <a:endParaRPr lang="en-US" altLang="en-US" sz="1400" b="0" dirty="0"/>
          </a:p>
        </p:txBody>
      </p:sp>
      <p:sp>
        <p:nvSpPr>
          <p:cNvPr id="19516" name="Text Box 60"/>
          <p:cNvSpPr txBox="1">
            <a:spLocks noChangeArrowheads="1"/>
          </p:cNvSpPr>
          <p:nvPr/>
        </p:nvSpPr>
        <p:spPr bwMode="auto">
          <a:xfrm>
            <a:off x="6646612" y="2935210"/>
            <a:ext cx="712810" cy="19548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rgbClr val="FF0000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r>
              <a:rPr lang="en-US" altLang="en-US" sz="1100" dirty="0">
                <a:solidFill>
                  <a:srgbClr val="FF0000"/>
                </a:solidFill>
                <a:latin typeface="Arial" charset="0"/>
              </a:rPr>
              <a:t>neuron </a:t>
            </a:r>
            <a:r>
              <a:rPr lang="en-US" altLang="en-US" sz="1100" b="0" i="1" dirty="0">
                <a:solidFill>
                  <a:srgbClr val="FF0000"/>
                </a:solidFill>
              </a:rPr>
              <a:t>M</a:t>
            </a:r>
            <a:endParaRPr lang="en-US" altLang="en-US" sz="1400" b="0" dirty="0"/>
          </a:p>
        </p:txBody>
      </p:sp>
      <p:graphicFrame>
        <p:nvGraphicFramePr>
          <p:cNvPr id="19517" name="Object 6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148143712"/>
              </p:ext>
            </p:extLst>
          </p:nvPr>
        </p:nvGraphicFramePr>
        <p:xfrm>
          <a:off x="6272012" y="1853367"/>
          <a:ext cx="246166" cy="24317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8" imgW="203112" imgH="228501" progId="Equation.3">
                  <p:embed/>
                </p:oleObj>
              </mc:Choice>
              <mc:Fallback>
                <p:oleObj name="Equation" r:id="rId8" imgW="203112" imgH="228501" progId="Equation.3">
                  <p:embed/>
                  <p:pic>
                    <p:nvPicPr>
                      <p:cNvPr id="0" name="Picture 16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272012" y="1853367"/>
                        <a:ext cx="246166" cy="243178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9518" name="Object 6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960863454"/>
              </p:ext>
            </p:extLst>
          </p:nvPr>
        </p:nvGraphicFramePr>
        <p:xfrm>
          <a:off x="5817140" y="1397854"/>
          <a:ext cx="262220" cy="22775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0" imgW="215619" imgH="215619" progId="Equation.3">
                  <p:embed/>
                </p:oleObj>
              </mc:Choice>
              <mc:Fallback>
                <p:oleObj name="Equation" r:id="rId10" imgW="215619" imgH="215619" progId="Equation.3">
                  <p:embed/>
                  <p:pic>
                    <p:nvPicPr>
                      <p:cNvPr id="0" name="Picture 16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817140" y="1397854"/>
                        <a:ext cx="262220" cy="227756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9519" name="Object 6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560653155"/>
              </p:ext>
            </p:extLst>
          </p:nvPr>
        </p:nvGraphicFramePr>
        <p:xfrm>
          <a:off x="6205654" y="2195001"/>
          <a:ext cx="292188" cy="24317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2" imgW="241300" imgH="228600" progId="Equation.3">
                  <p:embed/>
                </p:oleObj>
              </mc:Choice>
              <mc:Fallback>
                <p:oleObj name="Equation" r:id="rId12" imgW="241300" imgH="228600" progId="Equation.3">
                  <p:embed/>
                  <p:pic>
                    <p:nvPicPr>
                      <p:cNvPr id="0" name="Picture 16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205654" y="2195001"/>
                        <a:ext cx="292188" cy="243178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9520" name="Text Box 64"/>
          <p:cNvSpPr txBox="1">
            <a:spLocks noChangeArrowheads="1"/>
          </p:cNvSpPr>
          <p:nvPr/>
        </p:nvSpPr>
        <p:spPr bwMode="auto">
          <a:xfrm>
            <a:off x="6646612" y="1910306"/>
            <a:ext cx="472499" cy="19548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rgbClr val="FF0000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en-US" sz="1100" dirty="0">
                <a:solidFill>
                  <a:srgbClr val="FF0000"/>
                </a:solidFill>
                <a:latin typeface="Arial" charset="0"/>
              </a:rPr>
              <a:t>neuron </a:t>
            </a:r>
            <a:r>
              <a:rPr lang="en-US" altLang="en-US" sz="1100" b="0" i="1" dirty="0" err="1">
                <a:solidFill>
                  <a:srgbClr val="FF0000"/>
                </a:solidFill>
              </a:rPr>
              <a:t>i</a:t>
            </a:r>
            <a:endParaRPr lang="en-US" altLang="en-US" sz="1400" b="0" dirty="0"/>
          </a:p>
        </p:txBody>
      </p:sp>
      <p:sp>
        <p:nvSpPr>
          <p:cNvPr id="19521" name="Line 65"/>
          <p:cNvSpPr>
            <a:spLocks noChangeShapeType="1"/>
          </p:cNvSpPr>
          <p:nvPr/>
        </p:nvSpPr>
        <p:spPr bwMode="auto">
          <a:xfrm>
            <a:off x="6543864" y="2422758"/>
            <a:ext cx="0" cy="227756"/>
          </a:xfrm>
          <a:prstGeom prst="line">
            <a:avLst/>
          </a:prstGeom>
          <a:noFill/>
          <a:ln w="38100">
            <a:solidFill>
              <a:schemeClr val="tx1"/>
            </a:solidFill>
            <a:prstDash val="sysDot"/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 sz="1400"/>
          </a:p>
        </p:txBody>
      </p:sp>
      <p:sp>
        <p:nvSpPr>
          <p:cNvPr id="19522" name="Line 66"/>
          <p:cNvSpPr>
            <a:spLocks noChangeShapeType="1"/>
          </p:cNvSpPr>
          <p:nvPr/>
        </p:nvSpPr>
        <p:spPr bwMode="auto">
          <a:xfrm>
            <a:off x="5619137" y="2081123"/>
            <a:ext cx="1071" cy="170817"/>
          </a:xfrm>
          <a:prstGeom prst="line">
            <a:avLst/>
          </a:prstGeom>
          <a:noFill/>
          <a:ln w="38100">
            <a:solidFill>
              <a:schemeClr val="tx1"/>
            </a:solidFill>
            <a:prstDash val="sysDot"/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 sz="1400"/>
          </a:p>
        </p:txBody>
      </p:sp>
      <p:sp>
        <p:nvSpPr>
          <p:cNvPr id="19523" name="Text Box 67"/>
          <p:cNvSpPr txBox="1">
            <a:spLocks noChangeArrowheads="1"/>
          </p:cNvSpPr>
          <p:nvPr/>
        </p:nvSpPr>
        <p:spPr bwMode="auto">
          <a:xfrm>
            <a:off x="6646612" y="2593575"/>
            <a:ext cx="770606" cy="19548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rgbClr val="FF0000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r>
              <a:rPr lang="en-US" altLang="en-US" sz="1100" dirty="0">
                <a:solidFill>
                  <a:srgbClr val="FF0000"/>
                </a:solidFill>
                <a:latin typeface="Arial" charset="0"/>
              </a:rPr>
              <a:t>neuron </a:t>
            </a:r>
            <a:r>
              <a:rPr lang="en-US" altLang="en-US" sz="1100" b="0" i="1" dirty="0">
                <a:solidFill>
                  <a:srgbClr val="FF0000"/>
                </a:solidFill>
              </a:rPr>
              <a:t>M-</a:t>
            </a:r>
            <a:r>
              <a:rPr lang="en-US" altLang="en-US" sz="1100" b="0" dirty="0">
                <a:solidFill>
                  <a:srgbClr val="FF0000"/>
                </a:solidFill>
              </a:rPr>
              <a:t>1</a:t>
            </a:r>
            <a:endParaRPr lang="en-US" altLang="en-US" sz="1400" b="0" dirty="0"/>
          </a:p>
        </p:txBody>
      </p:sp>
      <p:sp>
        <p:nvSpPr>
          <p:cNvPr id="19524" name="Line 68"/>
          <p:cNvSpPr>
            <a:spLocks noChangeShapeType="1"/>
          </p:cNvSpPr>
          <p:nvPr/>
        </p:nvSpPr>
        <p:spPr bwMode="auto">
          <a:xfrm>
            <a:off x="6646612" y="1283975"/>
            <a:ext cx="565111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 sz="1400"/>
          </a:p>
        </p:txBody>
      </p:sp>
      <p:sp>
        <p:nvSpPr>
          <p:cNvPr id="19525" name="Line 69"/>
          <p:cNvSpPr>
            <a:spLocks noChangeShapeType="1"/>
          </p:cNvSpPr>
          <p:nvPr/>
        </p:nvSpPr>
        <p:spPr bwMode="auto">
          <a:xfrm>
            <a:off x="6646612" y="1682549"/>
            <a:ext cx="565111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 sz="1400"/>
          </a:p>
        </p:txBody>
      </p:sp>
      <p:sp>
        <p:nvSpPr>
          <p:cNvPr id="19526" name="Line 70"/>
          <p:cNvSpPr>
            <a:spLocks noChangeShapeType="1"/>
          </p:cNvSpPr>
          <p:nvPr/>
        </p:nvSpPr>
        <p:spPr bwMode="auto">
          <a:xfrm>
            <a:off x="6646612" y="2195001"/>
            <a:ext cx="565111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 sz="1400"/>
          </a:p>
        </p:txBody>
      </p:sp>
      <p:sp>
        <p:nvSpPr>
          <p:cNvPr id="19527" name="Line 71"/>
          <p:cNvSpPr>
            <a:spLocks noChangeShapeType="1"/>
          </p:cNvSpPr>
          <p:nvPr/>
        </p:nvSpPr>
        <p:spPr bwMode="auto">
          <a:xfrm>
            <a:off x="6646612" y="2821331"/>
            <a:ext cx="565111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 sz="1400"/>
          </a:p>
        </p:txBody>
      </p:sp>
      <p:sp>
        <p:nvSpPr>
          <p:cNvPr id="19528" name="Line 72"/>
          <p:cNvSpPr>
            <a:spLocks noChangeShapeType="1"/>
          </p:cNvSpPr>
          <p:nvPr/>
        </p:nvSpPr>
        <p:spPr bwMode="auto">
          <a:xfrm>
            <a:off x="6646612" y="3162966"/>
            <a:ext cx="565111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 sz="1400"/>
          </a:p>
        </p:txBody>
      </p:sp>
      <p:graphicFrame>
        <p:nvGraphicFramePr>
          <p:cNvPr id="19529" name="Object 7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789563927"/>
              </p:ext>
            </p:extLst>
          </p:nvPr>
        </p:nvGraphicFramePr>
        <p:xfrm>
          <a:off x="7308049" y="1170097"/>
          <a:ext cx="173386" cy="25029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4" imgW="164885" imgH="215619" progId="Equation.3">
                  <p:embed/>
                </p:oleObj>
              </mc:Choice>
              <mc:Fallback>
                <p:oleObj name="Equation" r:id="rId14" imgW="164885" imgH="215619" progId="Equation.3">
                  <p:embed/>
                  <p:pic>
                    <p:nvPicPr>
                      <p:cNvPr id="0" name="Picture 16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308049" y="1170097"/>
                        <a:ext cx="173386" cy="25029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9530" name="Object 7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448353056"/>
              </p:ext>
            </p:extLst>
          </p:nvPr>
        </p:nvGraphicFramePr>
        <p:xfrm>
          <a:off x="7308049" y="1511732"/>
          <a:ext cx="187300" cy="25029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6" imgW="177569" imgH="215619" progId="Equation.3">
                  <p:embed/>
                </p:oleObj>
              </mc:Choice>
              <mc:Fallback>
                <p:oleObj name="Equation" r:id="rId16" imgW="177569" imgH="215619" progId="Equation.3">
                  <p:embed/>
                  <p:pic>
                    <p:nvPicPr>
                      <p:cNvPr id="0" name="Picture 16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308049" y="1511732"/>
                        <a:ext cx="187300" cy="25029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9531" name="Object 7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928272225"/>
              </p:ext>
            </p:extLst>
          </p:nvPr>
        </p:nvGraphicFramePr>
        <p:xfrm>
          <a:off x="7314470" y="2072820"/>
          <a:ext cx="173386" cy="26690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8" imgW="165028" imgH="228501" progId="Equation.3">
                  <p:embed/>
                </p:oleObj>
              </mc:Choice>
              <mc:Fallback>
                <p:oleObj name="Equation" r:id="rId18" imgW="165028" imgH="228501" progId="Equation.3">
                  <p:embed/>
                  <p:pic>
                    <p:nvPicPr>
                      <p:cNvPr id="0" name="Picture 17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314470" y="2072820"/>
                        <a:ext cx="173386" cy="266902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9532" name="Object 7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707136251"/>
              </p:ext>
            </p:extLst>
          </p:nvPr>
        </p:nvGraphicFramePr>
        <p:xfrm>
          <a:off x="7285573" y="2707453"/>
          <a:ext cx="334999" cy="25029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0" imgW="317087" imgH="215619" progId="Equation.3">
                  <p:embed/>
                </p:oleObj>
              </mc:Choice>
              <mc:Fallback>
                <p:oleObj name="Equation" r:id="rId20" imgW="317087" imgH="215619" progId="Equation.3">
                  <p:embed/>
                  <p:pic>
                    <p:nvPicPr>
                      <p:cNvPr id="0" name="Picture 17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285573" y="2707453"/>
                        <a:ext cx="334999" cy="25029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9533" name="Object 7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735025345"/>
              </p:ext>
            </p:extLst>
          </p:nvPr>
        </p:nvGraphicFramePr>
        <p:xfrm>
          <a:off x="7331595" y="3049088"/>
          <a:ext cx="241885" cy="25029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2" imgW="228501" imgH="215806" progId="Equation.3">
                  <p:embed/>
                </p:oleObj>
              </mc:Choice>
              <mc:Fallback>
                <p:oleObj name="Equation" r:id="rId22" imgW="228501" imgH="215806" progId="Equation.3">
                  <p:embed/>
                  <p:pic>
                    <p:nvPicPr>
                      <p:cNvPr id="0" name="Picture 17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331595" y="3049088"/>
                        <a:ext cx="241885" cy="25029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98" name="Oval 34"/>
          <p:cNvSpPr>
            <a:spLocks noChangeArrowheads="1"/>
          </p:cNvSpPr>
          <p:nvPr/>
        </p:nvSpPr>
        <p:spPr bwMode="auto">
          <a:xfrm>
            <a:off x="3607452" y="4460511"/>
            <a:ext cx="102747" cy="113878"/>
          </a:xfrm>
          <a:prstGeom prst="ellipse">
            <a:avLst/>
          </a:prstGeom>
          <a:solidFill>
            <a:srgbClr val="0066FF"/>
          </a:solidFill>
          <a:ln w="12700" cap="sq">
            <a:solidFill>
              <a:schemeClr val="tx1"/>
            </a:solidFill>
            <a:round/>
            <a:headEnd type="none" w="sm" len="sm"/>
            <a:tailEnd type="none" w="sm" len="sm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endParaRPr lang="en-US" altLang="en-US" sz="1400" b="0"/>
          </a:p>
        </p:txBody>
      </p:sp>
      <p:sp>
        <p:nvSpPr>
          <p:cNvPr id="99" name="Oval 35"/>
          <p:cNvSpPr>
            <a:spLocks noChangeArrowheads="1"/>
          </p:cNvSpPr>
          <p:nvPr/>
        </p:nvSpPr>
        <p:spPr bwMode="auto">
          <a:xfrm>
            <a:off x="3607452" y="4802145"/>
            <a:ext cx="102747" cy="113878"/>
          </a:xfrm>
          <a:prstGeom prst="ellipse">
            <a:avLst/>
          </a:prstGeom>
          <a:solidFill>
            <a:srgbClr val="0066FF"/>
          </a:solidFill>
          <a:ln w="12700" cap="sq">
            <a:solidFill>
              <a:schemeClr val="tx1"/>
            </a:solidFill>
            <a:round/>
            <a:headEnd type="none" w="sm" len="sm"/>
            <a:tailEnd type="none" w="sm" len="sm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endParaRPr lang="en-US" altLang="en-US" sz="1400" b="0"/>
          </a:p>
        </p:txBody>
      </p:sp>
      <p:sp>
        <p:nvSpPr>
          <p:cNvPr id="100" name="Oval 36"/>
          <p:cNvSpPr>
            <a:spLocks noChangeArrowheads="1"/>
          </p:cNvSpPr>
          <p:nvPr/>
        </p:nvSpPr>
        <p:spPr bwMode="auto">
          <a:xfrm>
            <a:off x="4480805" y="3720302"/>
            <a:ext cx="205495" cy="227756"/>
          </a:xfrm>
          <a:prstGeom prst="ellipse">
            <a:avLst/>
          </a:prstGeom>
          <a:solidFill>
            <a:srgbClr val="FF0000"/>
          </a:solidFill>
          <a:ln w="12700" cap="sq">
            <a:solidFill>
              <a:schemeClr val="tx1"/>
            </a:solidFill>
            <a:round/>
            <a:headEnd type="none" w="sm" len="sm"/>
            <a:tailEnd type="none" w="sm" len="sm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 sz="1400"/>
          </a:p>
        </p:txBody>
      </p:sp>
      <p:sp>
        <p:nvSpPr>
          <p:cNvPr id="101" name="Oval 37"/>
          <p:cNvSpPr>
            <a:spLocks noChangeArrowheads="1"/>
          </p:cNvSpPr>
          <p:nvPr/>
        </p:nvSpPr>
        <p:spPr bwMode="auto">
          <a:xfrm>
            <a:off x="4480805" y="4118876"/>
            <a:ext cx="205495" cy="227756"/>
          </a:xfrm>
          <a:prstGeom prst="ellipse">
            <a:avLst/>
          </a:prstGeom>
          <a:solidFill>
            <a:srgbClr val="FF0000"/>
          </a:solidFill>
          <a:ln w="12700" cap="sq">
            <a:solidFill>
              <a:schemeClr val="tx1"/>
            </a:solidFill>
            <a:round/>
            <a:headEnd type="none" w="sm" len="sm"/>
            <a:tailEnd type="none" w="sm" len="sm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 sz="1400"/>
          </a:p>
        </p:txBody>
      </p:sp>
      <p:sp>
        <p:nvSpPr>
          <p:cNvPr id="102" name="Oval 38"/>
          <p:cNvSpPr>
            <a:spLocks noChangeArrowheads="1"/>
          </p:cNvSpPr>
          <p:nvPr/>
        </p:nvSpPr>
        <p:spPr bwMode="auto">
          <a:xfrm>
            <a:off x="4480805" y="4631328"/>
            <a:ext cx="205495" cy="227756"/>
          </a:xfrm>
          <a:prstGeom prst="ellipse">
            <a:avLst/>
          </a:prstGeom>
          <a:solidFill>
            <a:srgbClr val="FF0000"/>
          </a:solidFill>
          <a:ln w="12700" cap="sq">
            <a:solidFill>
              <a:schemeClr val="tx1"/>
            </a:solidFill>
            <a:round/>
            <a:headEnd type="none" w="sm" len="sm"/>
            <a:tailEnd type="none" w="sm" len="sm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 sz="1400"/>
          </a:p>
        </p:txBody>
      </p:sp>
      <p:sp>
        <p:nvSpPr>
          <p:cNvPr id="103" name="Oval 39"/>
          <p:cNvSpPr>
            <a:spLocks noChangeArrowheads="1"/>
          </p:cNvSpPr>
          <p:nvPr/>
        </p:nvSpPr>
        <p:spPr bwMode="auto">
          <a:xfrm>
            <a:off x="4480805" y="5257658"/>
            <a:ext cx="205495" cy="227756"/>
          </a:xfrm>
          <a:prstGeom prst="ellipse">
            <a:avLst/>
          </a:prstGeom>
          <a:solidFill>
            <a:srgbClr val="FF0000"/>
          </a:solidFill>
          <a:ln w="12700" cap="sq">
            <a:solidFill>
              <a:schemeClr val="tx1"/>
            </a:solidFill>
            <a:round/>
            <a:headEnd type="none" w="sm" len="sm"/>
            <a:tailEnd type="none" w="sm" len="sm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 sz="1400"/>
          </a:p>
        </p:txBody>
      </p:sp>
      <p:sp>
        <p:nvSpPr>
          <p:cNvPr id="104" name="Oval 40"/>
          <p:cNvSpPr>
            <a:spLocks noChangeArrowheads="1"/>
          </p:cNvSpPr>
          <p:nvPr/>
        </p:nvSpPr>
        <p:spPr bwMode="auto">
          <a:xfrm>
            <a:off x="4480805" y="5599293"/>
            <a:ext cx="205495" cy="227756"/>
          </a:xfrm>
          <a:prstGeom prst="ellipse">
            <a:avLst/>
          </a:prstGeom>
          <a:solidFill>
            <a:srgbClr val="FF0000"/>
          </a:solidFill>
          <a:ln w="12700" cap="sq">
            <a:solidFill>
              <a:schemeClr val="tx1"/>
            </a:solidFill>
            <a:round/>
            <a:headEnd type="none" w="sm" len="sm"/>
            <a:tailEnd type="none" w="sm" len="sm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 sz="1400"/>
          </a:p>
        </p:txBody>
      </p:sp>
      <p:sp>
        <p:nvSpPr>
          <p:cNvPr id="105" name="Line 41"/>
          <p:cNvSpPr>
            <a:spLocks noChangeShapeType="1"/>
          </p:cNvSpPr>
          <p:nvPr/>
        </p:nvSpPr>
        <p:spPr bwMode="auto">
          <a:xfrm>
            <a:off x="3145088" y="4517450"/>
            <a:ext cx="462364" cy="1187"/>
          </a:xfrm>
          <a:prstGeom prst="line">
            <a:avLst/>
          </a:prstGeom>
          <a:noFill/>
          <a:ln w="28575" cap="sq">
            <a:solidFill>
              <a:schemeClr val="tx1"/>
            </a:solidFill>
            <a:round/>
            <a:headEnd type="none" w="sm" len="sm"/>
            <a:tailEnd type="triangl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 sz="1400"/>
          </a:p>
        </p:txBody>
      </p:sp>
      <p:sp>
        <p:nvSpPr>
          <p:cNvPr id="106" name="Line 42"/>
          <p:cNvSpPr>
            <a:spLocks noChangeShapeType="1"/>
          </p:cNvSpPr>
          <p:nvPr/>
        </p:nvSpPr>
        <p:spPr bwMode="auto">
          <a:xfrm>
            <a:off x="3145088" y="4859084"/>
            <a:ext cx="462364" cy="1187"/>
          </a:xfrm>
          <a:prstGeom prst="line">
            <a:avLst/>
          </a:prstGeom>
          <a:noFill/>
          <a:ln w="28575" cap="sq">
            <a:solidFill>
              <a:schemeClr val="tx1"/>
            </a:solidFill>
            <a:round/>
            <a:headEnd type="none" w="sm" len="sm"/>
            <a:tailEnd type="triangl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 sz="1400"/>
          </a:p>
        </p:txBody>
      </p:sp>
      <p:sp>
        <p:nvSpPr>
          <p:cNvPr id="107" name="Line 43"/>
          <p:cNvSpPr>
            <a:spLocks noChangeShapeType="1"/>
          </p:cNvSpPr>
          <p:nvPr/>
        </p:nvSpPr>
        <p:spPr bwMode="auto">
          <a:xfrm flipV="1">
            <a:off x="3710199" y="3834180"/>
            <a:ext cx="770606" cy="683269"/>
          </a:xfrm>
          <a:prstGeom prst="line">
            <a:avLst/>
          </a:prstGeom>
          <a:noFill/>
          <a:ln w="28575" cap="sq">
            <a:solidFill>
              <a:schemeClr val="tx1"/>
            </a:solidFill>
            <a:round/>
            <a:headEnd type="none" w="sm" len="sm"/>
            <a:tailEnd type="triangl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 sz="1400"/>
          </a:p>
        </p:txBody>
      </p:sp>
      <p:sp>
        <p:nvSpPr>
          <p:cNvPr id="108" name="Line 44"/>
          <p:cNvSpPr>
            <a:spLocks noChangeShapeType="1"/>
          </p:cNvSpPr>
          <p:nvPr/>
        </p:nvSpPr>
        <p:spPr bwMode="auto">
          <a:xfrm flipV="1">
            <a:off x="3710199" y="4232754"/>
            <a:ext cx="770606" cy="626330"/>
          </a:xfrm>
          <a:prstGeom prst="line">
            <a:avLst/>
          </a:prstGeom>
          <a:noFill/>
          <a:ln w="28575" cap="sq">
            <a:solidFill>
              <a:schemeClr val="tx1"/>
            </a:solidFill>
            <a:round/>
            <a:headEnd type="none" w="sm" len="sm"/>
            <a:tailEnd type="triangl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 sz="1400"/>
          </a:p>
        </p:txBody>
      </p:sp>
      <p:sp>
        <p:nvSpPr>
          <p:cNvPr id="109" name="Line 45"/>
          <p:cNvSpPr>
            <a:spLocks noChangeShapeType="1"/>
          </p:cNvSpPr>
          <p:nvPr/>
        </p:nvSpPr>
        <p:spPr bwMode="auto">
          <a:xfrm flipV="1">
            <a:off x="3710199" y="4745206"/>
            <a:ext cx="770606" cy="113878"/>
          </a:xfrm>
          <a:prstGeom prst="line">
            <a:avLst/>
          </a:prstGeom>
          <a:noFill/>
          <a:ln w="28575" cap="sq">
            <a:solidFill>
              <a:schemeClr val="tx1"/>
            </a:solidFill>
            <a:round/>
            <a:headEnd type="none" w="sm" len="sm"/>
            <a:tailEnd type="triangl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 sz="1400"/>
          </a:p>
        </p:txBody>
      </p:sp>
      <p:sp>
        <p:nvSpPr>
          <p:cNvPr id="110" name="Line 46"/>
          <p:cNvSpPr>
            <a:spLocks noChangeShapeType="1"/>
          </p:cNvSpPr>
          <p:nvPr/>
        </p:nvSpPr>
        <p:spPr bwMode="auto">
          <a:xfrm>
            <a:off x="3710199" y="4859084"/>
            <a:ext cx="770606" cy="512452"/>
          </a:xfrm>
          <a:prstGeom prst="line">
            <a:avLst/>
          </a:prstGeom>
          <a:noFill/>
          <a:ln w="28575" cap="sq">
            <a:solidFill>
              <a:schemeClr val="tx1"/>
            </a:solidFill>
            <a:round/>
            <a:headEnd type="none" w="sm" len="sm"/>
            <a:tailEnd type="triangl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 sz="1400"/>
          </a:p>
        </p:txBody>
      </p:sp>
      <p:sp>
        <p:nvSpPr>
          <p:cNvPr id="111" name="Line 47"/>
          <p:cNvSpPr>
            <a:spLocks noChangeShapeType="1"/>
          </p:cNvSpPr>
          <p:nvPr/>
        </p:nvSpPr>
        <p:spPr bwMode="auto">
          <a:xfrm>
            <a:off x="3761573" y="4916023"/>
            <a:ext cx="719232" cy="797148"/>
          </a:xfrm>
          <a:prstGeom prst="line">
            <a:avLst/>
          </a:prstGeom>
          <a:noFill/>
          <a:ln w="28575" cap="sq">
            <a:solidFill>
              <a:schemeClr val="tx1"/>
            </a:solidFill>
            <a:round/>
            <a:headEnd type="none" w="sm" len="sm"/>
            <a:tailEnd type="triangl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 sz="1400"/>
          </a:p>
        </p:txBody>
      </p:sp>
      <p:sp>
        <p:nvSpPr>
          <p:cNvPr id="112" name="Line 48"/>
          <p:cNvSpPr>
            <a:spLocks noChangeShapeType="1"/>
          </p:cNvSpPr>
          <p:nvPr/>
        </p:nvSpPr>
        <p:spPr bwMode="auto">
          <a:xfrm>
            <a:off x="3710199" y="4517450"/>
            <a:ext cx="770606" cy="1195721"/>
          </a:xfrm>
          <a:prstGeom prst="line">
            <a:avLst/>
          </a:prstGeom>
          <a:noFill/>
          <a:ln w="28575" cap="sq">
            <a:solidFill>
              <a:schemeClr val="tx1"/>
            </a:solidFill>
            <a:round/>
            <a:headEnd type="none" w="sm" len="sm"/>
            <a:tailEnd type="triangl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 sz="1400"/>
          </a:p>
        </p:txBody>
      </p:sp>
      <p:sp>
        <p:nvSpPr>
          <p:cNvPr id="113" name="Line 49"/>
          <p:cNvSpPr>
            <a:spLocks noChangeShapeType="1"/>
          </p:cNvSpPr>
          <p:nvPr/>
        </p:nvSpPr>
        <p:spPr bwMode="auto">
          <a:xfrm>
            <a:off x="3710199" y="4517450"/>
            <a:ext cx="770606" cy="854087"/>
          </a:xfrm>
          <a:prstGeom prst="line">
            <a:avLst/>
          </a:prstGeom>
          <a:noFill/>
          <a:ln w="28575" cap="sq">
            <a:solidFill>
              <a:schemeClr val="tx1"/>
            </a:solidFill>
            <a:round/>
            <a:headEnd type="none" w="sm" len="sm"/>
            <a:tailEnd type="triangl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 sz="1400"/>
          </a:p>
        </p:txBody>
      </p:sp>
      <p:sp>
        <p:nvSpPr>
          <p:cNvPr id="114" name="Line 50"/>
          <p:cNvSpPr>
            <a:spLocks noChangeShapeType="1"/>
          </p:cNvSpPr>
          <p:nvPr/>
        </p:nvSpPr>
        <p:spPr bwMode="auto">
          <a:xfrm>
            <a:off x="3710199" y="4517450"/>
            <a:ext cx="770606" cy="170817"/>
          </a:xfrm>
          <a:prstGeom prst="line">
            <a:avLst/>
          </a:prstGeom>
          <a:noFill/>
          <a:ln w="28575" cap="sq">
            <a:solidFill>
              <a:schemeClr val="tx1"/>
            </a:solidFill>
            <a:round/>
            <a:headEnd type="none" w="sm" len="sm"/>
            <a:tailEnd type="triangl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 sz="1400"/>
          </a:p>
        </p:txBody>
      </p:sp>
      <p:sp>
        <p:nvSpPr>
          <p:cNvPr id="115" name="Line 51"/>
          <p:cNvSpPr>
            <a:spLocks noChangeShapeType="1"/>
          </p:cNvSpPr>
          <p:nvPr/>
        </p:nvSpPr>
        <p:spPr bwMode="auto">
          <a:xfrm flipV="1">
            <a:off x="3710199" y="4232754"/>
            <a:ext cx="770606" cy="284696"/>
          </a:xfrm>
          <a:prstGeom prst="line">
            <a:avLst/>
          </a:prstGeom>
          <a:noFill/>
          <a:ln w="28575" cap="sq">
            <a:solidFill>
              <a:schemeClr val="tx1"/>
            </a:solidFill>
            <a:round/>
            <a:headEnd type="none" w="sm" len="sm"/>
            <a:tailEnd type="triangl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 sz="1400"/>
          </a:p>
        </p:txBody>
      </p:sp>
      <p:sp>
        <p:nvSpPr>
          <p:cNvPr id="116" name="Line 52"/>
          <p:cNvSpPr>
            <a:spLocks noChangeShapeType="1"/>
          </p:cNvSpPr>
          <p:nvPr/>
        </p:nvSpPr>
        <p:spPr bwMode="auto">
          <a:xfrm flipV="1">
            <a:off x="3710199" y="3834180"/>
            <a:ext cx="770606" cy="1024904"/>
          </a:xfrm>
          <a:prstGeom prst="line">
            <a:avLst/>
          </a:prstGeom>
          <a:noFill/>
          <a:ln w="28575" cap="sq">
            <a:solidFill>
              <a:schemeClr val="tx1"/>
            </a:solidFill>
            <a:round/>
            <a:headEnd type="none" w="sm" len="sm"/>
            <a:tailEnd type="triangl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 sz="1400"/>
          </a:p>
        </p:txBody>
      </p:sp>
      <p:sp>
        <p:nvSpPr>
          <p:cNvPr id="118" name="Line 54"/>
          <p:cNvSpPr>
            <a:spLocks noChangeShapeType="1"/>
          </p:cNvSpPr>
          <p:nvPr/>
        </p:nvSpPr>
        <p:spPr bwMode="auto">
          <a:xfrm>
            <a:off x="3401957" y="4574389"/>
            <a:ext cx="1071" cy="227756"/>
          </a:xfrm>
          <a:prstGeom prst="line">
            <a:avLst/>
          </a:prstGeom>
          <a:noFill/>
          <a:ln w="38100">
            <a:solidFill>
              <a:schemeClr val="tx1"/>
            </a:solidFill>
            <a:prstDash val="sysDot"/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 sz="1400"/>
          </a:p>
        </p:txBody>
      </p:sp>
      <p:sp>
        <p:nvSpPr>
          <p:cNvPr id="119" name="Line 55"/>
          <p:cNvSpPr>
            <a:spLocks noChangeShapeType="1"/>
          </p:cNvSpPr>
          <p:nvPr/>
        </p:nvSpPr>
        <p:spPr bwMode="auto">
          <a:xfrm flipH="1">
            <a:off x="4583552" y="4403572"/>
            <a:ext cx="0" cy="170817"/>
          </a:xfrm>
          <a:prstGeom prst="line">
            <a:avLst/>
          </a:prstGeom>
          <a:noFill/>
          <a:ln w="38100">
            <a:solidFill>
              <a:schemeClr val="tx1"/>
            </a:solidFill>
            <a:prstDash val="sysDot"/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 sz="1400"/>
          </a:p>
        </p:txBody>
      </p:sp>
      <p:graphicFrame>
        <p:nvGraphicFramePr>
          <p:cNvPr id="120" name="Object 5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460813738"/>
              </p:ext>
            </p:extLst>
          </p:nvPr>
        </p:nvGraphicFramePr>
        <p:xfrm>
          <a:off x="3145088" y="4289693"/>
          <a:ext cx="159473" cy="25029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4" imgW="152268" imgH="215713" progId="Equation.3">
                  <p:embed/>
                </p:oleObj>
              </mc:Choice>
              <mc:Fallback>
                <p:oleObj name="Equation" r:id="rId24" imgW="152268" imgH="215713" progId="Equation.3">
                  <p:embed/>
                  <p:pic>
                    <p:nvPicPr>
                      <p:cNvPr id="0" name="Picture 17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145088" y="4289693"/>
                        <a:ext cx="159473" cy="25029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21" name="Object 5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837244537"/>
              </p:ext>
            </p:extLst>
          </p:nvPr>
        </p:nvGraphicFramePr>
        <p:xfrm>
          <a:off x="3145088" y="4631328"/>
          <a:ext cx="212987" cy="26690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5" imgW="203112" imgH="228501" progId="Equation.3">
                  <p:embed/>
                </p:oleObj>
              </mc:Choice>
              <mc:Fallback>
                <p:oleObj name="Equation" r:id="rId25" imgW="203112" imgH="228501" progId="Equation.3">
                  <p:embed/>
                  <p:pic>
                    <p:nvPicPr>
                      <p:cNvPr id="0" name="Picture 17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145088" y="4631328"/>
                        <a:ext cx="212987" cy="266902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22" name="Object 5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978415890"/>
              </p:ext>
            </p:extLst>
          </p:nvPr>
        </p:nvGraphicFramePr>
        <p:xfrm>
          <a:off x="3839704" y="5200719"/>
          <a:ext cx="393865" cy="26690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6" imgW="304668" imgH="228501" progId="Equation.3">
                  <p:embed/>
                </p:oleObj>
              </mc:Choice>
              <mc:Fallback>
                <p:oleObj name="Equation" r:id="rId26" imgW="304668" imgH="228501" progId="Equation.3">
                  <p:embed/>
                  <p:pic>
                    <p:nvPicPr>
                      <p:cNvPr id="0" name="Picture 17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839704" y="5200719"/>
                        <a:ext cx="393865" cy="266902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25" name="Object 6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078933481"/>
              </p:ext>
            </p:extLst>
          </p:nvPr>
        </p:nvGraphicFramePr>
        <p:xfrm>
          <a:off x="4311700" y="4403572"/>
          <a:ext cx="246166" cy="24317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7" imgW="203112" imgH="228501" progId="Equation.3">
                  <p:embed/>
                </p:oleObj>
              </mc:Choice>
              <mc:Fallback>
                <p:oleObj name="Equation" r:id="rId27" imgW="203112" imgH="228501" progId="Equation.3">
                  <p:embed/>
                  <p:pic>
                    <p:nvPicPr>
                      <p:cNvPr id="0" name="Picture 17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311700" y="4403572"/>
                        <a:ext cx="246166" cy="243178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26" name="Object 6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790524154"/>
              </p:ext>
            </p:extLst>
          </p:nvPr>
        </p:nvGraphicFramePr>
        <p:xfrm>
          <a:off x="3856828" y="3948059"/>
          <a:ext cx="262220" cy="22775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8" imgW="215619" imgH="215619" progId="Equation.3">
                  <p:embed/>
                </p:oleObj>
              </mc:Choice>
              <mc:Fallback>
                <p:oleObj name="Equation" r:id="rId28" imgW="215619" imgH="215619" progId="Equation.3">
                  <p:embed/>
                  <p:pic>
                    <p:nvPicPr>
                      <p:cNvPr id="0" name="Picture 17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856828" y="3948059"/>
                        <a:ext cx="262220" cy="227756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27" name="Object 6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721392591"/>
              </p:ext>
            </p:extLst>
          </p:nvPr>
        </p:nvGraphicFramePr>
        <p:xfrm>
          <a:off x="4245342" y="4745206"/>
          <a:ext cx="292188" cy="24317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9" imgW="241300" imgH="228600" progId="Equation.3">
                  <p:embed/>
                </p:oleObj>
              </mc:Choice>
              <mc:Fallback>
                <p:oleObj name="Equation" r:id="rId29" imgW="241300" imgH="228600" progId="Equation.3">
                  <p:embed/>
                  <p:pic>
                    <p:nvPicPr>
                      <p:cNvPr id="0" name="Picture 17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245342" y="4745206"/>
                        <a:ext cx="292188" cy="243178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29" name="Line 65"/>
          <p:cNvSpPr>
            <a:spLocks noChangeShapeType="1"/>
          </p:cNvSpPr>
          <p:nvPr/>
        </p:nvSpPr>
        <p:spPr bwMode="auto">
          <a:xfrm>
            <a:off x="4583552" y="4972963"/>
            <a:ext cx="0" cy="227756"/>
          </a:xfrm>
          <a:prstGeom prst="line">
            <a:avLst/>
          </a:prstGeom>
          <a:noFill/>
          <a:ln w="38100">
            <a:solidFill>
              <a:schemeClr val="tx1"/>
            </a:solidFill>
            <a:prstDash val="sysDot"/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 sz="1400"/>
          </a:p>
        </p:txBody>
      </p:sp>
      <p:sp>
        <p:nvSpPr>
          <p:cNvPr id="130" name="Line 66"/>
          <p:cNvSpPr>
            <a:spLocks noChangeShapeType="1"/>
          </p:cNvSpPr>
          <p:nvPr/>
        </p:nvSpPr>
        <p:spPr bwMode="auto">
          <a:xfrm>
            <a:off x="3658825" y="4631328"/>
            <a:ext cx="1071" cy="170817"/>
          </a:xfrm>
          <a:prstGeom prst="line">
            <a:avLst/>
          </a:prstGeom>
          <a:noFill/>
          <a:ln w="38100">
            <a:solidFill>
              <a:schemeClr val="tx1"/>
            </a:solidFill>
            <a:prstDash val="sysDot"/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 sz="1400"/>
          </a:p>
        </p:txBody>
      </p:sp>
      <p:sp>
        <p:nvSpPr>
          <p:cNvPr id="146" name="Oval 36"/>
          <p:cNvSpPr>
            <a:spLocks noChangeArrowheads="1"/>
          </p:cNvSpPr>
          <p:nvPr/>
        </p:nvSpPr>
        <p:spPr bwMode="auto">
          <a:xfrm>
            <a:off x="5593450" y="3712417"/>
            <a:ext cx="205495" cy="227756"/>
          </a:xfrm>
          <a:prstGeom prst="ellipse">
            <a:avLst/>
          </a:prstGeom>
          <a:solidFill>
            <a:srgbClr val="FF0000"/>
          </a:solidFill>
          <a:ln w="12700" cap="sq">
            <a:solidFill>
              <a:schemeClr val="tx1"/>
            </a:solidFill>
            <a:round/>
            <a:headEnd type="none" w="sm" len="sm"/>
            <a:tailEnd type="none" w="sm" len="sm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 sz="1400"/>
          </a:p>
        </p:txBody>
      </p:sp>
      <p:sp>
        <p:nvSpPr>
          <p:cNvPr id="147" name="Oval 37"/>
          <p:cNvSpPr>
            <a:spLocks noChangeArrowheads="1"/>
          </p:cNvSpPr>
          <p:nvPr/>
        </p:nvSpPr>
        <p:spPr bwMode="auto">
          <a:xfrm>
            <a:off x="5593450" y="4110991"/>
            <a:ext cx="205495" cy="227756"/>
          </a:xfrm>
          <a:prstGeom prst="ellipse">
            <a:avLst/>
          </a:prstGeom>
          <a:solidFill>
            <a:srgbClr val="FF0000"/>
          </a:solidFill>
          <a:ln w="12700" cap="sq">
            <a:solidFill>
              <a:schemeClr val="tx1"/>
            </a:solidFill>
            <a:round/>
            <a:headEnd type="none" w="sm" len="sm"/>
            <a:tailEnd type="none" w="sm" len="sm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 sz="1400"/>
          </a:p>
        </p:txBody>
      </p:sp>
      <p:sp>
        <p:nvSpPr>
          <p:cNvPr id="148" name="Oval 38"/>
          <p:cNvSpPr>
            <a:spLocks noChangeArrowheads="1"/>
          </p:cNvSpPr>
          <p:nvPr/>
        </p:nvSpPr>
        <p:spPr bwMode="auto">
          <a:xfrm>
            <a:off x="5593450" y="4623443"/>
            <a:ext cx="205495" cy="227756"/>
          </a:xfrm>
          <a:prstGeom prst="ellipse">
            <a:avLst/>
          </a:prstGeom>
          <a:solidFill>
            <a:srgbClr val="FF0000"/>
          </a:solidFill>
          <a:ln w="12700" cap="sq">
            <a:solidFill>
              <a:schemeClr val="tx1"/>
            </a:solidFill>
            <a:round/>
            <a:headEnd type="none" w="sm" len="sm"/>
            <a:tailEnd type="none" w="sm" len="sm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 sz="1400"/>
          </a:p>
        </p:txBody>
      </p:sp>
      <p:sp>
        <p:nvSpPr>
          <p:cNvPr id="149" name="Oval 39"/>
          <p:cNvSpPr>
            <a:spLocks noChangeArrowheads="1"/>
          </p:cNvSpPr>
          <p:nvPr/>
        </p:nvSpPr>
        <p:spPr bwMode="auto">
          <a:xfrm>
            <a:off x="5593450" y="5249773"/>
            <a:ext cx="205495" cy="227756"/>
          </a:xfrm>
          <a:prstGeom prst="ellipse">
            <a:avLst/>
          </a:prstGeom>
          <a:solidFill>
            <a:srgbClr val="FF0000"/>
          </a:solidFill>
          <a:ln w="12700" cap="sq">
            <a:solidFill>
              <a:schemeClr val="tx1"/>
            </a:solidFill>
            <a:round/>
            <a:headEnd type="none" w="sm" len="sm"/>
            <a:tailEnd type="none" w="sm" len="sm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 sz="1400"/>
          </a:p>
        </p:txBody>
      </p:sp>
      <p:sp>
        <p:nvSpPr>
          <p:cNvPr id="150" name="Oval 40"/>
          <p:cNvSpPr>
            <a:spLocks noChangeArrowheads="1"/>
          </p:cNvSpPr>
          <p:nvPr/>
        </p:nvSpPr>
        <p:spPr bwMode="auto">
          <a:xfrm>
            <a:off x="5593450" y="5591408"/>
            <a:ext cx="205495" cy="227756"/>
          </a:xfrm>
          <a:prstGeom prst="ellipse">
            <a:avLst/>
          </a:prstGeom>
          <a:solidFill>
            <a:srgbClr val="FF0000"/>
          </a:solidFill>
          <a:ln w="12700" cap="sq">
            <a:solidFill>
              <a:schemeClr val="tx1"/>
            </a:solidFill>
            <a:round/>
            <a:headEnd type="none" w="sm" len="sm"/>
            <a:tailEnd type="none" w="sm" len="sm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 sz="1400"/>
          </a:p>
        </p:txBody>
      </p:sp>
      <p:sp>
        <p:nvSpPr>
          <p:cNvPr id="153" name="Line 43"/>
          <p:cNvSpPr>
            <a:spLocks noChangeShapeType="1"/>
          </p:cNvSpPr>
          <p:nvPr/>
        </p:nvSpPr>
        <p:spPr bwMode="auto">
          <a:xfrm flipV="1">
            <a:off x="4686300" y="3826294"/>
            <a:ext cx="907150" cy="7885"/>
          </a:xfrm>
          <a:prstGeom prst="line">
            <a:avLst/>
          </a:prstGeom>
          <a:noFill/>
          <a:ln w="28575" cap="sq">
            <a:solidFill>
              <a:schemeClr val="tx1"/>
            </a:solidFill>
            <a:round/>
            <a:headEnd type="none" w="sm" len="sm"/>
            <a:tailEnd type="triangl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 sz="1400"/>
          </a:p>
        </p:txBody>
      </p:sp>
      <p:sp>
        <p:nvSpPr>
          <p:cNvPr id="154" name="Line 44"/>
          <p:cNvSpPr>
            <a:spLocks noChangeShapeType="1"/>
          </p:cNvSpPr>
          <p:nvPr/>
        </p:nvSpPr>
        <p:spPr bwMode="auto">
          <a:xfrm>
            <a:off x="4686300" y="3834180"/>
            <a:ext cx="907150" cy="390689"/>
          </a:xfrm>
          <a:prstGeom prst="line">
            <a:avLst/>
          </a:prstGeom>
          <a:noFill/>
          <a:ln w="28575" cap="sq">
            <a:solidFill>
              <a:schemeClr val="tx1"/>
            </a:solidFill>
            <a:round/>
            <a:headEnd type="none" w="sm" len="sm"/>
            <a:tailEnd type="triangl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 sz="1400"/>
          </a:p>
        </p:txBody>
      </p:sp>
      <p:sp>
        <p:nvSpPr>
          <p:cNvPr id="155" name="Line 45"/>
          <p:cNvSpPr>
            <a:spLocks noChangeShapeType="1"/>
          </p:cNvSpPr>
          <p:nvPr/>
        </p:nvSpPr>
        <p:spPr bwMode="auto">
          <a:xfrm flipV="1">
            <a:off x="4686299" y="4716735"/>
            <a:ext cx="872675" cy="77524"/>
          </a:xfrm>
          <a:prstGeom prst="line">
            <a:avLst/>
          </a:prstGeom>
          <a:noFill/>
          <a:ln w="28575" cap="sq">
            <a:solidFill>
              <a:schemeClr val="tx1"/>
            </a:solidFill>
            <a:round/>
            <a:headEnd type="none" w="sm" len="sm"/>
            <a:tailEnd type="triangl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 sz="1400"/>
          </a:p>
        </p:txBody>
      </p:sp>
      <p:sp>
        <p:nvSpPr>
          <p:cNvPr id="156" name="Line 46"/>
          <p:cNvSpPr>
            <a:spLocks noChangeShapeType="1"/>
          </p:cNvSpPr>
          <p:nvPr/>
        </p:nvSpPr>
        <p:spPr bwMode="auto">
          <a:xfrm>
            <a:off x="4686300" y="4794260"/>
            <a:ext cx="907150" cy="569391"/>
          </a:xfrm>
          <a:prstGeom prst="line">
            <a:avLst/>
          </a:prstGeom>
          <a:noFill/>
          <a:ln w="28575" cap="sq">
            <a:solidFill>
              <a:schemeClr val="tx1"/>
            </a:solidFill>
            <a:round/>
            <a:headEnd type="none" w="sm" len="sm"/>
            <a:tailEnd type="triangl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 sz="1400"/>
          </a:p>
        </p:txBody>
      </p:sp>
      <p:sp>
        <p:nvSpPr>
          <p:cNvPr id="157" name="Line 47"/>
          <p:cNvSpPr>
            <a:spLocks noChangeShapeType="1"/>
          </p:cNvSpPr>
          <p:nvPr/>
        </p:nvSpPr>
        <p:spPr bwMode="auto">
          <a:xfrm>
            <a:off x="4683095" y="4836920"/>
            <a:ext cx="910355" cy="868366"/>
          </a:xfrm>
          <a:prstGeom prst="line">
            <a:avLst/>
          </a:prstGeom>
          <a:noFill/>
          <a:ln w="28575" cap="sq">
            <a:solidFill>
              <a:schemeClr val="tx1"/>
            </a:solidFill>
            <a:round/>
            <a:headEnd type="none" w="sm" len="sm"/>
            <a:tailEnd type="triangl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 sz="1400"/>
          </a:p>
        </p:txBody>
      </p:sp>
      <p:sp>
        <p:nvSpPr>
          <p:cNvPr id="158" name="Line 48"/>
          <p:cNvSpPr>
            <a:spLocks noChangeShapeType="1"/>
          </p:cNvSpPr>
          <p:nvPr/>
        </p:nvSpPr>
        <p:spPr bwMode="auto">
          <a:xfrm>
            <a:off x="4686300" y="4346633"/>
            <a:ext cx="907150" cy="1358654"/>
          </a:xfrm>
          <a:prstGeom prst="line">
            <a:avLst/>
          </a:prstGeom>
          <a:noFill/>
          <a:ln w="28575" cap="sq">
            <a:solidFill>
              <a:schemeClr val="tx1"/>
            </a:solidFill>
            <a:round/>
            <a:headEnd type="none" w="sm" len="sm"/>
            <a:tailEnd type="triangl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 sz="1400"/>
          </a:p>
        </p:txBody>
      </p:sp>
      <p:sp>
        <p:nvSpPr>
          <p:cNvPr id="159" name="Line 49"/>
          <p:cNvSpPr>
            <a:spLocks noChangeShapeType="1"/>
          </p:cNvSpPr>
          <p:nvPr/>
        </p:nvSpPr>
        <p:spPr bwMode="auto">
          <a:xfrm>
            <a:off x="4686300" y="4287607"/>
            <a:ext cx="907150" cy="1076046"/>
          </a:xfrm>
          <a:prstGeom prst="line">
            <a:avLst/>
          </a:prstGeom>
          <a:noFill/>
          <a:ln w="28575" cap="sq">
            <a:solidFill>
              <a:schemeClr val="tx1"/>
            </a:solidFill>
            <a:round/>
            <a:headEnd type="none" w="sm" len="sm"/>
            <a:tailEnd type="triangl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 sz="1400"/>
          </a:p>
        </p:txBody>
      </p:sp>
      <p:sp>
        <p:nvSpPr>
          <p:cNvPr id="160" name="Line 50"/>
          <p:cNvSpPr>
            <a:spLocks noChangeShapeType="1"/>
          </p:cNvSpPr>
          <p:nvPr/>
        </p:nvSpPr>
        <p:spPr bwMode="auto">
          <a:xfrm>
            <a:off x="4686300" y="4287606"/>
            <a:ext cx="907150" cy="429130"/>
          </a:xfrm>
          <a:prstGeom prst="line">
            <a:avLst/>
          </a:prstGeom>
          <a:noFill/>
          <a:ln w="28575" cap="sq">
            <a:solidFill>
              <a:schemeClr val="tx1"/>
            </a:solidFill>
            <a:round/>
            <a:headEnd type="none" w="sm" len="sm"/>
            <a:tailEnd type="triangl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 sz="1400"/>
          </a:p>
        </p:txBody>
      </p:sp>
      <p:sp>
        <p:nvSpPr>
          <p:cNvPr id="161" name="Line 51"/>
          <p:cNvSpPr>
            <a:spLocks noChangeShapeType="1"/>
          </p:cNvSpPr>
          <p:nvPr/>
        </p:nvSpPr>
        <p:spPr bwMode="auto">
          <a:xfrm flipV="1">
            <a:off x="4686300" y="4224869"/>
            <a:ext cx="907150" cy="7885"/>
          </a:xfrm>
          <a:prstGeom prst="line">
            <a:avLst/>
          </a:prstGeom>
          <a:noFill/>
          <a:ln w="28575" cap="sq">
            <a:solidFill>
              <a:schemeClr val="tx1"/>
            </a:solidFill>
            <a:round/>
            <a:headEnd type="none" w="sm" len="sm"/>
            <a:tailEnd type="triangl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 sz="1400"/>
          </a:p>
        </p:txBody>
      </p:sp>
      <p:sp>
        <p:nvSpPr>
          <p:cNvPr id="162" name="Line 52"/>
          <p:cNvSpPr>
            <a:spLocks noChangeShapeType="1"/>
          </p:cNvSpPr>
          <p:nvPr/>
        </p:nvSpPr>
        <p:spPr bwMode="auto">
          <a:xfrm flipV="1">
            <a:off x="4686300" y="3826295"/>
            <a:ext cx="907150" cy="929202"/>
          </a:xfrm>
          <a:prstGeom prst="line">
            <a:avLst/>
          </a:prstGeom>
          <a:noFill/>
          <a:ln w="28575" cap="sq">
            <a:solidFill>
              <a:schemeClr val="tx1"/>
            </a:solidFill>
            <a:round/>
            <a:headEnd type="none" w="sm" len="sm"/>
            <a:tailEnd type="triangl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 sz="1400"/>
          </a:p>
        </p:txBody>
      </p:sp>
      <p:sp>
        <p:nvSpPr>
          <p:cNvPr id="164" name="Line 55"/>
          <p:cNvSpPr>
            <a:spLocks noChangeShapeType="1"/>
          </p:cNvSpPr>
          <p:nvPr/>
        </p:nvSpPr>
        <p:spPr bwMode="auto">
          <a:xfrm flipH="1">
            <a:off x="5696197" y="4395687"/>
            <a:ext cx="0" cy="170817"/>
          </a:xfrm>
          <a:prstGeom prst="line">
            <a:avLst/>
          </a:prstGeom>
          <a:noFill/>
          <a:ln w="38100">
            <a:solidFill>
              <a:schemeClr val="tx1"/>
            </a:solidFill>
            <a:prstDash val="sysDot"/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 sz="1400"/>
          </a:p>
        </p:txBody>
      </p:sp>
      <p:sp>
        <p:nvSpPr>
          <p:cNvPr id="171" name="Line 65"/>
          <p:cNvSpPr>
            <a:spLocks noChangeShapeType="1"/>
          </p:cNvSpPr>
          <p:nvPr/>
        </p:nvSpPr>
        <p:spPr bwMode="auto">
          <a:xfrm>
            <a:off x="5696197" y="4965078"/>
            <a:ext cx="0" cy="227756"/>
          </a:xfrm>
          <a:prstGeom prst="line">
            <a:avLst/>
          </a:prstGeom>
          <a:noFill/>
          <a:ln w="38100">
            <a:solidFill>
              <a:schemeClr val="tx1"/>
            </a:solidFill>
            <a:prstDash val="sysDot"/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 sz="1400"/>
          </a:p>
        </p:txBody>
      </p:sp>
      <p:sp>
        <p:nvSpPr>
          <p:cNvPr id="173" name="Line 68"/>
          <p:cNvSpPr>
            <a:spLocks noChangeShapeType="1"/>
          </p:cNvSpPr>
          <p:nvPr/>
        </p:nvSpPr>
        <p:spPr bwMode="auto">
          <a:xfrm>
            <a:off x="5798945" y="3826295"/>
            <a:ext cx="565111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 sz="1400"/>
          </a:p>
        </p:txBody>
      </p:sp>
      <p:sp>
        <p:nvSpPr>
          <p:cNvPr id="174" name="Line 69"/>
          <p:cNvSpPr>
            <a:spLocks noChangeShapeType="1"/>
          </p:cNvSpPr>
          <p:nvPr/>
        </p:nvSpPr>
        <p:spPr bwMode="auto">
          <a:xfrm>
            <a:off x="5798945" y="4224869"/>
            <a:ext cx="565111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 sz="1400"/>
          </a:p>
        </p:txBody>
      </p:sp>
      <p:sp>
        <p:nvSpPr>
          <p:cNvPr id="175" name="Line 70"/>
          <p:cNvSpPr>
            <a:spLocks noChangeShapeType="1"/>
          </p:cNvSpPr>
          <p:nvPr/>
        </p:nvSpPr>
        <p:spPr bwMode="auto">
          <a:xfrm>
            <a:off x="5798945" y="4737321"/>
            <a:ext cx="565111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 sz="1400"/>
          </a:p>
        </p:txBody>
      </p:sp>
      <p:sp>
        <p:nvSpPr>
          <p:cNvPr id="176" name="Line 71"/>
          <p:cNvSpPr>
            <a:spLocks noChangeShapeType="1"/>
          </p:cNvSpPr>
          <p:nvPr/>
        </p:nvSpPr>
        <p:spPr bwMode="auto">
          <a:xfrm>
            <a:off x="5798945" y="5363651"/>
            <a:ext cx="565111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 sz="1400"/>
          </a:p>
        </p:txBody>
      </p:sp>
      <p:sp>
        <p:nvSpPr>
          <p:cNvPr id="177" name="Line 72"/>
          <p:cNvSpPr>
            <a:spLocks noChangeShapeType="1"/>
          </p:cNvSpPr>
          <p:nvPr/>
        </p:nvSpPr>
        <p:spPr bwMode="auto">
          <a:xfrm>
            <a:off x="5798945" y="5705286"/>
            <a:ext cx="565111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 sz="1400"/>
          </a:p>
        </p:txBody>
      </p:sp>
      <p:sp>
        <p:nvSpPr>
          <p:cNvPr id="178" name="Line 54"/>
          <p:cNvSpPr>
            <a:spLocks noChangeShapeType="1"/>
          </p:cNvSpPr>
          <p:nvPr/>
        </p:nvSpPr>
        <p:spPr bwMode="auto">
          <a:xfrm>
            <a:off x="4953000" y="5281262"/>
            <a:ext cx="1071" cy="227756"/>
          </a:xfrm>
          <a:prstGeom prst="line">
            <a:avLst/>
          </a:prstGeom>
          <a:noFill/>
          <a:ln w="38100">
            <a:solidFill>
              <a:schemeClr val="tx1"/>
            </a:solidFill>
            <a:prstDash val="sysDot"/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 sz="1400"/>
          </a:p>
        </p:txBody>
      </p:sp>
      <p:sp>
        <p:nvSpPr>
          <p:cNvPr id="179" name="Line 54"/>
          <p:cNvSpPr>
            <a:spLocks noChangeShapeType="1"/>
          </p:cNvSpPr>
          <p:nvPr/>
        </p:nvSpPr>
        <p:spPr bwMode="auto">
          <a:xfrm>
            <a:off x="4951929" y="4026418"/>
            <a:ext cx="1071" cy="227756"/>
          </a:xfrm>
          <a:prstGeom prst="line">
            <a:avLst/>
          </a:prstGeom>
          <a:noFill/>
          <a:ln w="38100">
            <a:solidFill>
              <a:schemeClr val="tx1"/>
            </a:solidFill>
            <a:prstDash val="sysDot"/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 sz="1400"/>
          </a:p>
        </p:txBody>
      </p:sp>
      <p:graphicFrame>
        <p:nvGraphicFramePr>
          <p:cNvPr id="180" name="Object 7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789563927"/>
              </p:ext>
            </p:extLst>
          </p:nvPr>
        </p:nvGraphicFramePr>
        <p:xfrm>
          <a:off x="6457171" y="3715132"/>
          <a:ext cx="173386" cy="25029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0" imgW="164885" imgH="215619" progId="Equation.3">
                  <p:embed/>
                </p:oleObj>
              </mc:Choice>
              <mc:Fallback>
                <p:oleObj name="Equation" r:id="rId30" imgW="164885" imgH="215619" progId="Equation.3">
                  <p:embed/>
                  <p:pic>
                    <p:nvPicPr>
                      <p:cNvPr id="0" name="Picture 17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457171" y="3715132"/>
                        <a:ext cx="173386" cy="25029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81" name="Object 7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448353056"/>
              </p:ext>
            </p:extLst>
          </p:nvPr>
        </p:nvGraphicFramePr>
        <p:xfrm>
          <a:off x="6457171" y="4056767"/>
          <a:ext cx="187300" cy="25029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1" imgW="177569" imgH="215619" progId="Equation.3">
                  <p:embed/>
                </p:oleObj>
              </mc:Choice>
              <mc:Fallback>
                <p:oleObj name="Equation" r:id="rId31" imgW="177569" imgH="215619" progId="Equation.3">
                  <p:embed/>
                  <p:pic>
                    <p:nvPicPr>
                      <p:cNvPr id="0" name="Picture 18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457171" y="4056767"/>
                        <a:ext cx="187300" cy="25029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82" name="Object 7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928272225"/>
              </p:ext>
            </p:extLst>
          </p:nvPr>
        </p:nvGraphicFramePr>
        <p:xfrm>
          <a:off x="6463592" y="4617855"/>
          <a:ext cx="173386" cy="26690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2" imgW="165028" imgH="228501" progId="Equation.3">
                  <p:embed/>
                </p:oleObj>
              </mc:Choice>
              <mc:Fallback>
                <p:oleObj name="Equation" r:id="rId32" imgW="165028" imgH="228501" progId="Equation.3">
                  <p:embed/>
                  <p:pic>
                    <p:nvPicPr>
                      <p:cNvPr id="0" name="Picture 18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463592" y="4617855"/>
                        <a:ext cx="173386" cy="266902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83" name="Object 7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707136251"/>
              </p:ext>
            </p:extLst>
          </p:nvPr>
        </p:nvGraphicFramePr>
        <p:xfrm>
          <a:off x="6434695" y="5252488"/>
          <a:ext cx="334999" cy="25029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3" imgW="317087" imgH="215619" progId="Equation.3">
                  <p:embed/>
                </p:oleObj>
              </mc:Choice>
              <mc:Fallback>
                <p:oleObj name="Equation" r:id="rId33" imgW="317087" imgH="215619" progId="Equation.3">
                  <p:embed/>
                  <p:pic>
                    <p:nvPicPr>
                      <p:cNvPr id="0" name="Picture 18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434695" y="5252488"/>
                        <a:ext cx="334999" cy="25029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84" name="Object 7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735025345"/>
              </p:ext>
            </p:extLst>
          </p:nvPr>
        </p:nvGraphicFramePr>
        <p:xfrm>
          <a:off x="6480717" y="5594123"/>
          <a:ext cx="241885" cy="25029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4" imgW="228501" imgH="215806" progId="Equation.3">
                  <p:embed/>
                </p:oleObj>
              </mc:Choice>
              <mc:Fallback>
                <p:oleObj name="Equation" r:id="rId34" imgW="228501" imgH="215806" progId="Equation.3">
                  <p:embed/>
                  <p:pic>
                    <p:nvPicPr>
                      <p:cNvPr id="0" name="Picture 18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480717" y="5594123"/>
                        <a:ext cx="241885" cy="25029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56412177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en-US"/>
              <a:t>2014</a:t>
            </a:r>
          </a:p>
        </p:txBody>
      </p:sp>
      <p:sp>
        <p:nvSpPr>
          <p:cNvPr id="13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10FB1B-05BC-45CB-9C2F-7041D82AC34D}" type="slidenum">
              <a:rPr lang="en-US" altLang="en-US"/>
              <a:pPr/>
              <a:t>18</a:t>
            </a:fld>
            <a:endParaRPr lang="en-US" altLang="en-US"/>
          </a:p>
        </p:txBody>
      </p:sp>
      <p:sp>
        <p:nvSpPr>
          <p:cNvPr id="47106" name="AutoShape 2"/>
          <p:cNvSpPr>
            <a:spLocks noChangeArrowheads="1"/>
          </p:cNvSpPr>
          <p:nvPr/>
        </p:nvSpPr>
        <p:spPr bwMode="auto">
          <a:xfrm>
            <a:off x="304800" y="152400"/>
            <a:ext cx="8610600" cy="762000"/>
          </a:xfrm>
          <a:prstGeom prst="roundRect">
            <a:avLst>
              <a:gd name="adj" fmla="val 16667"/>
            </a:avLst>
          </a:prstGeom>
          <a:solidFill>
            <a:srgbClr val="FFCCFF"/>
          </a:solidFill>
          <a:ln w="34925">
            <a:solidFill>
              <a:srgbClr val="FF3300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47107" name="AutoShape 3"/>
          <p:cNvSpPr>
            <a:spLocks noChangeArrowheads="1"/>
          </p:cNvSpPr>
          <p:nvPr/>
        </p:nvSpPr>
        <p:spPr bwMode="auto">
          <a:xfrm>
            <a:off x="304800" y="990600"/>
            <a:ext cx="8610600" cy="4953000"/>
          </a:xfrm>
          <a:prstGeom prst="roundRect">
            <a:avLst>
              <a:gd name="adj" fmla="val 16667"/>
            </a:avLst>
          </a:prstGeom>
          <a:noFill/>
          <a:ln w="34925">
            <a:solidFill>
              <a:srgbClr val="FF33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47108" name="Rectangle 4"/>
          <p:cNvSpPr>
            <a:spLocks noChangeArrowheads="1"/>
          </p:cNvSpPr>
          <p:nvPr/>
        </p:nvSpPr>
        <p:spPr bwMode="auto">
          <a:xfrm>
            <a:off x="685800" y="0"/>
            <a:ext cx="7772400" cy="1066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/>
          <a:lstStyle>
            <a:lvl1pPr algn="ctr">
              <a:defRPr sz="4400">
                <a:solidFill>
                  <a:schemeClr val="tx2"/>
                </a:solidFill>
                <a:latin typeface="Times New Roman" pitchFamily="18" charset="0"/>
              </a:defRPr>
            </a:lvl1pPr>
            <a:lvl2pPr algn="ctr">
              <a:defRPr sz="4400">
                <a:solidFill>
                  <a:schemeClr val="tx2"/>
                </a:solidFill>
                <a:latin typeface="Times New Roman" pitchFamily="18" charset="0"/>
              </a:defRPr>
            </a:lvl2pPr>
            <a:lvl3pPr algn="ctr">
              <a:defRPr sz="4400">
                <a:solidFill>
                  <a:schemeClr val="tx2"/>
                </a:solidFill>
                <a:latin typeface="Times New Roman" pitchFamily="18" charset="0"/>
              </a:defRPr>
            </a:lvl3pPr>
            <a:lvl4pPr algn="ctr">
              <a:defRPr sz="4400">
                <a:solidFill>
                  <a:schemeClr val="tx2"/>
                </a:solidFill>
                <a:latin typeface="Times New Roman" pitchFamily="18" charset="0"/>
              </a:defRPr>
            </a:lvl4pPr>
            <a:lvl5pPr algn="ctr">
              <a:defRPr sz="4400">
                <a:solidFill>
                  <a:schemeClr val="tx2"/>
                </a:solidFill>
                <a:latin typeface="Times New Roman" pitchFamily="18" charset="0"/>
              </a:defRPr>
            </a:lvl5pPr>
            <a:lvl6pPr marL="457200" algn="ctr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imes New Roman" pitchFamily="18" charset="0"/>
              </a:defRPr>
            </a:lvl6pPr>
            <a:lvl7pPr marL="914400" algn="ctr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imes New Roman" pitchFamily="18" charset="0"/>
              </a:defRPr>
            </a:lvl7pPr>
            <a:lvl8pPr marL="1371600" algn="ctr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imes New Roman" pitchFamily="18" charset="0"/>
              </a:defRPr>
            </a:lvl8pPr>
            <a:lvl9pPr marL="1828800" algn="ctr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imes New Roman" pitchFamily="18" charset="0"/>
              </a:defRPr>
            </a:lvl9pPr>
          </a:lstStyle>
          <a:p>
            <a:r>
              <a:rPr lang="en-US" altLang="en-US" sz="2800" b="0">
                <a:solidFill>
                  <a:schemeClr val="accent2"/>
                </a:solidFill>
                <a:latin typeface="Arial" charset="0"/>
              </a:rPr>
              <a:t>A Supervised NN: Backpropagation Neural Network</a:t>
            </a:r>
            <a:endParaRPr lang="en-US" altLang="en-US" b="0">
              <a:solidFill>
                <a:schemeClr val="accent2"/>
              </a:solidFill>
            </a:endParaRPr>
          </a:p>
        </p:txBody>
      </p:sp>
      <p:sp>
        <p:nvSpPr>
          <p:cNvPr id="47109" name="Rectangle 5"/>
          <p:cNvSpPr>
            <a:spLocks noChangeArrowheads="1"/>
          </p:cNvSpPr>
          <p:nvPr/>
        </p:nvSpPr>
        <p:spPr bwMode="auto">
          <a:xfrm>
            <a:off x="914400" y="1066800"/>
            <a:ext cx="7543800" cy="4648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2075" tIns="46038" rIns="92075" bIns="46038"/>
          <a:lstStyle>
            <a:lvl1pPr marL="342900" indent="-34290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itchFamily="18" charset="0"/>
              </a:defRPr>
            </a:lvl2pPr>
            <a:lvl3pPr marL="108585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>
              <a:buClr>
                <a:schemeClr val="tx2"/>
              </a:buClr>
              <a:buSzPct val="50000"/>
            </a:pPr>
            <a:r>
              <a:rPr lang="en-US" altLang="en-US" sz="2400" b="0" dirty="0">
                <a:solidFill>
                  <a:schemeClr val="tx2"/>
                </a:solidFill>
              </a:rPr>
              <a:t>Training: using a set of known examples to estimate best values of weights </a:t>
            </a:r>
            <a:r>
              <a:rPr lang="en-US" altLang="en-US" sz="2400" dirty="0">
                <a:solidFill>
                  <a:schemeClr val="tx2"/>
                </a:solidFill>
              </a:rPr>
              <a:t>(e.g. backpropagation algorithm)</a:t>
            </a:r>
            <a:endParaRPr lang="en-US" altLang="en-US" sz="2400" b="0" dirty="0">
              <a:solidFill>
                <a:schemeClr val="tx2"/>
              </a:solidFill>
            </a:endParaRPr>
          </a:p>
          <a:p>
            <a:pPr>
              <a:buClr>
                <a:schemeClr val="tx2"/>
              </a:buClr>
              <a:buSzPct val="50000"/>
            </a:pPr>
            <a:r>
              <a:rPr lang="en-US" altLang="en-US" sz="2400" b="0" dirty="0">
                <a:solidFill>
                  <a:schemeClr val="tx2"/>
                </a:solidFill>
              </a:rPr>
              <a:t>Architecture:</a:t>
            </a:r>
          </a:p>
          <a:p>
            <a:pPr lvl="1">
              <a:buClr>
                <a:schemeClr val="tx2"/>
              </a:buClr>
              <a:buSzPct val="50000"/>
            </a:pPr>
            <a:r>
              <a:rPr lang="en-US" altLang="en-US" sz="2000" b="0" dirty="0"/>
              <a:t>Number of layers and number of neurons in each layer: variable</a:t>
            </a:r>
            <a:endParaRPr lang="en-US" altLang="en-US" sz="1800" b="0" dirty="0"/>
          </a:p>
          <a:p>
            <a:pPr>
              <a:buClr>
                <a:schemeClr val="tx2"/>
              </a:buClr>
              <a:buSzPct val="50000"/>
            </a:pPr>
            <a:r>
              <a:rPr lang="en-US" altLang="en-US" sz="2400" dirty="0"/>
              <a:t>It was proved that three layers (one input, one hidden and one output) with sufficient number of neurons in the hidden layer, and learn practically any function</a:t>
            </a:r>
          </a:p>
          <a:p>
            <a:pPr lvl="1">
              <a:buClr>
                <a:schemeClr val="tx2"/>
              </a:buClr>
              <a:buSzPct val="50000"/>
            </a:pPr>
            <a:r>
              <a:rPr lang="en-US" altLang="en-US" sz="2000" b="0" dirty="0"/>
              <a:t>As such there is no need to try more than three layers</a:t>
            </a:r>
          </a:p>
          <a:p>
            <a:pPr lvl="1">
              <a:buClr>
                <a:schemeClr val="tx2"/>
              </a:buClr>
              <a:buSzPct val="50000"/>
            </a:pPr>
            <a:r>
              <a:rPr lang="en-US" altLang="en-US" sz="2000" dirty="0"/>
              <a:t>A rule of thumb suggests that the number of hidden layers must be less than 1/10 of the number of training examples</a:t>
            </a:r>
          </a:p>
          <a:p>
            <a:pPr>
              <a:buClr>
                <a:schemeClr val="tx2"/>
              </a:buClr>
              <a:buSzPct val="50000"/>
            </a:pPr>
            <a:r>
              <a:rPr lang="en-US" altLang="en-US" sz="2400" b="0" dirty="0"/>
              <a:t>Majority of algorithms designed for neural networks are gradient based</a:t>
            </a:r>
          </a:p>
        </p:txBody>
      </p:sp>
    </p:spTree>
    <p:extLst>
      <p:ext uri="{BB962C8B-B14F-4D97-AF65-F5344CB8AC3E}">
        <p14:creationId xmlns:p14="http://schemas.microsoft.com/office/powerpoint/2010/main" val="1530839220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en-US"/>
              <a:t>2014</a:t>
            </a:r>
          </a:p>
        </p:txBody>
      </p:sp>
      <p:sp>
        <p:nvSpPr>
          <p:cNvPr id="8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77DDDF-A060-410E-AA99-29BCD71F00B4}" type="slidenum">
              <a:rPr lang="en-US" altLang="en-US"/>
              <a:pPr/>
              <a:t>19</a:t>
            </a:fld>
            <a:endParaRPr lang="en-US" altLang="en-US"/>
          </a:p>
        </p:txBody>
      </p:sp>
      <p:sp>
        <p:nvSpPr>
          <p:cNvPr id="14344" name="AutoShape 8"/>
          <p:cNvSpPr>
            <a:spLocks noChangeArrowheads="1"/>
          </p:cNvSpPr>
          <p:nvPr/>
        </p:nvSpPr>
        <p:spPr bwMode="auto">
          <a:xfrm>
            <a:off x="304800" y="152400"/>
            <a:ext cx="8610600" cy="685800"/>
          </a:xfrm>
          <a:prstGeom prst="roundRect">
            <a:avLst>
              <a:gd name="adj" fmla="val 16667"/>
            </a:avLst>
          </a:prstGeom>
          <a:solidFill>
            <a:srgbClr val="FFCCFF"/>
          </a:solidFill>
          <a:ln w="34925">
            <a:solidFill>
              <a:srgbClr val="FF3300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4345" name="AutoShape 9"/>
          <p:cNvSpPr>
            <a:spLocks noChangeArrowheads="1"/>
          </p:cNvSpPr>
          <p:nvPr/>
        </p:nvSpPr>
        <p:spPr bwMode="auto">
          <a:xfrm>
            <a:off x="304800" y="914400"/>
            <a:ext cx="8610600" cy="5257800"/>
          </a:xfrm>
          <a:prstGeom prst="roundRect">
            <a:avLst>
              <a:gd name="adj" fmla="val 16667"/>
            </a:avLst>
          </a:prstGeom>
          <a:noFill/>
          <a:ln w="34925">
            <a:solidFill>
              <a:srgbClr val="FF33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4338" name="Rectangle 2"/>
          <p:cNvSpPr>
            <a:spLocks noChangeArrowheads="1"/>
          </p:cNvSpPr>
          <p:nvPr/>
        </p:nvSpPr>
        <p:spPr bwMode="auto">
          <a:xfrm>
            <a:off x="685800" y="0"/>
            <a:ext cx="7772400" cy="1066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/>
          <a:lstStyle>
            <a:lvl1pPr algn="ctr">
              <a:defRPr sz="4400">
                <a:solidFill>
                  <a:schemeClr val="tx2"/>
                </a:solidFill>
                <a:latin typeface="Times New Roman" pitchFamily="18" charset="0"/>
              </a:defRPr>
            </a:lvl1pPr>
            <a:lvl2pPr algn="ctr">
              <a:defRPr sz="4400">
                <a:solidFill>
                  <a:schemeClr val="tx2"/>
                </a:solidFill>
                <a:latin typeface="Times New Roman" pitchFamily="18" charset="0"/>
              </a:defRPr>
            </a:lvl2pPr>
            <a:lvl3pPr algn="ctr">
              <a:defRPr sz="4400">
                <a:solidFill>
                  <a:schemeClr val="tx2"/>
                </a:solidFill>
                <a:latin typeface="Times New Roman" pitchFamily="18" charset="0"/>
              </a:defRPr>
            </a:lvl3pPr>
            <a:lvl4pPr algn="ctr">
              <a:defRPr sz="4400">
                <a:solidFill>
                  <a:schemeClr val="tx2"/>
                </a:solidFill>
                <a:latin typeface="Times New Roman" pitchFamily="18" charset="0"/>
              </a:defRPr>
            </a:lvl4pPr>
            <a:lvl5pPr algn="ctr">
              <a:defRPr sz="4400">
                <a:solidFill>
                  <a:schemeClr val="tx2"/>
                </a:solidFill>
                <a:latin typeface="Times New Roman" pitchFamily="18" charset="0"/>
              </a:defRPr>
            </a:lvl5pPr>
            <a:lvl6pPr marL="457200" algn="ctr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imes New Roman" pitchFamily="18" charset="0"/>
              </a:defRPr>
            </a:lvl6pPr>
            <a:lvl7pPr marL="914400" algn="ctr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imes New Roman" pitchFamily="18" charset="0"/>
              </a:defRPr>
            </a:lvl7pPr>
            <a:lvl8pPr marL="1371600" algn="ctr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imes New Roman" pitchFamily="18" charset="0"/>
              </a:defRPr>
            </a:lvl8pPr>
            <a:lvl9pPr marL="1828800" algn="ctr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imes New Roman" pitchFamily="18" charset="0"/>
              </a:defRPr>
            </a:lvl9pPr>
          </a:lstStyle>
          <a:p>
            <a:r>
              <a:rPr lang="en-US" altLang="en-US" sz="2800" i="1" dirty="0" err="1">
                <a:solidFill>
                  <a:schemeClr val="accent2"/>
                </a:solidFill>
                <a:latin typeface="Arial" charset="0"/>
              </a:rPr>
              <a:t>Backpropagation</a:t>
            </a:r>
            <a:r>
              <a:rPr lang="en-US" altLang="en-US" sz="2800" i="1" dirty="0">
                <a:solidFill>
                  <a:schemeClr val="accent2"/>
                </a:solidFill>
                <a:latin typeface="Arial" charset="0"/>
              </a:rPr>
              <a:t> Neural Networks (cont’d)</a:t>
            </a:r>
            <a:endParaRPr lang="en-US" altLang="en-US" i="1" dirty="0">
              <a:solidFill>
                <a:schemeClr val="accent2"/>
              </a:solidFill>
            </a:endParaRPr>
          </a:p>
        </p:txBody>
      </p:sp>
      <p:sp>
        <p:nvSpPr>
          <p:cNvPr id="14339" name="Rectangle 3"/>
          <p:cNvSpPr>
            <a:spLocks noChangeArrowheads="1"/>
          </p:cNvSpPr>
          <p:nvPr/>
        </p:nvSpPr>
        <p:spPr bwMode="auto">
          <a:xfrm>
            <a:off x="685800" y="1219200"/>
            <a:ext cx="7848600" cy="4953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marL="342900" indent="-34290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r>
              <a:rPr lang="en-US" altLang="en-US" sz="2400" dirty="0"/>
              <a:t>Another issue that all types of machine learning methods, including neural networks can suffer from is </a:t>
            </a:r>
            <a:r>
              <a:rPr lang="en-US" altLang="en-US" sz="2400" dirty="0" err="1"/>
              <a:t>overfitting</a:t>
            </a:r>
            <a:endParaRPr lang="en-US" altLang="en-US" sz="2400" dirty="0"/>
          </a:p>
          <a:p>
            <a:pPr lvl="1"/>
            <a:r>
              <a:rPr lang="en-US" altLang="en-US" sz="2000" dirty="0"/>
              <a:t>They can be “over-trained” with the training data and perform poorly on the data they have not seen before</a:t>
            </a:r>
          </a:p>
          <a:p>
            <a:pPr lvl="1"/>
            <a:r>
              <a:rPr lang="en-US" altLang="en-US" sz="2000" dirty="0"/>
              <a:t>A common approach to address this problem is to ensure that the size of the parameter search space (weight space in case of neural nets) is reduced</a:t>
            </a:r>
          </a:p>
          <a:p>
            <a:pPr lvl="1"/>
            <a:r>
              <a:rPr lang="en-US" altLang="en-US" sz="2000" dirty="0"/>
              <a:t>For instance, to address this issue neural nets, often a term containing the following value to the cost function to be minimized:</a:t>
            </a:r>
          </a:p>
          <a:p>
            <a:pPr>
              <a:buFontTx/>
              <a:buNone/>
            </a:pPr>
            <a:endParaRPr lang="en-US" altLang="en-US" sz="2400" i="1" dirty="0"/>
          </a:p>
        </p:txBody>
      </p:sp>
      <p:graphicFrame>
        <p:nvGraphicFramePr>
          <p:cNvPr id="9" name="Object 8"/>
          <p:cNvGraphicFramePr>
            <a:graphicFrameLocks noChangeAspect="1"/>
          </p:cNvGraphicFramePr>
          <p:nvPr/>
        </p:nvGraphicFramePr>
        <p:xfrm>
          <a:off x="4191000" y="4495800"/>
          <a:ext cx="838200" cy="49838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469900" imgH="279400" progId="Equation.3">
                  <p:embed/>
                </p:oleObj>
              </mc:Choice>
              <mc:Fallback>
                <p:oleObj name="Equation" r:id="rId2" imgW="469900" imgH="279400" progId="Equation.3">
                  <p:embed/>
                  <p:pic>
                    <p:nvPicPr>
                      <p:cNvPr id="0" name="Picture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191000" y="4495800"/>
                        <a:ext cx="838200" cy="498389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2307051780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en-US"/>
              <a:t>2014</a:t>
            </a:r>
          </a:p>
        </p:txBody>
      </p:sp>
      <p:sp>
        <p:nvSpPr>
          <p:cNvPr id="8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77DDDF-A060-410E-AA99-29BCD71F00B4}" type="slidenum">
              <a:rPr lang="en-US" altLang="en-US"/>
              <a:pPr/>
              <a:t>20</a:t>
            </a:fld>
            <a:endParaRPr lang="en-US" altLang="en-US"/>
          </a:p>
        </p:txBody>
      </p:sp>
      <p:sp>
        <p:nvSpPr>
          <p:cNvPr id="14344" name="AutoShape 8"/>
          <p:cNvSpPr>
            <a:spLocks noChangeArrowheads="1"/>
          </p:cNvSpPr>
          <p:nvPr/>
        </p:nvSpPr>
        <p:spPr bwMode="auto">
          <a:xfrm>
            <a:off x="304800" y="152400"/>
            <a:ext cx="8610600" cy="685800"/>
          </a:xfrm>
          <a:prstGeom prst="roundRect">
            <a:avLst>
              <a:gd name="adj" fmla="val 16667"/>
            </a:avLst>
          </a:prstGeom>
          <a:solidFill>
            <a:srgbClr val="FFCCFF"/>
          </a:solidFill>
          <a:ln w="34925">
            <a:solidFill>
              <a:srgbClr val="FF3300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4345" name="AutoShape 9"/>
          <p:cNvSpPr>
            <a:spLocks noChangeArrowheads="1"/>
          </p:cNvSpPr>
          <p:nvPr/>
        </p:nvSpPr>
        <p:spPr bwMode="auto">
          <a:xfrm>
            <a:off x="304800" y="914400"/>
            <a:ext cx="8610600" cy="5257800"/>
          </a:xfrm>
          <a:prstGeom prst="roundRect">
            <a:avLst>
              <a:gd name="adj" fmla="val 16667"/>
            </a:avLst>
          </a:prstGeom>
          <a:noFill/>
          <a:ln w="34925">
            <a:solidFill>
              <a:srgbClr val="FF33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4338" name="Rectangle 2"/>
          <p:cNvSpPr>
            <a:spLocks noChangeArrowheads="1"/>
          </p:cNvSpPr>
          <p:nvPr/>
        </p:nvSpPr>
        <p:spPr bwMode="auto">
          <a:xfrm>
            <a:off x="685800" y="0"/>
            <a:ext cx="7772400" cy="1066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/>
          <a:lstStyle>
            <a:lvl1pPr algn="ctr">
              <a:defRPr sz="4400">
                <a:solidFill>
                  <a:schemeClr val="tx2"/>
                </a:solidFill>
                <a:latin typeface="Times New Roman" pitchFamily="18" charset="0"/>
              </a:defRPr>
            </a:lvl1pPr>
            <a:lvl2pPr algn="ctr">
              <a:defRPr sz="4400">
                <a:solidFill>
                  <a:schemeClr val="tx2"/>
                </a:solidFill>
                <a:latin typeface="Times New Roman" pitchFamily="18" charset="0"/>
              </a:defRPr>
            </a:lvl2pPr>
            <a:lvl3pPr algn="ctr">
              <a:defRPr sz="4400">
                <a:solidFill>
                  <a:schemeClr val="tx2"/>
                </a:solidFill>
                <a:latin typeface="Times New Roman" pitchFamily="18" charset="0"/>
              </a:defRPr>
            </a:lvl3pPr>
            <a:lvl4pPr algn="ctr">
              <a:defRPr sz="4400">
                <a:solidFill>
                  <a:schemeClr val="tx2"/>
                </a:solidFill>
                <a:latin typeface="Times New Roman" pitchFamily="18" charset="0"/>
              </a:defRPr>
            </a:lvl4pPr>
            <a:lvl5pPr algn="ctr">
              <a:defRPr sz="4400">
                <a:solidFill>
                  <a:schemeClr val="tx2"/>
                </a:solidFill>
                <a:latin typeface="Times New Roman" pitchFamily="18" charset="0"/>
              </a:defRPr>
            </a:lvl5pPr>
            <a:lvl6pPr marL="457200" algn="ctr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imes New Roman" pitchFamily="18" charset="0"/>
              </a:defRPr>
            </a:lvl6pPr>
            <a:lvl7pPr marL="914400" algn="ctr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imes New Roman" pitchFamily="18" charset="0"/>
              </a:defRPr>
            </a:lvl7pPr>
            <a:lvl8pPr marL="1371600" algn="ctr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imes New Roman" pitchFamily="18" charset="0"/>
              </a:defRPr>
            </a:lvl8pPr>
            <a:lvl9pPr marL="1828800" algn="ctr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imes New Roman" pitchFamily="18" charset="0"/>
              </a:defRPr>
            </a:lvl9pPr>
          </a:lstStyle>
          <a:p>
            <a:r>
              <a:rPr lang="en-US" altLang="en-US" sz="2800" dirty="0">
                <a:solidFill>
                  <a:schemeClr val="accent2"/>
                </a:solidFill>
                <a:latin typeface="Arial" charset="0"/>
              </a:rPr>
              <a:t>Neural Networks for Clustering</a:t>
            </a:r>
            <a:endParaRPr lang="en-US" altLang="en-US" dirty="0">
              <a:solidFill>
                <a:schemeClr val="accent2"/>
              </a:solidFill>
            </a:endParaRPr>
          </a:p>
        </p:txBody>
      </p:sp>
      <p:sp>
        <p:nvSpPr>
          <p:cNvPr id="14339" name="Rectangle 3"/>
          <p:cNvSpPr>
            <a:spLocks noChangeArrowheads="1"/>
          </p:cNvSpPr>
          <p:nvPr/>
        </p:nvSpPr>
        <p:spPr bwMode="auto">
          <a:xfrm>
            <a:off x="685800" y="1219200"/>
            <a:ext cx="7848600" cy="411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marL="342900" indent="-34290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r>
              <a:rPr lang="en-US" altLang="en-US" sz="2400" dirty="0"/>
              <a:t>Artificial competitive neural networks:</a:t>
            </a:r>
          </a:p>
          <a:p>
            <a:pPr lvl="1"/>
            <a:r>
              <a:rPr lang="en-US" altLang="en-US" sz="2000" dirty="0"/>
              <a:t>Each artificial neuron (or group of neurons) stores a pattern</a:t>
            </a:r>
          </a:p>
          <a:p>
            <a:pPr lvl="1"/>
            <a:r>
              <a:rPr lang="en-US" altLang="en-US" sz="2000" dirty="0"/>
              <a:t>Networks are trained such that neurons in the same neighborhood store similar patterns</a:t>
            </a:r>
          </a:p>
          <a:p>
            <a:pPr lvl="1"/>
            <a:r>
              <a:rPr lang="en-US" altLang="en-US" sz="2000" dirty="0"/>
              <a:t>During classification, neurons compete to relate to the new pattern</a:t>
            </a:r>
          </a:p>
          <a:p>
            <a:pPr lvl="1"/>
            <a:r>
              <a:rPr lang="en-US" altLang="en-US" sz="2000" dirty="0"/>
              <a:t>The neurons with highest similarity to the new pattern are the winners  </a:t>
            </a:r>
          </a:p>
          <a:p>
            <a:pPr lvl="1"/>
            <a:r>
              <a:rPr lang="en-US" altLang="en-US" sz="2000" dirty="0"/>
              <a:t>The most popular type of unsupervised neural network is </a:t>
            </a:r>
            <a:r>
              <a:rPr lang="en-US" altLang="en-US" sz="2000" dirty="0" err="1"/>
              <a:t>Kohonen</a:t>
            </a:r>
            <a:r>
              <a:rPr lang="en-US" altLang="en-US" sz="2000" dirty="0"/>
              <a:t> Self-Organizing Map (K-map)</a:t>
            </a:r>
          </a:p>
          <a:p>
            <a:pPr lvl="1"/>
            <a:r>
              <a:rPr lang="en-US" altLang="en-US" sz="2000" dirty="0"/>
              <a:t>K-maps are heavily used in systems biology and bioinformatics, e.g. clustering of gene expression data</a:t>
            </a:r>
          </a:p>
          <a:p>
            <a:pPr>
              <a:buFontTx/>
              <a:buNone/>
            </a:pPr>
            <a:endParaRPr lang="en-US" altLang="en-US" sz="2400" i="1" dirty="0"/>
          </a:p>
        </p:txBody>
      </p:sp>
    </p:spTree>
    <p:extLst>
      <p:ext uri="{BB962C8B-B14F-4D97-AF65-F5344CB8AC3E}">
        <p14:creationId xmlns:p14="http://schemas.microsoft.com/office/powerpoint/2010/main" val="2307051780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en-US"/>
              <a:t>2014</a:t>
            </a:r>
          </a:p>
        </p:txBody>
      </p:sp>
      <p:sp>
        <p:nvSpPr>
          <p:cNvPr id="9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1669B8-9921-4AE7-8D7A-7FBA59B46E88}" type="slidenum">
              <a:rPr lang="en-US" altLang="en-US"/>
              <a:pPr/>
              <a:t>21</a:t>
            </a:fld>
            <a:endParaRPr lang="en-US" altLang="en-US"/>
          </a:p>
        </p:txBody>
      </p:sp>
      <p:sp>
        <p:nvSpPr>
          <p:cNvPr id="66629" name="AutoShape 69"/>
          <p:cNvSpPr>
            <a:spLocks noChangeArrowheads="1"/>
          </p:cNvSpPr>
          <p:nvPr/>
        </p:nvSpPr>
        <p:spPr bwMode="auto">
          <a:xfrm>
            <a:off x="304800" y="152400"/>
            <a:ext cx="8610600" cy="685800"/>
          </a:xfrm>
          <a:prstGeom prst="roundRect">
            <a:avLst>
              <a:gd name="adj" fmla="val 16667"/>
            </a:avLst>
          </a:prstGeom>
          <a:solidFill>
            <a:srgbClr val="FFCCFF"/>
          </a:solidFill>
          <a:ln w="34925">
            <a:solidFill>
              <a:srgbClr val="FF3300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66630" name="AutoShape 70"/>
          <p:cNvSpPr>
            <a:spLocks noChangeArrowheads="1"/>
          </p:cNvSpPr>
          <p:nvPr/>
        </p:nvSpPr>
        <p:spPr bwMode="auto">
          <a:xfrm>
            <a:off x="304800" y="914400"/>
            <a:ext cx="8610600" cy="5257800"/>
          </a:xfrm>
          <a:prstGeom prst="roundRect">
            <a:avLst>
              <a:gd name="adj" fmla="val 16667"/>
            </a:avLst>
          </a:prstGeom>
          <a:noFill/>
          <a:ln w="34925">
            <a:solidFill>
              <a:srgbClr val="FF33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66564" name="Rectangle 4"/>
          <p:cNvSpPr>
            <a:spLocks noChangeArrowheads="1"/>
          </p:cNvSpPr>
          <p:nvPr/>
        </p:nvSpPr>
        <p:spPr bwMode="auto">
          <a:xfrm>
            <a:off x="685800" y="0"/>
            <a:ext cx="7772400" cy="1066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/>
          <a:lstStyle>
            <a:lvl1pPr algn="ctr">
              <a:defRPr sz="4400">
                <a:solidFill>
                  <a:schemeClr val="tx2"/>
                </a:solidFill>
                <a:latin typeface="Times New Roman" pitchFamily="18" charset="0"/>
              </a:defRPr>
            </a:lvl1pPr>
            <a:lvl2pPr algn="ctr">
              <a:defRPr sz="4400">
                <a:solidFill>
                  <a:schemeClr val="tx2"/>
                </a:solidFill>
                <a:latin typeface="Times New Roman" pitchFamily="18" charset="0"/>
              </a:defRPr>
            </a:lvl2pPr>
            <a:lvl3pPr algn="ctr">
              <a:defRPr sz="4400">
                <a:solidFill>
                  <a:schemeClr val="tx2"/>
                </a:solidFill>
                <a:latin typeface="Times New Roman" pitchFamily="18" charset="0"/>
              </a:defRPr>
            </a:lvl3pPr>
            <a:lvl4pPr algn="ctr">
              <a:defRPr sz="4400">
                <a:solidFill>
                  <a:schemeClr val="tx2"/>
                </a:solidFill>
                <a:latin typeface="Times New Roman" pitchFamily="18" charset="0"/>
              </a:defRPr>
            </a:lvl4pPr>
            <a:lvl5pPr algn="ctr">
              <a:defRPr sz="4400">
                <a:solidFill>
                  <a:schemeClr val="tx2"/>
                </a:solidFill>
                <a:latin typeface="Times New Roman" pitchFamily="18" charset="0"/>
              </a:defRPr>
            </a:lvl5pPr>
            <a:lvl6pPr marL="457200" algn="ctr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imes New Roman" pitchFamily="18" charset="0"/>
              </a:defRPr>
            </a:lvl6pPr>
            <a:lvl7pPr marL="914400" algn="ctr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imes New Roman" pitchFamily="18" charset="0"/>
              </a:defRPr>
            </a:lvl7pPr>
            <a:lvl8pPr marL="1371600" algn="ctr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imes New Roman" pitchFamily="18" charset="0"/>
              </a:defRPr>
            </a:lvl8pPr>
            <a:lvl9pPr marL="1828800" algn="ctr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imes New Roman" pitchFamily="18" charset="0"/>
              </a:defRPr>
            </a:lvl9pPr>
          </a:lstStyle>
          <a:p>
            <a:r>
              <a:rPr lang="en-US" altLang="en-US" sz="2800" dirty="0" err="1">
                <a:solidFill>
                  <a:schemeClr val="accent2"/>
                </a:solidFill>
                <a:latin typeface="Arial" charset="0"/>
              </a:rPr>
              <a:t>Kohonen</a:t>
            </a:r>
            <a:r>
              <a:rPr lang="en-US" altLang="en-US" sz="2800" dirty="0">
                <a:solidFill>
                  <a:schemeClr val="accent2"/>
                </a:solidFill>
                <a:latin typeface="Arial" charset="0"/>
              </a:rPr>
              <a:t> Self-Organizing Maps</a:t>
            </a:r>
            <a:endParaRPr lang="en-US" altLang="en-US" dirty="0">
              <a:solidFill>
                <a:schemeClr val="accent2"/>
              </a:solidFill>
            </a:endParaRPr>
          </a:p>
        </p:txBody>
      </p:sp>
      <p:sp>
        <p:nvSpPr>
          <p:cNvPr id="66565" name="Rectangle 5"/>
          <p:cNvSpPr>
            <a:spLocks noChangeArrowheads="1"/>
          </p:cNvSpPr>
          <p:nvPr/>
        </p:nvSpPr>
        <p:spPr bwMode="auto">
          <a:xfrm>
            <a:off x="685800" y="990600"/>
            <a:ext cx="7848600" cy="426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marL="342900" indent="-34290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r>
              <a:rPr lang="en-US" altLang="en-US" sz="2400" dirty="0" err="1"/>
              <a:t>Kohonen</a:t>
            </a:r>
            <a:r>
              <a:rPr lang="en-US" altLang="en-US" sz="2400" dirty="0"/>
              <a:t> Self-Organizing Map (</a:t>
            </a:r>
            <a:r>
              <a:rPr lang="en-US" altLang="en-US" sz="2400" dirty="0" err="1"/>
              <a:t>Kohonen</a:t>
            </a:r>
            <a:r>
              <a:rPr lang="en-US" altLang="en-US" sz="2400" dirty="0"/>
              <a:t> SOM): most popular unsupervised learning machine</a:t>
            </a:r>
          </a:p>
          <a:p>
            <a:r>
              <a:rPr lang="en-US" altLang="en-US" sz="2400" dirty="0"/>
              <a:t>Architecture (one-dimensional): (</a:t>
            </a:r>
            <a:r>
              <a:rPr lang="en-US" altLang="en-US" sz="2400" dirty="0" err="1"/>
              <a:t>Fausett</a:t>
            </a:r>
            <a:r>
              <a:rPr lang="en-US" altLang="en-US" sz="2400" dirty="0"/>
              <a:t>)</a:t>
            </a:r>
          </a:p>
          <a:p>
            <a:pPr lvl="1"/>
            <a:r>
              <a:rPr lang="en-US" altLang="en-US" sz="2000" dirty="0"/>
              <a:t>Input neurons map </a:t>
            </a:r>
            <a:r>
              <a:rPr lang="en-US" altLang="en-US" sz="2000" i="1" dirty="0"/>
              <a:t>n</a:t>
            </a:r>
            <a:r>
              <a:rPr lang="en-US" altLang="en-US" sz="2000" dirty="0"/>
              <a:t>-dimensional patterns to output (competitive) neurons with </a:t>
            </a:r>
            <a:r>
              <a:rPr lang="en-US" altLang="en-US" sz="2000" i="1" dirty="0"/>
              <a:t>p</a:t>
            </a:r>
            <a:r>
              <a:rPr lang="en-US" altLang="en-US" sz="2000" dirty="0"/>
              <a:t>-dimensional output patterns</a:t>
            </a:r>
          </a:p>
          <a:p>
            <a:pPr lvl="1"/>
            <a:r>
              <a:rPr lang="en-US" altLang="en-US" sz="2000" dirty="0"/>
              <a:t>Output neurons with similar patterns </a:t>
            </a:r>
          </a:p>
          <a:p>
            <a:pPr lvl="1">
              <a:buFontTx/>
              <a:buNone/>
            </a:pPr>
            <a:r>
              <a:rPr lang="en-US" altLang="en-US" sz="2000" dirty="0"/>
              <a:t>	are arranged to be neighbors</a:t>
            </a:r>
          </a:p>
          <a:p>
            <a:pPr lvl="1"/>
            <a:r>
              <a:rPr lang="en-US" altLang="en-US" sz="2000" dirty="0"/>
              <a:t>Some output neurons might </a:t>
            </a:r>
          </a:p>
          <a:p>
            <a:pPr lvl="1">
              <a:buFontTx/>
              <a:buNone/>
            </a:pPr>
            <a:r>
              <a:rPr lang="en-US" altLang="en-US" sz="2000" dirty="0"/>
              <a:t>	store more than one pattern</a:t>
            </a:r>
          </a:p>
          <a:p>
            <a:pPr>
              <a:buFontTx/>
              <a:buNone/>
            </a:pPr>
            <a:endParaRPr lang="en-US" altLang="en-US" sz="2400" dirty="0"/>
          </a:p>
        </p:txBody>
      </p:sp>
      <p:pic>
        <p:nvPicPr>
          <p:cNvPr id="9218" name="Picture 2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657600" y="3963112"/>
            <a:ext cx="5135167" cy="18383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823072023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en-US"/>
              <a:t>2014</a:t>
            </a:r>
          </a:p>
        </p:txBody>
      </p:sp>
      <p:sp>
        <p:nvSpPr>
          <p:cNvPr id="83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906501-0AB8-4ED1-ABE2-DF0BFC003C98}" type="slidenum">
              <a:rPr lang="en-US" altLang="en-US"/>
              <a:pPr/>
              <a:t>22</a:t>
            </a:fld>
            <a:endParaRPr lang="en-US" altLang="en-US"/>
          </a:p>
        </p:txBody>
      </p:sp>
      <p:sp>
        <p:nvSpPr>
          <p:cNvPr id="77906" name="AutoShape 82"/>
          <p:cNvSpPr>
            <a:spLocks noChangeArrowheads="1"/>
          </p:cNvSpPr>
          <p:nvPr/>
        </p:nvSpPr>
        <p:spPr bwMode="auto">
          <a:xfrm>
            <a:off x="304800" y="152400"/>
            <a:ext cx="8610600" cy="685800"/>
          </a:xfrm>
          <a:prstGeom prst="roundRect">
            <a:avLst>
              <a:gd name="adj" fmla="val 16667"/>
            </a:avLst>
          </a:prstGeom>
          <a:solidFill>
            <a:srgbClr val="FFCCFF"/>
          </a:solidFill>
          <a:ln w="34925">
            <a:solidFill>
              <a:srgbClr val="FF3300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77907" name="AutoShape 83"/>
          <p:cNvSpPr>
            <a:spLocks noChangeArrowheads="1"/>
          </p:cNvSpPr>
          <p:nvPr/>
        </p:nvSpPr>
        <p:spPr bwMode="auto">
          <a:xfrm>
            <a:off x="304800" y="914400"/>
            <a:ext cx="8610600" cy="5257800"/>
          </a:xfrm>
          <a:prstGeom prst="roundRect">
            <a:avLst>
              <a:gd name="adj" fmla="val 16667"/>
            </a:avLst>
          </a:prstGeom>
          <a:noFill/>
          <a:ln w="34925">
            <a:solidFill>
              <a:srgbClr val="FF33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77826" name="Rectangle 2"/>
          <p:cNvSpPr>
            <a:spLocks noChangeArrowheads="1"/>
          </p:cNvSpPr>
          <p:nvPr/>
        </p:nvSpPr>
        <p:spPr bwMode="auto">
          <a:xfrm>
            <a:off x="685800" y="0"/>
            <a:ext cx="7772400" cy="1066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/>
          <a:lstStyle>
            <a:lvl1pPr algn="ctr">
              <a:defRPr sz="4400">
                <a:solidFill>
                  <a:schemeClr val="tx2"/>
                </a:solidFill>
                <a:latin typeface="Times New Roman" pitchFamily="18" charset="0"/>
              </a:defRPr>
            </a:lvl1pPr>
            <a:lvl2pPr algn="ctr">
              <a:defRPr sz="4400">
                <a:solidFill>
                  <a:schemeClr val="tx2"/>
                </a:solidFill>
                <a:latin typeface="Times New Roman" pitchFamily="18" charset="0"/>
              </a:defRPr>
            </a:lvl2pPr>
            <a:lvl3pPr algn="ctr">
              <a:defRPr sz="4400">
                <a:solidFill>
                  <a:schemeClr val="tx2"/>
                </a:solidFill>
                <a:latin typeface="Times New Roman" pitchFamily="18" charset="0"/>
              </a:defRPr>
            </a:lvl3pPr>
            <a:lvl4pPr algn="ctr">
              <a:defRPr sz="4400">
                <a:solidFill>
                  <a:schemeClr val="tx2"/>
                </a:solidFill>
                <a:latin typeface="Times New Roman" pitchFamily="18" charset="0"/>
              </a:defRPr>
            </a:lvl4pPr>
            <a:lvl5pPr algn="ctr">
              <a:defRPr sz="4400">
                <a:solidFill>
                  <a:schemeClr val="tx2"/>
                </a:solidFill>
                <a:latin typeface="Times New Roman" pitchFamily="18" charset="0"/>
              </a:defRPr>
            </a:lvl5pPr>
            <a:lvl6pPr marL="457200" algn="ctr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imes New Roman" pitchFamily="18" charset="0"/>
              </a:defRPr>
            </a:lvl6pPr>
            <a:lvl7pPr marL="914400" algn="ctr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imes New Roman" pitchFamily="18" charset="0"/>
              </a:defRPr>
            </a:lvl7pPr>
            <a:lvl8pPr marL="1371600" algn="ctr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imes New Roman" pitchFamily="18" charset="0"/>
              </a:defRPr>
            </a:lvl8pPr>
            <a:lvl9pPr marL="1828800" algn="ctr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imes New Roman" pitchFamily="18" charset="0"/>
              </a:defRPr>
            </a:lvl9pPr>
          </a:lstStyle>
          <a:p>
            <a:r>
              <a:rPr lang="en-US" altLang="en-US" sz="2800" i="1" dirty="0" err="1">
                <a:solidFill>
                  <a:schemeClr val="accent2"/>
                </a:solidFill>
                <a:latin typeface="Arial" charset="0"/>
              </a:rPr>
              <a:t>Kohonen</a:t>
            </a:r>
            <a:r>
              <a:rPr lang="en-US" altLang="en-US" sz="2800" i="1" dirty="0">
                <a:solidFill>
                  <a:schemeClr val="accent2"/>
                </a:solidFill>
                <a:latin typeface="Arial" charset="0"/>
              </a:rPr>
              <a:t> Self-Organizing Maps (continued)</a:t>
            </a:r>
            <a:endParaRPr lang="en-US" altLang="en-US" i="1" dirty="0">
              <a:solidFill>
                <a:schemeClr val="accent2"/>
              </a:solidFill>
            </a:endParaRPr>
          </a:p>
        </p:txBody>
      </p:sp>
      <p:sp>
        <p:nvSpPr>
          <p:cNvPr id="77827" name="Rectangle 3"/>
          <p:cNvSpPr>
            <a:spLocks noChangeArrowheads="1"/>
          </p:cNvSpPr>
          <p:nvPr/>
        </p:nvSpPr>
        <p:spPr bwMode="auto">
          <a:xfrm>
            <a:off x="685800" y="1143000"/>
            <a:ext cx="7848600" cy="411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marL="342900" indent="-34290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r>
              <a:rPr lang="en-US" altLang="en-US" sz="2400" i="1" dirty="0"/>
              <a:t>Example: object classification using one-dimensional array</a:t>
            </a:r>
          </a:p>
          <a:p>
            <a:endParaRPr lang="en-US" altLang="en-US" sz="2400" i="1" dirty="0"/>
          </a:p>
          <a:p>
            <a:endParaRPr lang="en-US" altLang="en-US" sz="2400" i="1" dirty="0"/>
          </a:p>
          <a:p>
            <a:endParaRPr lang="en-US" altLang="en-US" sz="2400" i="1" dirty="0"/>
          </a:p>
          <a:p>
            <a:endParaRPr lang="en-US" altLang="en-US" sz="2400" i="1" dirty="0"/>
          </a:p>
          <a:p>
            <a:endParaRPr lang="en-US" altLang="en-US" sz="2400" i="1" dirty="0"/>
          </a:p>
          <a:p>
            <a:endParaRPr lang="en-US" altLang="en-US" sz="2400" i="1" dirty="0"/>
          </a:p>
          <a:p>
            <a:endParaRPr lang="en-US" altLang="en-US" sz="2400" i="1" dirty="0"/>
          </a:p>
          <a:p>
            <a:pPr lvl="1"/>
            <a:endParaRPr lang="en-US" altLang="en-US" sz="900" i="1" dirty="0"/>
          </a:p>
          <a:p>
            <a:pPr lvl="1"/>
            <a:r>
              <a:rPr lang="en-US" altLang="en-US" sz="1800" i="1" dirty="0"/>
              <a:t>New pattern: hovercraft </a:t>
            </a:r>
          </a:p>
          <a:p>
            <a:pPr lvl="2"/>
            <a:r>
              <a:rPr lang="en-US" altLang="en-US" sz="1600" i="1" dirty="0"/>
              <a:t>is mapped to the nationhood of truck or airplane</a:t>
            </a:r>
          </a:p>
          <a:p>
            <a:pPr lvl="1"/>
            <a:r>
              <a:rPr lang="en-US" altLang="en-US" sz="1800" i="1" dirty="0"/>
              <a:t>Disadvantage: one-dimensional array positions some objects with some similarities far from each other</a:t>
            </a:r>
          </a:p>
          <a:p>
            <a:pPr>
              <a:buFontTx/>
              <a:buNone/>
            </a:pPr>
            <a:endParaRPr lang="en-US" altLang="en-US" sz="1800" i="1" dirty="0"/>
          </a:p>
        </p:txBody>
      </p:sp>
      <p:sp>
        <p:nvSpPr>
          <p:cNvPr id="77829" name="Oval 5"/>
          <p:cNvSpPr>
            <a:spLocks noChangeArrowheads="1"/>
          </p:cNvSpPr>
          <p:nvPr/>
        </p:nvSpPr>
        <p:spPr bwMode="auto">
          <a:xfrm>
            <a:off x="2719388" y="3687763"/>
            <a:ext cx="392112" cy="412750"/>
          </a:xfrm>
          <a:prstGeom prst="ellipse">
            <a:avLst/>
          </a:prstGeom>
          <a:solidFill>
            <a:srgbClr val="800080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77830" name="Oval 6"/>
          <p:cNvSpPr>
            <a:spLocks noChangeArrowheads="1"/>
          </p:cNvSpPr>
          <p:nvPr/>
        </p:nvSpPr>
        <p:spPr bwMode="auto">
          <a:xfrm>
            <a:off x="3505200" y="2590800"/>
            <a:ext cx="392113" cy="411163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77831" name="Oval 7"/>
          <p:cNvSpPr>
            <a:spLocks noChangeArrowheads="1"/>
          </p:cNvSpPr>
          <p:nvPr/>
        </p:nvSpPr>
        <p:spPr bwMode="auto">
          <a:xfrm>
            <a:off x="4683125" y="3687763"/>
            <a:ext cx="392113" cy="412750"/>
          </a:xfrm>
          <a:prstGeom prst="ellipse">
            <a:avLst/>
          </a:prstGeom>
          <a:solidFill>
            <a:srgbClr val="800080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77832" name="Oval 8"/>
          <p:cNvSpPr>
            <a:spLocks noChangeArrowheads="1"/>
          </p:cNvSpPr>
          <p:nvPr/>
        </p:nvSpPr>
        <p:spPr bwMode="auto">
          <a:xfrm>
            <a:off x="3373438" y="3687763"/>
            <a:ext cx="392112" cy="412750"/>
          </a:xfrm>
          <a:prstGeom prst="ellipse">
            <a:avLst/>
          </a:prstGeom>
          <a:solidFill>
            <a:srgbClr val="800080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77833" name="Oval 9"/>
          <p:cNvSpPr>
            <a:spLocks noChangeArrowheads="1"/>
          </p:cNvSpPr>
          <p:nvPr/>
        </p:nvSpPr>
        <p:spPr bwMode="auto">
          <a:xfrm>
            <a:off x="4813300" y="2590800"/>
            <a:ext cx="392113" cy="411163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77834" name="Line 10"/>
          <p:cNvSpPr>
            <a:spLocks noChangeShapeType="1"/>
          </p:cNvSpPr>
          <p:nvPr/>
        </p:nvSpPr>
        <p:spPr bwMode="auto">
          <a:xfrm flipH="1">
            <a:off x="2981325" y="3001963"/>
            <a:ext cx="654050" cy="685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77835" name="Oval 11"/>
          <p:cNvSpPr>
            <a:spLocks noChangeArrowheads="1"/>
          </p:cNvSpPr>
          <p:nvPr/>
        </p:nvSpPr>
        <p:spPr bwMode="auto">
          <a:xfrm>
            <a:off x="4027488" y="3687763"/>
            <a:ext cx="393700" cy="412750"/>
          </a:xfrm>
          <a:prstGeom prst="ellipse">
            <a:avLst/>
          </a:prstGeom>
          <a:solidFill>
            <a:srgbClr val="800080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77836" name="Oval 12"/>
          <p:cNvSpPr>
            <a:spLocks noChangeArrowheads="1"/>
          </p:cNvSpPr>
          <p:nvPr/>
        </p:nvSpPr>
        <p:spPr bwMode="auto">
          <a:xfrm>
            <a:off x="5337175" y="3687763"/>
            <a:ext cx="392113" cy="412750"/>
          </a:xfrm>
          <a:prstGeom prst="ellipse">
            <a:avLst/>
          </a:prstGeom>
          <a:solidFill>
            <a:srgbClr val="800080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77837" name="Oval 13"/>
          <p:cNvSpPr>
            <a:spLocks noChangeArrowheads="1"/>
          </p:cNvSpPr>
          <p:nvPr/>
        </p:nvSpPr>
        <p:spPr bwMode="auto">
          <a:xfrm>
            <a:off x="5991225" y="3687763"/>
            <a:ext cx="392113" cy="412750"/>
          </a:xfrm>
          <a:prstGeom prst="ellipse">
            <a:avLst/>
          </a:prstGeom>
          <a:solidFill>
            <a:srgbClr val="800080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77838" name="Oval 14"/>
          <p:cNvSpPr>
            <a:spLocks noChangeArrowheads="1"/>
          </p:cNvSpPr>
          <p:nvPr/>
        </p:nvSpPr>
        <p:spPr bwMode="auto">
          <a:xfrm>
            <a:off x="6645275" y="3687763"/>
            <a:ext cx="392113" cy="412750"/>
          </a:xfrm>
          <a:prstGeom prst="ellipse">
            <a:avLst/>
          </a:prstGeom>
          <a:solidFill>
            <a:srgbClr val="800080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77839" name="Oval 15"/>
          <p:cNvSpPr>
            <a:spLocks noChangeArrowheads="1"/>
          </p:cNvSpPr>
          <p:nvPr/>
        </p:nvSpPr>
        <p:spPr bwMode="auto">
          <a:xfrm>
            <a:off x="6121400" y="2590800"/>
            <a:ext cx="393700" cy="411163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77840" name="Oval 16"/>
          <p:cNvSpPr>
            <a:spLocks noChangeArrowheads="1"/>
          </p:cNvSpPr>
          <p:nvPr/>
        </p:nvSpPr>
        <p:spPr bwMode="auto">
          <a:xfrm>
            <a:off x="7169150" y="2590800"/>
            <a:ext cx="392113" cy="411163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77841" name="Oval 17"/>
          <p:cNvSpPr>
            <a:spLocks noChangeArrowheads="1"/>
          </p:cNvSpPr>
          <p:nvPr/>
        </p:nvSpPr>
        <p:spPr bwMode="auto">
          <a:xfrm>
            <a:off x="7431088" y="3687763"/>
            <a:ext cx="392112" cy="412750"/>
          </a:xfrm>
          <a:prstGeom prst="ellipse">
            <a:avLst/>
          </a:prstGeom>
          <a:solidFill>
            <a:srgbClr val="800080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77842" name="Oval 18"/>
          <p:cNvSpPr>
            <a:spLocks noChangeArrowheads="1"/>
          </p:cNvSpPr>
          <p:nvPr/>
        </p:nvSpPr>
        <p:spPr bwMode="auto">
          <a:xfrm>
            <a:off x="8085138" y="3687763"/>
            <a:ext cx="392112" cy="412750"/>
          </a:xfrm>
          <a:prstGeom prst="ellipse">
            <a:avLst/>
          </a:prstGeom>
          <a:solidFill>
            <a:srgbClr val="800080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77843" name="Line 19"/>
          <p:cNvSpPr>
            <a:spLocks noChangeShapeType="1"/>
          </p:cNvSpPr>
          <p:nvPr/>
        </p:nvSpPr>
        <p:spPr bwMode="auto">
          <a:xfrm>
            <a:off x="3635375" y="3001963"/>
            <a:ext cx="0" cy="685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77844" name="Line 20"/>
          <p:cNvSpPr>
            <a:spLocks noChangeShapeType="1"/>
          </p:cNvSpPr>
          <p:nvPr/>
        </p:nvSpPr>
        <p:spPr bwMode="auto">
          <a:xfrm>
            <a:off x="3635375" y="3001963"/>
            <a:ext cx="523875" cy="685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77845" name="Line 21"/>
          <p:cNvSpPr>
            <a:spLocks noChangeShapeType="1"/>
          </p:cNvSpPr>
          <p:nvPr/>
        </p:nvSpPr>
        <p:spPr bwMode="auto">
          <a:xfrm>
            <a:off x="3635375" y="3001963"/>
            <a:ext cx="1177925" cy="685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77846" name="Line 22"/>
          <p:cNvSpPr>
            <a:spLocks noChangeShapeType="1"/>
          </p:cNvSpPr>
          <p:nvPr/>
        </p:nvSpPr>
        <p:spPr bwMode="auto">
          <a:xfrm>
            <a:off x="3657600" y="2057400"/>
            <a:ext cx="0" cy="549275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77847" name="Text Box 23"/>
          <p:cNvSpPr txBox="1">
            <a:spLocks noChangeArrowheads="1"/>
          </p:cNvSpPr>
          <p:nvPr/>
        </p:nvSpPr>
        <p:spPr bwMode="auto">
          <a:xfrm>
            <a:off x="3124200" y="1676400"/>
            <a:ext cx="1087438" cy="2746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en-US" sz="1200"/>
              <a:t>weight (0 to 1)</a:t>
            </a:r>
          </a:p>
        </p:txBody>
      </p:sp>
      <p:sp>
        <p:nvSpPr>
          <p:cNvPr id="77848" name="Line 24"/>
          <p:cNvSpPr>
            <a:spLocks noChangeShapeType="1"/>
          </p:cNvSpPr>
          <p:nvPr/>
        </p:nvSpPr>
        <p:spPr bwMode="auto">
          <a:xfrm>
            <a:off x="5029200" y="2057400"/>
            <a:ext cx="0" cy="549275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77849" name="Text Box 25"/>
          <p:cNvSpPr txBox="1">
            <a:spLocks noChangeArrowheads="1"/>
          </p:cNvSpPr>
          <p:nvPr/>
        </p:nvSpPr>
        <p:spPr bwMode="auto">
          <a:xfrm>
            <a:off x="4267200" y="1600200"/>
            <a:ext cx="140335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ctr"/>
            <a:r>
              <a:rPr lang="en-US" altLang="en-US" sz="1200"/>
              <a:t>texture </a:t>
            </a:r>
          </a:p>
          <a:p>
            <a:pPr algn="ctr"/>
            <a:r>
              <a:rPr lang="en-US" altLang="en-US" sz="1200"/>
              <a:t>(wood=0, metal =1)</a:t>
            </a:r>
          </a:p>
        </p:txBody>
      </p:sp>
      <p:sp>
        <p:nvSpPr>
          <p:cNvPr id="77850" name="Line 26"/>
          <p:cNvSpPr>
            <a:spLocks noChangeShapeType="1"/>
          </p:cNvSpPr>
          <p:nvPr/>
        </p:nvSpPr>
        <p:spPr bwMode="auto">
          <a:xfrm>
            <a:off x="6307138" y="2041525"/>
            <a:ext cx="0" cy="549275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77851" name="Text Box 27"/>
          <p:cNvSpPr txBox="1">
            <a:spLocks noChangeArrowheads="1"/>
          </p:cNvSpPr>
          <p:nvPr/>
        </p:nvSpPr>
        <p:spPr bwMode="auto">
          <a:xfrm>
            <a:off x="5943600" y="1676400"/>
            <a:ext cx="909638" cy="2746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en-US" sz="1200"/>
              <a:t>size (0 to 1)</a:t>
            </a:r>
          </a:p>
        </p:txBody>
      </p:sp>
      <p:sp>
        <p:nvSpPr>
          <p:cNvPr id="77852" name="Line 28"/>
          <p:cNvSpPr>
            <a:spLocks noChangeShapeType="1"/>
          </p:cNvSpPr>
          <p:nvPr/>
        </p:nvSpPr>
        <p:spPr bwMode="auto">
          <a:xfrm>
            <a:off x="7373938" y="2041525"/>
            <a:ext cx="0" cy="549275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77853" name="Text Box 29"/>
          <p:cNvSpPr txBox="1">
            <a:spLocks noChangeArrowheads="1"/>
          </p:cNvSpPr>
          <p:nvPr/>
        </p:nvSpPr>
        <p:spPr bwMode="auto">
          <a:xfrm>
            <a:off x="6916738" y="1660525"/>
            <a:ext cx="1316037" cy="2746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en-US" sz="1200"/>
              <a:t>flies (1) or not (0) </a:t>
            </a:r>
          </a:p>
        </p:txBody>
      </p:sp>
      <p:sp>
        <p:nvSpPr>
          <p:cNvPr id="77854" name="Line 30"/>
          <p:cNvSpPr>
            <a:spLocks noChangeShapeType="1"/>
          </p:cNvSpPr>
          <p:nvPr/>
        </p:nvSpPr>
        <p:spPr bwMode="auto">
          <a:xfrm>
            <a:off x="3635375" y="3001963"/>
            <a:ext cx="1831975" cy="685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77855" name="Line 31"/>
          <p:cNvSpPr>
            <a:spLocks noChangeShapeType="1"/>
          </p:cNvSpPr>
          <p:nvPr/>
        </p:nvSpPr>
        <p:spPr bwMode="auto">
          <a:xfrm>
            <a:off x="3635375" y="3001963"/>
            <a:ext cx="2617788" cy="685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77856" name="Line 32"/>
          <p:cNvSpPr>
            <a:spLocks noChangeShapeType="1"/>
          </p:cNvSpPr>
          <p:nvPr/>
        </p:nvSpPr>
        <p:spPr bwMode="auto">
          <a:xfrm>
            <a:off x="3635375" y="3001963"/>
            <a:ext cx="3141663" cy="685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77857" name="Line 33"/>
          <p:cNvSpPr>
            <a:spLocks noChangeShapeType="1"/>
          </p:cNvSpPr>
          <p:nvPr/>
        </p:nvSpPr>
        <p:spPr bwMode="auto">
          <a:xfrm>
            <a:off x="3635375" y="3001963"/>
            <a:ext cx="3925888" cy="685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77858" name="Line 34"/>
          <p:cNvSpPr>
            <a:spLocks noChangeShapeType="1"/>
          </p:cNvSpPr>
          <p:nvPr/>
        </p:nvSpPr>
        <p:spPr bwMode="auto">
          <a:xfrm>
            <a:off x="3635375" y="3001963"/>
            <a:ext cx="4711700" cy="685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77859" name="Line 35"/>
          <p:cNvSpPr>
            <a:spLocks noChangeShapeType="1"/>
          </p:cNvSpPr>
          <p:nvPr/>
        </p:nvSpPr>
        <p:spPr bwMode="auto">
          <a:xfrm flipH="1">
            <a:off x="2981325" y="3001963"/>
            <a:ext cx="2093913" cy="685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77860" name="Line 36"/>
          <p:cNvSpPr>
            <a:spLocks noChangeShapeType="1"/>
          </p:cNvSpPr>
          <p:nvPr/>
        </p:nvSpPr>
        <p:spPr bwMode="auto">
          <a:xfrm flipH="1">
            <a:off x="3635375" y="3001963"/>
            <a:ext cx="1439863" cy="685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77861" name="Line 37"/>
          <p:cNvSpPr>
            <a:spLocks noChangeShapeType="1"/>
          </p:cNvSpPr>
          <p:nvPr/>
        </p:nvSpPr>
        <p:spPr bwMode="auto">
          <a:xfrm flipH="1">
            <a:off x="4159250" y="3001963"/>
            <a:ext cx="915988" cy="685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77862" name="Line 38"/>
          <p:cNvSpPr>
            <a:spLocks noChangeShapeType="1"/>
          </p:cNvSpPr>
          <p:nvPr/>
        </p:nvSpPr>
        <p:spPr bwMode="auto">
          <a:xfrm flipH="1">
            <a:off x="4813300" y="3001963"/>
            <a:ext cx="261938" cy="685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77863" name="Line 39"/>
          <p:cNvSpPr>
            <a:spLocks noChangeShapeType="1"/>
          </p:cNvSpPr>
          <p:nvPr/>
        </p:nvSpPr>
        <p:spPr bwMode="auto">
          <a:xfrm>
            <a:off x="5075238" y="3001963"/>
            <a:ext cx="392112" cy="685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77864" name="Line 40"/>
          <p:cNvSpPr>
            <a:spLocks noChangeShapeType="1"/>
          </p:cNvSpPr>
          <p:nvPr/>
        </p:nvSpPr>
        <p:spPr bwMode="auto">
          <a:xfrm>
            <a:off x="5075238" y="3001963"/>
            <a:ext cx="1177925" cy="685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77865" name="Line 41"/>
          <p:cNvSpPr>
            <a:spLocks noChangeShapeType="1"/>
          </p:cNvSpPr>
          <p:nvPr/>
        </p:nvSpPr>
        <p:spPr bwMode="auto">
          <a:xfrm>
            <a:off x="5075238" y="3001963"/>
            <a:ext cx="1701800" cy="685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77866" name="Line 42"/>
          <p:cNvSpPr>
            <a:spLocks noChangeShapeType="1"/>
          </p:cNvSpPr>
          <p:nvPr/>
        </p:nvSpPr>
        <p:spPr bwMode="auto">
          <a:xfrm>
            <a:off x="5075238" y="3001963"/>
            <a:ext cx="2486025" cy="685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77867" name="Line 43"/>
          <p:cNvSpPr>
            <a:spLocks noChangeShapeType="1"/>
          </p:cNvSpPr>
          <p:nvPr/>
        </p:nvSpPr>
        <p:spPr bwMode="auto">
          <a:xfrm>
            <a:off x="5075238" y="3001963"/>
            <a:ext cx="3140075" cy="685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77868" name="Line 44"/>
          <p:cNvSpPr>
            <a:spLocks noChangeShapeType="1"/>
          </p:cNvSpPr>
          <p:nvPr/>
        </p:nvSpPr>
        <p:spPr bwMode="auto">
          <a:xfrm flipH="1">
            <a:off x="2981325" y="3001963"/>
            <a:ext cx="3271838" cy="685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77869" name="Line 45"/>
          <p:cNvSpPr>
            <a:spLocks noChangeShapeType="1"/>
          </p:cNvSpPr>
          <p:nvPr/>
        </p:nvSpPr>
        <p:spPr bwMode="auto">
          <a:xfrm flipH="1">
            <a:off x="3635375" y="3001963"/>
            <a:ext cx="2617788" cy="685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77870" name="Line 46"/>
          <p:cNvSpPr>
            <a:spLocks noChangeShapeType="1"/>
          </p:cNvSpPr>
          <p:nvPr/>
        </p:nvSpPr>
        <p:spPr bwMode="auto">
          <a:xfrm flipH="1">
            <a:off x="4289425" y="3001963"/>
            <a:ext cx="1963738" cy="685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77871" name="Line 47"/>
          <p:cNvSpPr>
            <a:spLocks noChangeShapeType="1"/>
          </p:cNvSpPr>
          <p:nvPr/>
        </p:nvSpPr>
        <p:spPr bwMode="auto">
          <a:xfrm flipH="1">
            <a:off x="4943475" y="3001963"/>
            <a:ext cx="1309688" cy="685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77872" name="Line 48"/>
          <p:cNvSpPr>
            <a:spLocks noChangeShapeType="1"/>
          </p:cNvSpPr>
          <p:nvPr/>
        </p:nvSpPr>
        <p:spPr bwMode="auto">
          <a:xfrm flipH="1">
            <a:off x="5467350" y="3001963"/>
            <a:ext cx="785813" cy="685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77873" name="Line 49"/>
          <p:cNvSpPr>
            <a:spLocks noChangeShapeType="1"/>
          </p:cNvSpPr>
          <p:nvPr/>
        </p:nvSpPr>
        <p:spPr bwMode="auto">
          <a:xfrm>
            <a:off x="6253163" y="3001963"/>
            <a:ext cx="0" cy="685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77874" name="Line 50"/>
          <p:cNvSpPr>
            <a:spLocks noChangeShapeType="1"/>
          </p:cNvSpPr>
          <p:nvPr/>
        </p:nvSpPr>
        <p:spPr bwMode="auto">
          <a:xfrm>
            <a:off x="6253163" y="3001963"/>
            <a:ext cx="523875" cy="685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77875" name="Line 51"/>
          <p:cNvSpPr>
            <a:spLocks noChangeShapeType="1"/>
          </p:cNvSpPr>
          <p:nvPr/>
        </p:nvSpPr>
        <p:spPr bwMode="auto">
          <a:xfrm>
            <a:off x="6253163" y="3001963"/>
            <a:ext cx="1308100" cy="685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77876" name="Line 52"/>
          <p:cNvSpPr>
            <a:spLocks noChangeShapeType="1"/>
          </p:cNvSpPr>
          <p:nvPr/>
        </p:nvSpPr>
        <p:spPr bwMode="auto">
          <a:xfrm>
            <a:off x="6253163" y="3001963"/>
            <a:ext cx="2093912" cy="685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77877" name="Line 53"/>
          <p:cNvSpPr>
            <a:spLocks noChangeShapeType="1"/>
          </p:cNvSpPr>
          <p:nvPr/>
        </p:nvSpPr>
        <p:spPr bwMode="auto">
          <a:xfrm flipH="1">
            <a:off x="2981325" y="3001963"/>
            <a:ext cx="4318000" cy="685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77878" name="Line 54"/>
          <p:cNvSpPr>
            <a:spLocks noChangeShapeType="1"/>
          </p:cNvSpPr>
          <p:nvPr/>
        </p:nvSpPr>
        <p:spPr bwMode="auto">
          <a:xfrm flipH="1">
            <a:off x="3635375" y="3001963"/>
            <a:ext cx="3663950" cy="685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77879" name="Line 55"/>
          <p:cNvSpPr>
            <a:spLocks noChangeShapeType="1"/>
          </p:cNvSpPr>
          <p:nvPr/>
        </p:nvSpPr>
        <p:spPr bwMode="auto">
          <a:xfrm flipH="1">
            <a:off x="4943475" y="3001963"/>
            <a:ext cx="2355850" cy="685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77880" name="Line 56"/>
          <p:cNvSpPr>
            <a:spLocks noChangeShapeType="1"/>
          </p:cNvSpPr>
          <p:nvPr/>
        </p:nvSpPr>
        <p:spPr bwMode="auto">
          <a:xfrm flipH="1">
            <a:off x="5599113" y="3001963"/>
            <a:ext cx="1700212" cy="685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77881" name="Line 57"/>
          <p:cNvSpPr>
            <a:spLocks noChangeShapeType="1"/>
          </p:cNvSpPr>
          <p:nvPr/>
        </p:nvSpPr>
        <p:spPr bwMode="auto">
          <a:xfrm flipH="1">
            <a:off x="6253163" y="3001963"/>
            <a:ext cx="1046162" cy="685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77882" name="Line 58"/>
          <p:cNvSpPr>
            <a:spLocks noChangeShapeType="1"/>
          </p:cNvSpPr>
          <p:nvPr/>
        </p:nvSpPr>
        <p:spPr bwMode="auto">
          <a:xfrm flipH="1">
            <a:off x="6777038" y="3001963"/>
            <a:ext cx="522287" cy="685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77883" name="Line 59"/>
          <p:cNvSpPr>
            <a:spLocks noChangeShapeType="1"/>
          </p:cNvSpPr>
          <p:nvPr/>
        </p:nvSpPr>
        <p:spPr bwMode="auto">
          <a:xfrm>
            <a:off x="7299325" y="3001963"/>
            <a:ext cx="261938" cy="685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77884" name="Line 60"/>
          <p:cNvSpPr>
            <a:spLocks noChangeShapeType="1"/>
          </p:cNvSpPr>
          <p:nvPr/>
        </p:nvSpPr>
        <p:spPr bwMode="auto">
          <a:xfrm>
            <a:off x="7299325" y="3001963"/>
            <a:ext cx="1047750" cy="685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77885" name="Text Box 61"/>
          <p:cNvSpPr txBox="1">
            <a:spLocks noChangeArrowheads="1"/>
          </p:cNvSpPr>
          <p:nvPr/>
        </p:nvSpPr>
        <p:spPr bwMode="auto">
          <a:xfrm>
            <a:off x="685800" y="1905000"/>
            <a:ext cx="558800" cy="2746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r>
              <a:rPr lang="en-US" altLang="en-US" sz="1200"/>
              <a:t>pencil</a:t>
            </a:r>
          </a:p>
        </p:txBody>
      </p:sp>
      <p:sp>
        <p:nvSpPr>
          <p:cNvPr id="77887" name="Text Box 63"/>
          <p:cNvSpPr txBox="1">
            <a:spLocks noChangeArrowheads="1"/>
          </p:cNvSpPr>
          <p:nvPr/>
        </p:nvSpPr>
        <p:spPr bwMode="auto">
          <a:xfrm>
            <a:off x="8059738" y="4175125"/>
            <a:ext cx="558800" cy="2746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r>
              <a:rPr lang="en-US" altLang="en-US" sz="1200"/>
              <a:t>pencil</a:t>
            </a:r>
          </a:p>
        </p:txBody>
      </p:sp>
      <p:sp>
        <p:nvSpPr>
          <p:cNvPr id="77888" name="Text Box 64"/>
          <p:cNvSpPr txBox="1">
            <a:spLocks noChangeArrowheads="1"/>
          </p:cNvSpPr>
          <p:nvPr/>
        </p:nvSpPr>
        <p:spPr bwMode="auto">
          <a:xfrm>
            <a:off x="685800" y="2209800"/>
            <a:ext cx="762000" cy="2746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r>
              <a:rPr lang="en-US" altLang="en-US" sz="1200"/>
              <a:t>airplane</a:t>
            </a:r>
          </a:p>
        </p:txBody>
      </p:sp>
      <p:sp>
        <p:nvSpPr>
          <p:cNvPr id="77890" name="Text Box 66"/>
          <p:cNvSpPr txBox="1">
            <a:spLocks noChangeArrowheads="1"/>
          </p:cNvSpPr>
          <p:nvPr/>
        </p:nvSpPr>
        <p:spPr bwMode="auto">
          <a:xfrm>
            <a:off x="2497138" y="4175125"/>
            <a:ext cx="762000" cy="2746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r>
              <a:rPr lang="en-US" altLang="en-US" sz="1200"/>
              <a:t>airplane</a:t>
            </a:r>
          </a:p>
        </p:txBody>
      </p:sp>
      <p:sp>
        <p:nvSpPr>
          <p:cNvPr id="77891" name="Text Box 67"/>
          <p:cNvSpPr txBox="1">
            <a:spLocks noChangeArrowheads="1"/>
          </p:cNvSpPr>
          <p:nvPr/>
        </p:nvSpPr>
        <p:spPr bwMode="auto">
          <a:xfrm>
            <a:off x="685800" y="2514600"/>
            <a:ext cx="762000" cy="2746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r>
              <a:rPr lang="en-US" altLang="en-US" sz="1200"/>
              <a:t>chair</a:t>
            </a:r>
          </a:p>
        </p:txBody>
      </p:sp>
      <p:sp>
        <p:nvSpPr>
          <p:cNvPr id="77892" name="Text Box 68"/>
          <p:cNvSpPr txBox="1">
            <a:spLocks noChangeArrowheads="1"/>
          </p:cNvSpPr>
          <p:nvPr/>
        </p:nvSpPr>
        <p:spPr bwMode="auto">
          <a:xfrm>
            <a:off x="5926138" y="4175125"/>
            <a:ext cx="762000" cy="2746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r>
              <a:rPr lang="en-US" altLang="en-US" sz="1200"/>
              <a:t>chair</a:t>
            </a:r>
          </a:p>
        </p:txBody>
      </p:sp>
      <p:sp>
        <p:nvSpPr>
          <p:cNvPr id="77893" name="Text Box 69"/>
          <p:cNvSpPr txBox="1">
            <a:spLocks noChangeArrowheads="1"/>
          </p:cNvSpPr>
          <p:nvPr/>
        </p:nvSpPr>
        <p:spPr bwMode="auto">
          <a:xfrm>
            <a:off x="685800" y="2819400"/>
            <a:ext cx="762000" cy="2746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r>
              <a:rPr lang="en-US" altLang="en-US" sz="1200"/>
              <a:t>book</a:t>
            </a:r>
          </a:p>
        </p:txBody>
      </p:sp>
      <p:sp>
        <p:nvSpPr>
          <p:cNvPr id="77894" name="Text Box 70"/>
          <p:cNvSpPr txBox="1">
            <a:spLocks noChangeArrowheads="1"/>
          </p:cNvSpPr>
          <p:nvPr/>
        </p:nvSpPr>
        <p:spPr bwMode="auto">
          <a:xfrm>
            <a:off x="7373938" y="4175125"/>
            <a:ext cx="762000" cy="2746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r>
              <a:rPr lang="en-US" altLang="en-US" sz="1200"/>
              <a:t>book</a:t>
            </a:r>
          </a:p>
        </p:txBody>
      </p:sp>
      <p:sp>
        <p:nvSpPr>
          <p:cNvPr id="77895" name="Text Box 71"/>
          <p:cNvSpPr txBox="1">
            <a:spLocks noChangeArrowheads="1"/>
          </p:cNvSpPr>
          <p:nvPr/>
        </p:nvSpPr>
        <p:spPr bwMode="auto">
          <a:xfrm>
            <a:off x="685800" y="3048000"/>
            <a:ext cx="762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r>
              <a:rPr lang="en-US" altLang="en-US" sz="1200"/>
              <a:t>wooden house</a:t>
            </a:r>
          </a:p>
        </p:txBody>
      </p:sp>
      <p:sp>
        <p:nvSpPr>
          <p:cNvPr id="77896" name="Text Box 72"/>
          <p:cNvSpPr txBox="1">
            <a:spLocks noChangeArrowheads="1"/>
          </p:cNvSpPr>
          <p:nvPr/>
        </p:nvSpPr>
        <p:spPr bwMode="auto">
          <a:xfrm>
            <a:off x="3944938" y="4098925"/>
            <a:ext cx="762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r>
              <a:rPr lang="en-US" altLang="en-US" sz="1200"/>
              <a:t>wooden house</a:t>
            </a:r>
          </a:p>
        </p:txBody>
      </p:sp>
      <p:sp>
        <p:nvSpPr>
          <p:cNvPr id="77897" name="Text Box 73"/>
          <p:cNvSpPr txBox="1">
            <a:spLocks noChangeArrowheads="1"/>
          </p:cNvSpPr>
          <p:nvPr/>
        </p:nvSpPr>
        <p:spPr bwMode="auto">
          <a:xfrm>
            <a:off x="685800" y="3505200"/>
            <a:ext cx="762000" cy="2746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r>
              <a:rPr lang="en-US" altLang="en-US" sz="1200"/>
              <a:t>stapler</a:t>
            </a:r>
          </a:p>
        </p:txBody>
      </p:sp>
      <p:sp>
        <p:nvSpPr>
          <p:cNvPr id="77898" name="Text Box 74"/>
          <p:cNvSpPr txBox="1">
            <a:spLocks noChangeArrowheads="1"/>
          </p:cNvSpPr>
          <p:nvPr/>
        </p:nvSpPr>
        <p:spPr bwMode="auto">
          <a:xfrm>
            <a:off x="6611938" y="4175125"/>
            <a:ext cx="762000" cy="2746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r>
              <a:rPr lang="en-US" altLang="en-US" sz="1200"/>
              <a:t>stapler</a:t>
            </a:r>
          </a:p>
        </p:txBody>
      </p:sp>
      <p:sp>
        <p:nvSpPr>
          <p:cNvPr id="77899" name="Text Box 75"/>
          <p:cNvSpPr txBox="1">
            <a:spLocks noChangeArrowheads="1"/>
          </p:cNvSpPr>
          <p:nvPr/>
        </p:nvSpPr>
        <p:spPr bwMode="auto">
          <a:xfrm>
            <a:off x="685800" y="3810000"/>
            <a:ext cx="762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r>
              <a:rPr lang="en-US" altLang="en-US" sz="1200"/>
              <a:t>metal desk</a:t>
            </a:r>
          </a:p>
        </p:txBody>
      </p:sp>
      <p:sp>
        <p:nvSpPr>
          <p:cNvPr id="77900" name="Text Box 76"/>
          <p:cNvSpPr txBox="1">
            <a:spLocks noChangeArrowheads="1"/>
          </p:cNvSpPr>
          <p:nvPr/>
        </p:nvSpPr>
        <p:spPr bwMode="auto">
          <a:xfrm>
            <a:off x="5316538" y="4098925"/>
            <a:ext cx="762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r>
              <a:rPr lang="en-US" altLang="en-US" sz="1200"/>
              <a:t>metal desk</a:t>
            </a:r>
          </a:p>
        </p:txBody>
      </p:sp>
      <p:sp>
        <p:nvSpPr>
          <p:cNvPr id="77901" name="Text Box 77"/>
          <p:cNvSpPr txBox="1">
            <a:spLocks noChangeArrowheads="1"/>
          </p:cNvSpPr>
          <p:nvPr/>
        </p:nvSpPr>
        <p:spPr bwMode="auto">
          <a:xfrm>
            <a:off x="685800" y="4267200"/>
            <a:ext cx="762000" cy="2746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r>
              <a:rPr lang="en-US" altLang="en-US" sz="1200"/>
              <a:t>truck</a:t>
            </a:r>
          </a:p>
        </p:txBody>
      </p:sp>
      <p:sp>
        <p:nvSpPr>
          <p:cNvPr id="77902" name="Text Box 78"/>
          <p:cNvSpPr txBox="1">
            <a:spLocks noChangeArrowheads="1"/>
          </p:cNvSpPr>
          <p:nvPr/>
        </p:nvSpPr>
        <p:spPr bwMode="auto">
          <a:xfrm>
            <a:off x="3335338" y="4175125"/>
            <a:ext cx="762000" cy="2746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r>
              <a:rPr lang="en-US" altLang="en-US" sz="1200"/>
              <a:t>truck</a:t>
            </a:r>
          </a:p>
        </p:txBody>
      </p:sp>
      <p:sp>
        <p:nvSpPr>
          <p:cNvPr id="77903" name="Text Box 79"/>
          <p:cNvSpPr txBox="1">
            <a:spLocks noChangeArrowheads="1"/>
          </p:cNvSpPr>
          <p:nvPr/>
        </p:nvSpPr>
        <p:spPr bwMode="auto">
          <a:xfrm>
            <a:off x="685800" y="4572000"/>
            <a:ext cx="762000" cy="2746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r>
              <a:rPr lang="en-US" altLang="en-US" sz="1200"/>
              <a:t>kite</a:t>
            </a:r>
          </a:p>
        </p:txBody>
      </p:sp>
      <p:sp>
        <p:nvSpPr>
          <p:cNvPr id="77904" name="Text Box 80"/>
          <p:cNvSpPr txBox="1">
            <a:spLocks noChangeArrowheads="1"/>
          </p:cNvSpPr>
          <p:nvPr/>
        </p:nvSpPr>
        <p:spPr bwMode="auto">
          <a:xfrm>
            <a:off x="4706938" y="4175125"/>
            <a:ext cx="762000" cy="2746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r>
              <a:rPr lang="en-US" altLang="en-US" sz="1200"/>
              <a:t>kite</a:t>
            </a:r>
          </a:p>
        </p:txBody>
      </p:sp>
      <p:sp>
        <p:nvSpPr>
          <p:cNvPr id="77905" name="Text Box 81"/>
          <p:cNvSpPr txBox="1">
            <a:spLocks noChangeArrowheads="1"/>
          </p:cNvSpPr>
          <p:nvPr/>
        </p:nvSpPr>
        <p:spPr bwMode="auto">
          <a:xfrm>
            <a:off x="685800" y="1600200"/>
            <a:ext cx="762000" cy="2746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r>
              <a:rPr lang="en-US" altLang="en-US" sz="1200" b="1"/>
              <a:t>Inputs</a:t>
            </a:r>
          </a:p>
        </p:txBody>
      </p:sp>
    </p:spTree>
    <p:extLst>
      <p:ext uri="{BB962C8B-B14F-4D97-AF65-F5344CB8AC3E}">
        <p14:creationId xmlns:p14="http://schemas.microsoft.com/office/powerpoint/2010/main" val="335377904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9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7790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7790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8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7788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7788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778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8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7788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7788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8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7788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7788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778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8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7789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7789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8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7789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7789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778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 nodeType="clickPar">
                      <p:stCondLst>
                        <p:cond delay="indefinite"/>
                      </p:stCondLst>
                      <p:childTnLst>
                        <p:par>
                          <p:cTn id="4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1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8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7789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7789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 nodeType="clickPar">
                      <p:stCondLst>
                        <p:cond delay="indefinite"/>
                      </p:stCondLst>
                      <p:childTnLst>
                        <p:par>
                          <p:cTn id="4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7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8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7789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7789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778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 nodeType="clickPar">
                      <p:stCondLst>
                        <p:cond delay="indefinite"/>
                      </p:stCondLst>
                      <p:childTnLst>
                        <p:par>
                          <p:cTn id="5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3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8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500" fill="hold"/>
                                        <p:tgtEl>
                                          <p:spTgt spid="7789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500" fill="hold"/>
                                        <p:tgtEl>
                                          <p:spTgt spid="7789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 nodeType="clickPar">
                      <p:stCondLst>
                        <p:cond delay="indefinite"/>
                      </p:stCondLst>
                      <p:childTnLst>
                        <p:par>
                          <p:cTn id="5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9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8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1" dur="500" fill="hold"/>
                                        <p:tgtEl>
                                          <p:spTgt spid="7789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2" dur="500" fill="hold"/>
                                        <p:tgtEl>
                                          <p:spTgt spid="7789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778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 nodeType="clickPar">
                      <p:stCondLst>
                        <p:cond delay="indefinite"/>
                      </p:stCondLst>
                      <p:childTnLst>
                        <p:par>
                          <p:cTn id="6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8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500" fill="hold"/>
                                        <p:tgtEl>
                                          <p:spTgt spid="7789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8" dur="500" fill="hold"/>
                                        <p:tgtEl>
                                          <p:spTgt spid="7789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 nodeType="clickPar">
                      <p:stCondLst>
                        <p:cond delay="indefinite"/>
                      </p:stCondLst>
                      <p:childTnLst>
                        <p:par>
                          <p:cTn id="7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1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8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3" dur="500" fill="hold"/>
                                        <p:tgtEl>
                                          <p:spTgt spid="7789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4" dur="500" fill="hold"/>
                                        <p:tgtEl>
                                          <p:spTgt spid="7789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778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 nodeType="clickPar">
                      <p:stCondLst>
                        <p:cond delay="indefinite"/>
                      </p:stCondLst>
                      <p:childTnLst>
                        <p:par>
                          <p:cTn id="7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7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8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9" dur="500" fill="hold"/>
                                        <p:tgtEl>
                                          <p:spTgt spid="7789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0" dur="500" fill="hold"/>
                                        <p:tgtEl>
                                          <p:spTgt spid="7789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1" fill="hold" nodeType="clickPar">
                      <p:stCondLst>
                        <p:cond delay="indefinite"/>
                      </p:stCondLst>
                      <p:childTnLst>
                        <p:par>
                          <p:cTn id="8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3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8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5" dur="500" fill="hold"/>
                                        <p:tgtEl>
                                          <p:spTgt spid="7789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6" dur="500" fill="hold"/>
                                        <p:tgtEl>
                                          <p:spTgt spid="7789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778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7" fill="hold" nodeType="clickPar">
                      <p:stCondLst>
                        <p:cond delay="indefinite"/>
                      </p:stCondLst>
                      <p:childTnLst>
                        <p:par>
                          <p:cTn id="8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9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9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1" dur="500" fill="hold"/>
                                        <p:tgtEl>
                                          <p:spTgt spid="7790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2" dur="500" fill="hold"/>
                                        <p:tgtEl>
                                          <p:spTgt spid="7790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 nodeType="clickPar">
                      <p:stCondLst>
                        <p:cond delay="indefinite"/>
                      </p:stCondLst>
                      <p:childTnLst>
                        <p:par>
                          <p:cTn id="9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9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7" dur="500" fill="hold"/>
                                        <p:tgtEl>
                                          <p:spTgt spid="7790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8" dur="500" fill="hold"/>
                                        <p:tgtEl>
                                          <p:spTgt spid="7790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779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9" fill="hold" nodeType="clickPar">
                      <p:stCondLst>
                        <p:cond delay="indefinite"/>
                      </p:stCondLst>
                      <p:childTnLst>
                        <p:par>
                          <p:cTn id="10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1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9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3" dur="500" fill="hold"/>
                                        <p:tgtEl>
                                          <p:spTgt spid="7790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4" dur="500" fill="hold"/>
                                        <p:tgtEl>
                                          <p:spTgt spid="7790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5" fill="hold" nodeType="clickPar">
                      <p:stCondLst>
                        <p:cond delay="indefinite"/>
                      </p:stCondLst>
                      <p:childTnLst>
                        <p:par>
                          <p:cTn id="10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7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9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9" dur="500" fill="hold"/>
                                        <p:tgtEl>
                                          <p:spTgt spid="7790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0" dur="500" fill="hold"/>
                                        <p:tgtEl>
                                          <p:spTgt spid="7790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779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1" fill="hold" nodeType="clickPar">
                      <p:stCondLst>
                        <p:cond delay="indefinite"/>
                      </p:stCondLst>
                      <p:childTnLst>
                        <p:par>
                          <p:cTn id="1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3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9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5" dur="500" fill="hold"/>
                                        <p:tgtEl>
                                          <p:spTgt spid="7790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6" dur="500" fill="hold"/>
                                        <p:tgtEl>
                                          <p:spTgt spid="7790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7885" grpId="0" autoUpdateAnimBg="0"/>
      <p:bldP spid="77887" grpId="0" autoUpdateAnimBg="0"/>
      <p:bldP spid="77888" grpId="0" autoUpdateAnimBg="0"/>
      <p:bldP spid="77890" grpId="0" autoUpdateAnimBg="0"/>
      <p:bldP spid="77891" grpId="0" autoUpdateAnimBg="0"/>
      <p:bldP spid="77892" grpId="0" autoUpdateAnimBg="0"/>
      <p:bldP spid="77893" grpId="0" autoUpdateAnimBg="0"/>
      <p:bldP spid="77894" grpId="0" autoUpdateAnimBg="0"/>
      <p:bldP spid="77895" grpId="0" autoUpdateAnimBg="0"/>
      <p:bldP spid="77896" grpId="0" autoUpdateAnimBg="0"/>
      <p:bldP spid="77897" grpId="0" autoUpdateAnimBg="0"/>
      <p:bldP spid="77898" grpId="0" autoUpdateAnimBg="0"/>
      <p:bldP spid="77899" grpId="0" autoUpdateAnimBg="0"/>
      <p:bldP spid="77900" grpId="0" autoUpdateAnimBg="0"/>
      <p:bldP spid="77901" grpId="0" autoUpdateAnimBg="0"/>
      <p:bldP spid="77902" grpId="0" autoUpdateAnimBg="0"/>
      <p:bldP spid="77903" grpId="0" autoUpdateAnimBg="0"/>
      <p:bldP spid="77904" grpId="0" autoUpdateAnimBg="0"/>
      <p:bldP spid="77905" grpId="0" autoUpdateAnimBg="0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en-US">
                <a:solidFill>
                  <a:srgbClr val="000000"/>
                </a:solidFill>
              </a:rPr>
              <a:t>2014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F28756-B31F-4EB3-9CB3-CC474DFD3A9D}" type="slidenum">
              <a:rPr lang="en-US" altLang="en-US" smtClean="0">
                <a:solidFill>
                  <a:srgbClr val="000000"/>
                </a:solidFill>
              </a:rPr>
              <a:pPr/>
              <a:t>23</a:t>
            </a:fld>
            <a:endParaRPr lang="en-US" altLang="en-US">
              <a:solidFill>
                <a:srgbClr val="000000"/>
              </a:solidFill>
            </a:endParaRPr>
          </a:p>
        </p:txBody>
      </p:sp>
      <p:sp>
        <p:nvSpPr>
          <p:cNvPr id="5" name="AutoShape 2"/>
          <p:cNvSpPr>
            <a:spLocks noChangeArrowheads="1"/>
          </p:cNvSpPr>
          <p:nvPr/>
        </p:nvSpPr>
        <p:spPr bwMode="auto">
          <a:xfrm>
            <a:off x="304800" y="152400"/>
            <a:ext cx="8610600" cy="914400"/>
          </a:xfrm>
          <a:prstGeom prst="roundRect">
            <a:avLst>
              <a:gd name="adj" fmla="val 16667"/>
            </a:avLst>
          </a:prstGeom>
          <a:solidFill>
            <a:srgbClr val="FFCCFF"/>
          </a:solidFill>
          <a:ln w="34925">
            <a:solidFill>
              <a:srgbClr val="FF3300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sz="2400">
              <a:solidFill>
                <a:srgbClr val="000000"/>
              </a:solidFill>
            </a:endParaRPr>
          </a:p>
        </p:txBody>
      </p:sp>
      <p:sp>
        <p:nvSpPr>
          <p:cNvPr id="6" name="AutoShape 3"/>
          <p:cNvSpPr>
            <a:spLocks noChangeArrowheads="1"/>
          </p:cNvSpPr>
          <p:nvPr/>
        </p:nvSpPr>
        <p:spPr bwMode="auto">
          <a:xfrm>
            <a:off x="304800" y="1143000"/>
            <a:ext cx="8610600" cy="4724400"/>
          </a:xfrm>
          <a:prstGeom prst="roundRect">
            <a:avLst>
              <a:gd name="adj" fmla="val 16667"/>
            </a:avLst>
          </a:prstGeom>
          <a:noFill/>
          <a:ln w="34925">
            <a:solidFill>
              <a:srgbClr val="FF33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sz="2400">
              <a:solidFill>
                <a:srgbClr val="000000"/>
              </a:solidFill>
            </a:endParaRPr>
          </a:p>
        </p:txBody>
      </p:sp>
      <p:sp>
        <p:nvSpPr>
          <p:cNvPr id="7" name="Rectangle 4"/>
          <p:cNvSpPr>
            <a:spLocks noChangeArrowheads="1"/>
          </p:cNvSpPr>
          <p:nvPr/>
        </p:nvSpPr>
        <p:spPr bwMode="auto">
          <a:xfrm>
            <a:off x="762000" y="228600"/>
            <a:ext cx="7772400" cy="685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/>
          <a:lstStyle>
            <a:lvl1pPr algn="ctr">
              <a:defRPr sz="4400">
                <a:solidFill>
                  <a:schemeClr val="tx2"/>
                </a:solidFill>
                <a:latin typeface="Times New Roman" pitchFamily="18" charset="0"/>
              </a:defRPr>
            </a:lvl1pPr>
            <a:lvl2pPr algn="ctr">
              <a:defRPr sz="4400">
                <a:solidFill>
                  <a:schemeClr val="tx2"/>
                </a:solidFill>
                <a:latin typeface="Times New Roman" pitchFamily="18" charset="0"/>
              </a:defRPr>
            </a:lvl2pPr>
            <a:lvl3pPr algn="ctr">
              <a:defRPr sz="4400">
                <a:solidFill>
                  <a:schemeClr val="tx2"/>
                </a:solidFill>
                <a:latin typeface="Times New Roman" pitchFamily="18" charset="0"/>
              </a:defRPr>
            </a:lvl3pPr>
            <a:lvl4pPr algn="ctr">
              <a:defRPr sz="4400">
                <a:solidFill>
                  <a:schemeClr val="tx2"/>
                </a:solidFill>
                <a:latin typeface="Times New Roman" pitchFamily="18" charset="0"/>
              </a:defRPr>
            </a:lvl4pPr>
            <a:lvl5pPr algn="ctr">
              <a:defRPr sz="4400">
                <a:solidFill>
                  <a:schemeClr val="tx2"/>
                </a:solidFill>
                <a:latin typeface="Times New Roman" pitchFamily="18" charset="0"/>
              </a:defRPr>
            </a:lvl5pPr>
            <a:lvl6pPr marL="457200" algn="ctr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imes New Roman" pitchFamily="18" charset="0"/>
              </a:defRPr>
            </a:lvl6pPr>
            <a:lvl7pPr marL="914400" algn="ctr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imes New Roman" pitchFamily="18" charset="0"/>
              </a:defRPr>
            </a:lvl7pPr>
            <a:lvl8pPr marL="1371600" algn="ctr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imes New Roman" pitchFamily="18" charset="0"/>
              </a:defRPr>
            </a:lvl8pPr>
            <a:lvl9pPr marL="1828800" algn="ctr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imes New Roman" pitchFamily="18" charset="0"/>
              </a:defRPr>
            </a:lvl9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2800" dirty="0">
                <a:solidFill>
                  <a:srgbClr val="0000FF"/>
                </a:solidFill>
                <a:latin typeface="Arial" charset="0"/>
              </a:rPr>
              <a:t>Support Vector Machines (SVMs)</a:t>
            </a:r>
          </a:p>
        </p:txBody>
      </p:sp>
      <p:sp>
        <p:nvSpPr>
          <p:cNvPr id="8" name="Rectangle 5"/>
          <p:cNvSpPr>
            <a:spLocks noChangeArrowheads="1"/>
          </p:cNvSpPr>
          <p:nvPr/>
        </p:nvSpPr>
        <p:spPr bwMode="auto">
          <a:xfrm>
            <a:off x="685800" y="1295400"/>
            <a:ext cx="7543800" cy="4191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2075" tIns="46038" rIns="92075" bIns="46038"/>
          <a:lstStyle>
            <a:lvl1pPr marL="342900" indent="-34290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itchFamily="18" charset="0"/>
              </a:defRPr>
            </a:lvl2pPr>
            <a:lvl3pPr marL="108585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eaLnBrk="0" fontAlgn="base" hangingPunct="0">
              <a:spcAft>
                <a:spcPct val="0"/>
              </a:spcAft>
              <a:buClr>
                <a:srgbClr val="000000"/>
              </a:buClr>
            </a:pPr>
            <a:r>
              <a:rPr lang="en-US" altLang="en-US" sz="2400" dirty="0">
                <a:solidFill>
                  <a:srgbClr val="000000"/>
                </a:solidFill>
              </a:rPr>
              <a:t>Idea: design classifier such that the margin between boundaries and instances of the classes is optimal (maximum)</a:t>
            </a:r>
          </a:p>
          <a:p>
            <a:pPr eaLnBrk="0" fontAlgn="base" hangingPunct="0">
              <a:spcAft>
                <a:spcPct val="0"/>
              </a:spcAft>
              <a:buClr>
                <a:srgbClr val="000000"/>
              </a:buClr>
            </a:pPr>
            <a:endParaRPr lang="en-US" altLang="en-US" sz="2400" dirty="0">
              <a:solidFill>
                <a:srgbClr val="000000"/>
              </a:solidFill>
            </a:endParaRPr>
          </a:p>
          <a:p>
            <a:pPr eaLnBrk="0" fontAlgn="base" hangingPunct="0">
              <a:spcAft>
                <a:spcPct val="0"/>
              </a:spcAft>
              <a:buClr>
                <a:srgbClr val="000000"/>
              </a:buClr>
            </a:pPr>
            <a:endParaRPr lang="en-US" altLang="en-US" sz="2400" dirty="0">
              <a:solidFill>
                <a:srgbClr val="000000"/>
              </a:solidFill>
            </a:endParaRPr>
          </a:p>
          <a:p>
            <a:pPr eaLnBrk="0" fontAlgn="base" hangingPunct="0">
              <a:spcAft>
                <a:spcPct val="0"/>
              </a:spcAft>
              <a:buClr>
                <a:srgbClr val="000000"/>
              </a:buClr>
            </a:pPr>
            <a:endParaRPr lang="en-US" altLang="en-US" sz="2400" dirty="0">
              <a:solidFill>
                <a:srgbClr val="000000"/>
              </a:solidFill>
            </a:endParaRPr>
          </a:p>
          <a:p>
            <a:pPr eaLnBrk="0" fontAlgn="base" hangingPunct="0">
              <a:spcAft>
                <a:spcPct val="0"/>
              </a:spcAft>
              <a:buClr>
                <a:srgbClr val="000000"/>
              </a:buClr>
            </a:pPr>
            <a:endParaRPr lang="en-US" altLang="en-US" sz="2400" dirty="0">
              <a:solidFill>
                <a:srgbClr val="000000"/>
              </a:solidFill>
            </a:endParaRPr>
          </a:p>
          <a:p>
            <a:pPr eaLnBrk="0" fontAlgn="base" hangingPunct="0">
              <a:spcAft>
                <a:spcPct val="0"/>
              </a:spcAft>
              <a:buClr>
                <a:srgbClr val="000000"/>
              </a:buClr>
            </a:pPr>
            <a:endParaRPr lang="en-US" altLang="en-US" sz="2400" dirty="0">
              <a:solidFill>
                <a:srgbClr val="000000"/>
              </a:solidFill>
            </a:endParaRPr>
          </a:p>
          <a:p>
            <a:pPr eaLnBrk="0" fontAlgn="base" hangingPunct="0">
              <a:spcAft>
                <a:spcPct val="0"/>
              </a:spcAft>
              <a:buClr>
                <a:srgbClr val="000000"/>
              </a:buClr>
            </a:pPr>
            <a:endParaRPr lang="en-US" altLang="en-US" sz="2400" dirty="0">
              <a:solidFill>
                <a:srgbClr val="000000"/>
              </a:solidFill>
            </a:endParaRPr>
          </a:p>
          <a:p>
            <a:pPr lvl="1" eaLnBrk="0" fontAlgn="base" hangingPunct="0">
              <a:spcAft>
                <a:spcPct val="0"/>
              </a:spcAft>
              <a:buClr>
                <a:srgbClr val="000000"/>
              </a:buClr>
            </a:pPr>
            <a:r>
              <a:rPr lang="en-US" altLang="en-US" sz="1600" dirty="0">
                <a:solidFill>
                  <a:srgbClr val="000000"/>
                </a:solidFill>
              </a:rPr>
              <a:t>Having a good margin makes classifier less susceptible to uncertainty and more likely to learn/generalize the data.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752600" y="4612262"/>
            <a:ext cx="6096000" cy="43088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vi-VN" sz="1100" dirty="0"/>
              <a:t>Tarca AL, Carey VJ, Chen X-w, Romero R, Drăghici S (2007) Machine Learning and Its Applications to Biology. PLoS Comput Biol 3(6): e116. doi:10.1371/journal.pcbi.0030116</a:t>
            </a:r>
            <a:endParaRPr lang="en-US" sz="1100" dirty="0"/>
          </a:p>
        </p:txBody>
      </p:sp>
      <p:pic>
        <p:nvPicPr>
          <p:cNvPr id="12" name="Picture 11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46273" y="2397461"/>
            <a:ext cx="5308651" cy="221547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3" name="TextBox 12"/>
          <p:cNvSpPr txBox="1"/>
          <p:nvPr/>
        </p:nvSpPr>
        <p:spPr>
          <a:xfrm>
            <a:off x="500641" y="2590800"/>
            <a:ext cx="1473149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/>
              <a:t>Different options of classification boundaries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670851" y="3962400"/>
            <a:ext cx="147314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 err="1"/>
              <a:t>Hyperplanes</a:t>
            </a:r>
            <a:endParaRPr lang="en-US" sz="1400" dirty="0"/>
          </a:p>
        </p:txBody>
      </p:sp>
      <p:sp>
        <p:nvSpPr>
          <p:cNvPr id="15" name="TextBox 14"/>
          <p:cNvSpPr txBox="1"/>
          <p:nvPr/>
        </p:nvSpPr>
        <p:spPr>
          <a:xfrm>
            <a:off x="6934200" y="2286000"/>
            <a:ext cx="1473149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/>
              <a:t>SVM classification boundaries</a:t>
            </a:r>
          </a:p>
        </p:txBody>
      </p:sp>
      <p:cxnSp>
        <p:nvCxnSpPr>
          <p:cNvPr id="17" name="Straight Arrow Connector 16"/>
          <p:cNvCxnSpPr/>
          <p:nvPr/>
        </p:nvCxnSpPr>
        <p:spPr bwMode="auto">
          <a:xfrm flipH="1" flipV="1">
            <a:off x="7467600" y="3810000"/>
            <a:ext cx="228600" cy="228600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arrow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9" name="Straight Arrow Connector 18"/>
          <p:cNvCxnSpPr/>
          <p:nvPr/>
        </p:nvCxnSpPr>
        <p:spPr bwMode="auto">
          <a:xfrm flipH="1" flipV="1">
            <a:off x="7391400" y="4027583"/>
            <a:ext cx="279451" cy="77689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arrow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21" name="Straight Arrow Connector 20"/>
          <p:cNvCxnSpPr/>
          <p:nvPr/>
        </p:nvCxnSpPr>
        <p:spPr bwMode="auto">
          <a:xfrm flipH="1">
            <a:off x="7543800" y="4127306"/>
            <a:ext cx="138069" cy="216094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arrow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</p:spTree>
    <p:extLst>
      <p:ext uri="{BB962C8B-B14F-4D97-AF65-F5344CB8AC3E}">
        <p14:creationId xmlns:p14="http://schemas.microsoft.com/office/powerpoint/2010/main" val="2846571135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en-US">
                <a:solidFill>
                  <a:srgbClr val="000000"/>
                </a:solidFill>
              </a:rPr>
              <a:t>2014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F28756-B31F-4EB3-9CB3-CC474DFD3A9D}" type="slidenum">
              <a:rPr lang="en-US" altLang="en-US" smtClean="0">
                <a:solidFill>
                  <a:srgbClr val="000000"/>
                </a:solidFill>
              </a:rPr>
              <a:pPr/>
              <a:t>24</a:t>
            </a:fld>
            <a:endParaRPr lang="en-US" altLang="en-US">
              <a:solidFill>
                <a:srgbClr val="000000"/>
              </a:solidFill>
            </a:endParaRPr>
          </a:p>
        </p:txBody>
      </p:sp>
      <p:sp>
        <p:nvSpPr>
          <p:cNvPr id="5" name="AutoShape 2"/>
          <p:cNvSpPr>
            <a:spLocks noChangeArrowheads="1"/>
          </p:cNvSpPr>
          <p:nvPr/>
        </p:nvSpPr>
        <p:spPr bwMode="auto">
          <a:xfrm>
            <a:off x="304800" y="163794"/>
            <a:ext cx="8610600" cy="914400"/>
          </a:xfrm>
          <a:prstGeom prst="roundRect">
            <a:avLst>
              <a:gd name="adj" fmla="val 16667"/>
            </a:avLst>
          </a:prstGeom>
          <a:solidFill>
            <a:srgbClr val="FFCCFF"/>
          </a:solidFill>
          <a:ln w="34925">
            <a:solidFill>
              <a:srgbClr val="FF3300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sz="2400">
              <a:solidFill>
                <a:srgbClr val="000000"/>
              </a:solidFill>
            </a:endParaRPr>
          </a:p>
        </p:txBody>
      </p:sp>
      <p:sp>
        <p:nvSpPr>
          <p:cNvPr id="6" name="AutoShape 3"/>
          <p:cNvSpPr>
            <a:spLocks noChangeArrowheads="1"/>
          </p:cNvSpPr>
          <p:nvPr/>
        </p:nvSpPr>
        <p:spPr bwMode="auto">
          <a:xfrm>
            <a:off x="304800" y="1143000"/>
            <a:ext cx="8610600" cy="4724400"/>
          </a:xfrm>
          <a:prstGeom prst="roundRect">
            <a:avLst>
              <a:gd name="adj" fmla="val 16667"/>
            </a:avLst>
          </a:prstGeom>
          <a:noFill/>
          <a:ln w="34925">
            <a:solidFill>
              <a:srgbClr val="FF33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sz="2400">
              <a:solidFill>
                <a:srgbClr val="000000"/>
              </a:solidFill>
            </a:endParaRPr>
          </a:p>
        </p:txBody>
      </p:sp>
      <p:sp>
        <p:nvSpPr>
          <p:cNvPr id="7" name="Rectangle 4"/>
          <p:cNvSpPr>
            <a:spLocks noChangeArrowheads="1"/>
          </p:cNvSpPr>
          <p:nvPr/>
        </p:nvSpPr>
        <p:spPr bwMode="auto">
          <a:xfrm>
            <a:off x="753454" y="228600"/>
            <a:ext cx="7772400" cy="685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/>
          <a:lstStyle>
            <a:lvl1pPr algn="ctr">
              <a:defRPr sz="4400">
                <a:solidFill>
                  <a:schemeClr val="tx2"/>
                </a:solidFill>
                <a:latin typeface="Times New Roman" pitchFamily="18" charset="0"/>
              </a:defRPr>
            </a:lvl1pPr>
            <a:lvl2pPr algn="ctr">
              <a:defRPr sz="4400">
                <a:solidFill>
                  <a:schemeClr val="tx2"/>
                </a:solidFill>
                <a:latin typeface="Times New Roman" pitchFamily="18" charset="0"/>
              </a:defRPr>
            </a:lvl2pPr>
            <a:lvl3pPr algn="ctr">
              <a:defRPr sz="4400">
                <a:solidFill>
                  <a:schemeClr val="tx2"/>
                </a:solidFill>
                <a:latin typeface="Times New Roman" pitchFamily="18" charset="0"/>
              </a:defRPr>
            </a:lvl3pPr>
            <a:lvl4pPr algn="ctr">
              <a:defRPr sz="4400">
                <a:solidFill>
                  <a:schemeClr val="tx2"/>
                </a:solidFill>
                <a:latin typeface="Times New Roman" pitchFamily="18" charset="0"/>
              </a:defRPr>
            </a:lvl4pPr>
            <a:lvl5pPr algn="ctr">
              <a:defRPr sz="4400">
                <a:solidFill>
                  <a:schemeClr val="tx2"/>
                </a:solidFill>
                <a:latin typeface="Times New Roman" pitchFamily="18" charset="0"/>
              </a:defRPr>
            </a:lvl5pPr>
            <a:lvl6pPr marL="457200" algn="ctr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imes New Roman" pitchFamily="18" charset="0"/>
              </a:defRPr>
            </a:lvl6pPr>
            <a:lvl7pPr marL="914400" algn="ctr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imes New Roman" pitchFamily="18" charset="0"/>
              </a:defRPr>
            </a:lvl7pPr>
            <a:lvl8pPr marL="1371600" algn="ctr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imes New Roman" pitchFamily="18" charset="0"/>
              </a:defRPr>
            </a:lvl8pPr>
            <a:lvl9pPr marL="1828800" algn="ctr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imes New Roman" pitchFamily="18" charset="0"/>
              </a:defRPr>
            </a:lvl9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2800" i="1" dirty="0">
                <a:solidFill>
                  <a:srgbClr val="0000FF"/>
                </a:solidFill>
                <a:latin typeface="Arial" charset="0"/>
              </a:rPr>
              <a:t>SVMs (cont’d)</a:t>
            </a:r>
          </a:p>
        </p:txBody>
      </p:sp>
      <p:sp>
        <p:nvSpPr>
          <p:cNvPr id="8" name="Rectangle 5"/>
          <p:cNvSpPr>
            <a:spLocks noChangeArrowheads="1"/>
          </p:cNvSpPr>
          <p:nvPr/>
        </p:nvSpPr>
        <p:spPr bwMode="auto">
          <a:xfrm>
            <a:off x="685800" y="1295400"/>
            <a:ext cx="7543800" cy="4572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2075" tIns="46038" rIns="92075" bIns="46038"/>
          <a:lstStyle>
            <a:lvl1pPr marL="342900" indent="-34290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itchFamily="18" charset="0"/>
              </a:defRPr>
            </a:lvl2pPr>
            <a:lvl3pPr marL="108585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eaLnBrk="0" fontAlgn="base" hangingPunct="0">
              <a:spcAft>
                <a:spcPct val="0"/>
              </a:spcAft>
              <a:buClr>
                <a:srgbClr val="000000"/>
              </a:buClr>
            </a:pPr>
            <a:r>
              <a:rPr lang="en-US" altLang="en-US" sz="2400" dirty="0">
                <a:solidFill>
                  <a:srgbClr val="000000"/>
                </a:solidFill>
              </a:rPr>
              <a:t>Formulation (linear kernel):</a:t>
            </a:r>
          </a:p>
          <a:p>
            <a:pPr eaLnBrk="0" fontAlgn="base" hangingPunct="0">
              <a:spcAft>
                <a:spcPct val="0"/>
              </a:spcAft>
              <a:buClr>
                <a:srgbClr val="000000"/>
              </a:buClr>
              <a:buNone/>
            </a:pPr>
            <a:endParaRPr lang="en-US" altLang="en-US" sz="2400" dirty="0">
              <a:solidFill>
                <a:srgbClr val="000000"/>
              </a:solidFill>
            </a:endParaRPr>
          </a:p>
          <a:p>
            <a:pPr eaLnBrk="0" fontAlgn="base" hangingPunct="0">
              <a:spcAft>
                <a:spcPct val="0"/>
              </a:spcAft>
              <a:buClr>
                <a:srgbClr val="000000"/>
              </a:buClr>
              <a:buNone/>
            </a:pPr>
            <a:endParaRPr lang="en-US" altLang="en-US" sz="1400" dirty="0">
              <a:solidFill>
                <a:srgbClr val="000000"/>
              </a:solidFill>
            </a:endParaRPr>
          </a:p>
          <a:p>
            <a:pPr lvl="1" eaLnBrk="0" fontAlgn="base" hangingPunct="0">
              <a:spcAft>
                <a:spcPct val="0"/>
              </a:spcAft>
              <a:buClr>
                <a:srgbClr val="000000"/>
              </a:buClr>
            </a:pPr>
            <a:r>
              <a:rPr lang="en-US" altLang="en-US" sz="2000" dirty="0">
                <a:solidFill>
                  <a:srgbClr val="000000"/>
                </a:solidFill>
              </a:rPr>
              <a:t>Objective: to find </a:t>
            </a:r>
            <a:r>
              <a:rPr lang="en-US" altLang="en-US" sz="2000" b="1" dirty="0">
                <a:solidFill>
                  <a:srgbClr val="000000"/>
                </a:solidFill>
              </a:rPr>
              <a:t>w</a:t>
            </a:r>
            <a:r>
              <a:rPr lang="en-US" altLang="en-US" sz="2000" dirty="0">
                <a:solidFill>
                  <a:srgbClr val="000000"/>
                </a:solidFill>
              </a:rPr>
              <a:t> and </a:t>
            </a:r>
            <a:r>
              <a:rPr lang="en-US" altLang="en-US" sz="2000" i="1" dirty="0">
                <a:solidFill>
                  <a:srgbClr val="000000"/>
                </a:solidFill>
              </a:rPr>
              <a:t>b</a:t>
            </a:r>
            <a:r>
              <a:rPr lang="en-US" altLang="en-US" sz="2000" dirty="0">
                <a:solidFill>
                  <a:srgbClr val="000000"/>
                </a:solidFill>
              </a:rPr>
              <a:t> such that the </a:t>
            </a:r>
            <a:r>
              <a:rPr lang="en-US" altLang="en-US" sz="2000" dirty="0" err="1">
                <a:solidFill>
                  <a:srgbClr val="000000"/>
                </a:solidFill>
              </a:rPr>
              <a:t>hyperplane</a:t>
            </a:r>
            <a:r>
              <a:rPr lang="en-US" altLang="en-US" sz="2000" dirty="0">
                <a:solidFill>
                  <a:srgbClr val="000000"/>
                </a:solidFill>
              </a:rPr>
              <a:t> </a:t>
            </a:r>
            <a:r>
              <a:rPr lang="en-US" altLang="en-US" sz="2000" b="1" dirty="0" err="1">
                <a:solidFill>
                  <a:srgbClr val="000000"/>
                </a:solidFill>
              </a:rPr>
              <a:t>wx</a:t>
            </a:r>
            <a:r>
              <a:rPr lang="en-US" altLang="en-US" sz="2000" i="1" baseline="30000" dirty="0" err="1">
                <a:solidFill>
                  <a:srgbClr val="000000"/>
                </a:solidFill>
              </a:rPr>
              <a:t>T</a:t>
            </a:r>
            <a:r>
              <a:rPr lang="en-US" altLang="en-US" sz="2000" dirty="0" err="1">
                <a:solidFill>
                  <a:srgbClr val="000000"/>
                </a:solidFill>
              </a:rPr>
              <a:t>+</a:t>
            </a:r>
            <a:r>
              <a:rPr lang="en-US" altLang="en-US" sz="2000" i="1" dirty="0" err="1">
                <a:solidFill>
                  <a:srgbClr val="000000"/>
                </a:solidFill>
              </a:rPr>
              <a:t>b</a:t>
            </a:r>
            <a:r>
              <a:rPr lang="en-US" altLang="en-US" sz="2000" dirty="0">
                <a:solidFill>
                  <a:srgbClr val="000000"/>
                </a:solidFill>
              </a:rPr>
              <a:t>=0 that: </a:t>
            </a:r>
          </a:p>
          <a:p>
            <a:pPr marL="1200150" lvl="2" indent="-342900" eaLnBrk="0" fontAlgn="base" hangingPunct="0">
              <a:spcAft>
                <a:spcPct val="0"/>
              </a:spcAft>
              <a:buClr>
                <a:srgbClr val="000000"/>
              </a:buClr>
              <a:buFont typeface="+mj-lt"/>
              <a:buAutoNum type="arabicPeriod"/>
            </a:pPr>
            <a:r>
              <a:rPr lang="en-US" altLang="en-US" sz="1800" dirty="0">
                <a:solidFill>
                  <a:srgbClr val="000000"/>
                </a:solidFill>
              </a:rPr>
              <a:t>Separates all/most of samples in the two classes</a:t>
            </a:r>
          </a:p>
          <a:p>
            <a:pPr marL="1200150" lvl="2" indent="-342900" eaLnBrk="0" fontAlgn="base" hangingPunct="0">
              <a:spcAft>
                <a:spcPct val="0"/>
              </a:spcAft>
              <a:buClr>
                <a:srgbClr val="000000"/>
              </a:buClr>
              <a:buFont typeface="+mj-lt"/>
              <a:buAutoNum type="arabicPeriod"/>
            </a:pPr>
            <a:r>
              <a:rPr lang="en-US" altLang="en-US" sz="1800" dirty="0">
                <a:solidFill>
                  <a:srgbClr val="000000"/>
                </a:solidFill>
              </a:rPr>
              <a:t>Maximizes the margin between the classes labeled -1 and 1</a:t>
            </a:r>
            <a:r>
              <a:rPr lang="en-US" altLang="en-US" sz="1600" dirty="0">
                <a:solidFill>
                  <a:srgbClr val="000000"/>
                </a:solidFill>
              </a:rPr>
              <a:t>.</a:t>
            </a:r>
          </a:p>
          <a:p>
            <a:pPr lvl="1" eaLnBrk="0" fontAlgn="base" hangingPunct="0">
              <a:spcAft>
                <a:spcPct val="0"/>
              </a:spcAft>
              <a:buClr>
                <a:srgbClr val="000000"/>
              </a:buClr>
            </a:pPr>
            <a:r>
              <a:rPr lang="en-US" altLang="en-US" sz="2000" dirty="0">
                <a:solidFill>
                  <a:srgbClr val="000000"/>
                </a:solidFill>
              </a:rPr>
              <a:t>Without discussing the details of the solutions to this problem:</a:t>
            </a:r>
          </a:p>
          <a:p>
            <a:pPr lvl="2" eaLnBrk="0" fontAlgn="base" hangingPunct="0">
              <a:spcAft>
                <a:spcPct val="0"/>
              </a:spcAft>
              <a:buClr>
                <a:srgbClr val="000000"/>
              </a:buClr>
            </a:pPr>
            <a:r>
              <a:rPr lang="en-US" altLang="en-US" sz="1700" dirty="0">
                <a:solidFill>
                  <a:srgbClr val="000000"/>
                </a:solidFill>
              </a:rPr>
              <a:t>This optimization problem can be formulated in at least two different methods and solved rather effectively</a:t>
            </a:r>
          </a:p>
          <a:p>
            <a:pPr lvl="2" eaLnBrk="0" fontAlgn="base" hangingPunct="0">
              <a:spcAft>
                <a:spcPct val="0"/>
              </a:spcAft>
              <a:buClr>
                <a:srgbClr val="000000"/>
              </a:buClr>
            </a:pPr>
            <a:r>
              <a:rPr lang="en-US" altLang="en-US" sz="1700" dirty="0">
                <a:solidFill>
                  <a:srgbClr val="000000"/>
                </a:solidFill>
              </a:rPr>
              <a:t>Decision function:</a:t>
            </a:r>
          </a:p>
          <a:p>
            <a:pPr lvl="2" eaLnBrk="0" fontAlgn="base" hangingPunct="0">
              <a:spcAft>
                <a:spcPct val="0"/>
              </a:spcAft>
              <a:buClr>
                <a:srgbClr val="000000"/>
              </a:buClr>
            </a:pPr>
            <a:endParaRPr lang="en-US" altLang="en-US" sz="1700" dirty="0">
              <a:solidFill>
                <a:srgbClr val="000000"/>
              </a:solidFill>
            </a:endParaRPr>
          </a:p>
          <a:p>
            <a:pPr lvl="2" eaLnBrk="0" fontAlgn="base" hangingPunct="0">
              <a:spcAft>
                <a:spcPct val="0"/>
              </a:spcAft>
              <a:buClr>
                <a:srgbClr val="000000"/>
              </a:buClr>
            </a:pPr>
            <a:r>
              <a:rPr lang="en-US" altLang="en-US" sz="1700" dirty="0">
                <a:solidFill>
                  <a:srgbClr val="000000"/>
                </a:solidFill>
              </a:rPr>
              <a:t>The problem can be easily extended into multi-class classification scenarios</a:t>
            </a:r>
          </a:p>
          <a:p>
            <a:pPr lvl="2" eaLnBrk="0" fontAlgn="base" hangingPunct="0">
              <a:spcAft>
                <a:spcPct val="0"/>
              </a:spcAft>
              <a:buClr>
                <a:srgbClr val="000000"/>
              </a:buClr>
            </a:pPr>
            <a:endParaRPr lang="en-US" altLang="en-US" sz="1600" dirty="0">
              <a:solidFill>
                <a:srgbClr val="000000"/>
              </a:solidFill>
            </a:endParaRPr>
          </a:p>
          <a:p>
            <a:pPr eaLnBrk="0" fontAlgn="base" hangingPunct="0">
              <a:spcAft>
                <a:spcPct val="0"/>
              </a:spcAft>
              <a:buClr>
                <a:srgbClr val="000000"/>
              </a:buClr>
            </a:pPr>
            <a:endParaRPr lang="en-US" altLang="en-US" sz="2400" dirty="0">
              <a:solidFill>
                <a:srgbClr val="000000"/>
              </a:solidFill>
            </a:endParaRPr>
          </a:p>
        </p:txBody>
      </p:sp>
      <p:graphicFrame>
        <p:nvGraphicFramePr>
          <p:cNvPr id="15" name="Object 14"/>
          <p:cNvGraphicFramePr>
            <a:graphicFrameLocks noChangeAspect="1"/>
          </p:cNvGraphicFramePr>
          <p:nvPr/>
        </p:nvGraphicFramePr>
        <p:xfrm>
          <a:off x="4114800" y="2133600"/>
          <a:ext cx="1031875" cy="3825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685800" imgH="228600" progId="Equation.3">
                  <p:embed/>
                </p:oleObj>
              </mc:Choice>
              <mc:Fallback>
                <p:oleObj name="Equation" r:id="rId2" imgW="685800" imgH="228600" progId="Equation.3">
                  <p:embed/>
                  <p:pic>
                    <p:nvPicPr>
                      <p:cNvPr id="0" name="Picture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114800" y="2133600"/>
                        <a:ext cx="1031875" cy="382587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7" name="Object 16"/>
          <p:cNvGraphicFramePr>
            <a:graphicFrameLocks noChangeAspect="1"/>
          </p:cNvGraphicFramePr>
          <p:nvPr/>
        </p:nvGraphicFramePr>
        <p:xfrm>
          <a:off x="3352800" y="1752600"/>
          <a:ext cx="2895600" cy="38324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1727200" imgH="228600" progId="Equation.3">
                  <p:embed/>
                </p:oleObj>
              </mc:Choice>
              <mc:Fallback>
                <p:oleObj name="Equation" r:id="rId4" imgW="1727200" imgH="228600" progId="Equation.3">
                  <p:embed/>
                  <p:pic>
                    <p:nvPicPr>
                      <p:cNvPr id="0" name="Picture 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352800" y="1752600"/>
                        <a:ext cx="2895600" cy="383241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8" name="Object 17"/>
          <p:cNvGraphicFramePr>
            <a:graphicFrameLocks noChangeAspect="1"/>
          </p:cNvGraphicFramePr>
          <p:nvPr/>
        </p:nvGraphicFramePr>
        <p:xfrm>
          <a:off x="3352800" y="4724400"/>
          <a:ext cx="4953000" cy="75605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2921000" imgH="457200" progId="Equation.3">
                  <p:embed/>
                </p:oleObj>
              </mc:Choice>
              <mc:Fallback>
                <p:oleObj name="Equation" r:id="rId6" imgW="2921000" imgH="457200" progId="Equation.3">
                  <p:embed/>
                  <p:pic>
                    <p:nvPicPr>
                      <p:cNvPr id="0" name="Picture 1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352800" y="4724400"/>
                        <a:ext cx="4953000" cy="756056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1126434881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en-US">
                <a:solidFill>
                  <a:srgbClr val="000000"/>
                </a:solidFill>
              </a:rPr>
              <a:t>2014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F28756-B31F-4EB3-9CB3-CC474DFD3A9D}" type="slidenum">
              <a:rPr lang="en-US" altLang="en-US" smtClean="0">
                <a:solidFill>
                  <a:srgbClr val="000000"/>
                </a:solidFill>
              </a:rPr>
              <a:pPr/>
              <a:t>25</a:t>
            </a:fld>
            <a:endParaRPr lang="en-US" altLang="en-US">
              <a:solidFill>
                <a:srgbClr val="000000"/>
              </a:solidFill>
            </a:endParaRPr>
          </a:p>
        </p:txBody>
      </p:sp>
      <p:sp>
        <p:nvSpPr>
          <p:cNvPr id="5" name="AutoShape 2"/>
          <p:cNvSpPr>
            <a:spLocks noChangeArrowheads="1"/>
          </p:cNvSpPr>
          <p:nvPr/>
        </p:nvSpPr>
        <p:spPr bwMode="auto">
          <a:xfrm>
            <a:off x="304800" y="163794"/>
            <a:ext cx="8610600" cy="914400"/>
          </a:xfrm>
          <a:prstGeom prst="roundRect">
            <a:avLst>
              <a:gd name="adj" fmla="val 16667"/>
            </a:avLst>
          </a:prstGeom>
          <a:solidFill>
            <a:srgbClr val="FFCCFF"/>
          </a:solidFill>
          <a:ln w="34925">
            <a:solidFill>
              <a:srgbClr val="FF3300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sz="2400">
              <a:solidFill>
                <a:srgbClr val="000000"/>
              </a:solidFill>
            </a:endParaRPr>
          </a:p>
        </p:txBody>
      </p:sp>
      <p:sp>
        <p:nvSpPr>
          <p:cNvPr id="6" name="AutoShape 3"/>
          <p:cNvSpPr>
            <a:spLocks noChangeArrowheads="1"/>
          </p:cNvSpPr>
          <p:nvPr/>
        </p:nvSpPr>
        <p:spPr bwMode="auto">
          <a:xfrm>
            <a:off x="304800" y="1143000"/>
            <a:ext cx="8610600" cy="4724400"/>
          </a:xfrm>
          <a:prstGeom prst="roundRect">
            <a:avLst>
              <a:gd name="adj" fmla="val 16667"/>
            </a:avLst>
          </a:prstGeom>
          <a:noFill/>
          <a:ln w="34925">
            <a:solidFill>
              <a:srgbClr val="FF33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sz="2400">
              <a:solidFill>
                <a:srgbClr val="000000"/>
              </a:solidFill>
            </a:endParaRPr>
          </a:p>
        </p:txBody>
      </p:sp>
      <p:sp>
        <p:nvSpPr>
          <p:cNvPr id="7" name="Rectangle 4"/>
          <p:cNvSpPr>
            <a:spLocks noChangeArrowheads="1"/>
          </p:cNvSpPr>
          <p:nvPr/>
        </p:nvSpPr>
        <p:spPr bwMode="auto">
          <a:xfrm>
            <a:off x="753454" y="228600"/>
            <a:ext cx="7772400" cy="685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/>
          <a:lstStyle>
            <a:lvl1pPr algn="ctr">
              <a:defRPr sz="4400">
                <a:solidFill>
                  <a:schemeClr val="tx2"/>
                </a:solidFill>
                <a:latin typeface="Times New Roman" pitchFamily="18" charset="0"/>
              </a:defRPr>
            </a:lvl1pPr>
            <a:lvl2pPr algn="ctr">
              <a:defRPr sz="4400">
                <a:solidFill>
                  <a:schemeClr val="tx2"/>
                </a:solidFill>
                <a:latin typeface="Times New Roman" pitchFamily="18" charset="0"/>
              </a:defRPr>
            </a:lvl2pPr>
            <a:lvl3pPr algn="ctr">
              <a:defRPr sz="4400">
                <a:solidFill>
                  <a:schemeClr val="tx2"/>
                </a:solidFill>
                <a:latin typeface="Times New Roman" pitchFamily="18" charset="0"/>
              </a:defRPr>
            </a:lvl3pPr>
            <a:lvl4pPr algn="ctr">
              <a:defRPr sz="4400">
                <a:solidFill>
                  <a:schemeClr val="tx2"/>
                </a:solidFill>
                <a:latin typeface="Times New Roman" pitchFamily="18" charset="0"/>
              </a:defRPr>
            </a:lvl4pPr>
            <a:lvl5pPr algn="ctr">
              <a:defRPr sz="4400">
                <a:solidFill>
                  <a:schemeClr val="tx2"/>
                </a:solidFill>
                <a:latin typeface="Times New Roman" pitchFamily="18" charset="0"/>
              </a:defRPr>
            </a:lvl5pPr>
            <a:lvl6pPr marL="457200" algn="ctr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imes New Roman" pitchFamily="18" charset="0"/>
              </a:defRPr>
            </a:lvl6pPr>
            <a:lvl7pPr marL="914400" algn="ctr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imes New Roman" pitchFamily="18" charset="0"/>
              </a:defRPr>
            </a:lvl7pPr>
            <a:lvl8pPr marL="1371600" algn="ctr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imes New Roman" pitchFamily="18" charset="0"/>
              </a:defRPr>
            </a:lvl8pPr>
            <a:lvl9pPr marL="1828800" algn="ctr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imes New Roman" pitchFamily="18" charset="0"/>
              </a:defRPr>
            </a:lvl9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2800" i="1" dirty="0">
                <a:solidFill>
                  <a:srgbClr val="0000FF"/>
                </a:solidFill>
                <a:latin typeface="Arial" charset="0"/>
              </a:rPr>
              <a:t>SVMs (cont’d)</a:t>
            </a:r>
          </a:p>
        </p:txBody>
      </p:sp>
      <p:sp>
        <p:nvSpPr>
          <p:cNvPr id="8" name="Rectangle 5"/>
          <p:cNvSpPr>
            <a:spLocks noChangeArrowheads="1"/>
          </p:cNvSpPr>
          <p:nvPr/>
        </p:nvSpPr>
        <p:spPr bwMode="auto">
          <a:xfrm>
            <a:off x="685800" y="1295400"/>
            <a:ext cx="7543800" cy="4572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2075" tIns="46038" rIns="92075" bIns="46038"/>
          <a:lstStyle>
            <a:lvl1pPr marL="342900" indent="-34290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itchFamily="18" charset="0"/>
              </a:defRPr>
            </a:lvl2pPr>
            <a:lvl3pPr marL="108585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eaLnBrk="0" fontAlgn="base" hangingPunct="0">
              <a:spcAft>
                <a:spcPct val="0"/>
              </a:spcAft>
              <a:buClr>
                <a:srgbClr val="000000"/>
              </a:buClr>
            </a:pPr>
            <a:r>
              <a:rPr lang="en-US" altLang="en-US" sz="2400" dirty="0">
                <a:solidFill>
                  <a:srgbClr val="000000"/>
                </a:solidFill>
              </a:rPr>
              <a:t>What if the inputs are not linearly separable in the original feature/input space?</a:t>
            </a:r>
          </a:p>
          <a:p>
            <a:pPr lvl="1" eaLnBrk="0" fontAlgn="base" hangingPunct="0">
              <a:spcAft>
                <a:spcPct val="0"/>
              </a:spcAft>
              <a:buClr>
                <a:srgbClr val="000000"/>
              </a:buClr>
            </a:pPr>
            <a:r>
              <a:rPr lang="en-US" altLang="en-US" sz="2000" dirty="0">
                <a:solidFill>
                  <a:srgbClr val="000000"/>
                </a:solidFill>
              </a:rPr>
              <a:t>Inputs in the two regions shown here are separable, by </a:t>
            </a:r>
          </a:p>
          <a:p>
            <a:pPr lvl="1" eaLnBrk="0" fontAlgn="base" hangingPunct="0">
              <a:spcAft>
                <a:spcPct val="0"/>
              </a:spcAft>
              <a:buClr>
                <a:srgbClr val="000000"/>
              </a:buClr>
              <a:buNone/>
            </a:pPr>
            <a:r>
              <a:rPr lang="en-US" altLang="en-US" sz="2000" dirty="0">
                <a:solidFill>
                  <a:srgbClr val="000000"/>
                </a:solidFill>
              </a:rPr>
              <a:t>	by a good margin, but lines/</a:t>
            </a:r>
            <a:r>
              <a:rPr lang="en-US" altLang="en-US" sz="2000" dirty="0" err="1">
                <a:solidFill>
                  <a:srgbClr val="000000"/>
                </a:solidFill>
              </a:rPr>
              <a:t>hyperplanes</a:t>
            </a:r>
            <a:r>
              <a:rPr lang="en-US" altLang="en-US" sz="2000" dirty="0">
                <a:solidFill>
                  <a:srgbClr val="000000"/>
                </a:solidFill>
              </a:rPr>
              <a:t> are not the </a:t>
            </a:r>
          </a:p>
          <a:p>
            <a:pPr lvl="1" eaLnBrk="0" fontAlgn="base" hangingPunct="0">
              <a:spcAft>
                <a:spcPct val="0"/>
              </a:spcAft>
              <a:buClr>
                <a:srgbClr val="000000"/>
              </a:buClr>
              <a:buNone/>
            </a:pPr>
            <a:r>
              <a:rPr lang="en-US" altLang="en-US" sz="2000" dirty="0">
                <a:solidFill>
                  <a:srgbClr val="000000"/>
                </a:solidFill>
              </a:rPr>
              <a:t> 	best elements to separate them</a:t>
            </a:r>
          </a:p>
          <a:p>
            <a:pPr eaLnBrk="0" fontAlgn="base" hangingPunct="0">
              <a:spcAft>
                <a:spcPct val="0"/>
              </a:spcAft>
              <a:buClr>
                <a:srgbClr val="000000"/>
              </a:buClr>
            </a:pPr>
            <a:r>
              <a:rPr lang="en-US" altLang="en-US" sz="2400" dirty="0">
                <a:solidFill>
                  <a:srgbClr val="000000"/>
                </a:solidFill>
              </a:rPr>
              <a:t>In such cases, we use a kernel that maps the input </a:t>
            </a:r>
          </a:p>
          <a:p>
            <a:pPr eaLnBrk="0" fontAlgn="base" hangingPunct="0">
              <a:spcAft>
                <a:spcPct val="0"/>
              </a:spcAft>
              <a:buClr>
                <a:srgbClr val="000000"/>
              </a:buClr>
              <a:buNone/>
            </a:pPr>
            <a:r>
              <a:rPr lang="en-US" altLang="en-US" sz="2400" dirty="0">
                <a:solidFill>
                  <a:srgbClr val="000000"/>
                </a:solidFill>
              </a:rPr>
              <a:t>	space into space that might create better separation</a:t>
            </a:r>
          </a:p>
          <a:p>
            <a:pPr lvl="1" eaLnBrk="0" fontAlgn="base" hangingPunct="0">
              <a:spcAft>
                <a:spcPct val="0"/>
              </a:spcAft>
              <a:buClr>
                <a:srgbClr val="000000"/>
              </a:buClr>
            </a:pPr>
            <a:r>
              <a:rPr lang="en-US" altLang="en-US" sz="2000" dirty="0">
                <a:solidFill>
                  <a:srgbClr val="000000"/>
                </a:solidFill>
              </a:rPr>
              <a:t>These kernels are often nonlinear functions with symmetric properties and with [much] higher dimension that the original space</a:t>
            </a:r>
          </a:p>
          <a:p>
            <a:pPr lvl="1" eaLnBrk="0" fontAlgn="base" hangingPunct="0">
              <a:spcAft>
                <a:spcPct val="0"/>
              </a:spcAft>
              <a:buClr>
                <a:srgbClr val="000000"/>
              </a:buClr>
            </a:pPr>
            <a:r>
              <a:rPr lang="en-US" altLang="en-US" sz="2000" dirty="0">
                <a:solidFill>
                  <a:srgbClr val="000000"/>
                </a:solidFill>
              </a:rPr>
              <a:t>Popular kernels: radial basis functions (RBF) and Gaussian</a:t>
            </a:r>
          </a:p>
          <a:p>
            <a:pPr eaLnBrk="0" fontAlgn="base" hangingPunct="0">
              <a:spcAft>
                <a:spcPct val="0"/>
              </a:spcAft>
              <a:buClr>
                <a:srgbClr val="000000"/>
              </a:buClr>
            </a:pPr>
            <a:endParaRPr lang="en-US" altLang="en-US" sz="2400" dirty="0">
              <a:solidFill>
                <a:srgbClr val="000000"/>
              </a:solidFill>
            </a:endParaRPr>
          </a:p>
          <a:p>
            <a:pPr lvl="1" eaLnBrk="0" fontAlgn="base" hangingPunct="0">
              <a:spcAft>
                <a:spcPct val="0"/>
              </a:spcAft>
              <a:buClr>
                <a:srgbClr val="000000"/>
              </a:buClr>
              <a:buNone/>
            </a:pPr>
            <a:endParaRPr lang="en-US" altLang="en-US" sz="1600" dirty="0">
              <a:solidFill>
                <a:srgbClr val="000000"/>
              </a:solidFill>
            </a:endParaRPr>
          </a:p>
          <a:p>
            <a:pPr eaLnBrk="0" fontAlgn="base" hangingPunct="0">
              <a:spcAft>
                <a:spcPct val="0"/>
              </a:spcAft>
              <a:buClr>
                <a:srgbClr val="000000"/>
              </a:buClr>
            </a:pPr>
            <a:endParaRPr lang="en-US" altLang="en-US" sz="2400" dirty="0">
              <a:solidFill>
                <a:srgbClr val="000000"/>
              </a:solidFill>
            </a:endParaRPr>
          </a:p>
        </p:txBody>
      </p:sp>
      <p:sp>
        <p:nvSpPr>
          <p:cNvPr id="19" name="Freeform 18"/>
          <p:cNvSpPr/>
          <p:nvPr/>
        </p:nvSpPr>
        <p:spPr bwMode="auto">
          <a:xfrm>
            <a:off x="7224215" y="1366092"/>
            <a:ext cx="939284" cy="1649467"/>
          </a:xfrm>
          <a:custGeom>
            <a:avLst/>
            <a:gdLst>
              <a:gd name="connsiteX0" fmla="*/ 168103 w 939284"/>
              <a:gd name="connsiteY0" fmla="*/ 396607 h 1649467"/>
              <a:gd name="connsiteX1" fmla="*/ 168103 w 939284"/>
              <a:gd name="connsiteY1" fmla="*/ 396607 h 1649467"/>
              <a:gd name="connsiteX2" fmla="*/ 13867 w 939284"/>
              <a:gd name="connsiteY2" fmla="*/ 716096 h 1649467"/>
              <a:gd name="connsiteX3" fmla="*/ 57934 w 939284"/>
              <a:gd name="connsiteY3" fmla="*/ 804231 h 1649467"/>
              <a:gd name="connsiteX4" fmla="*/ 124036 w 939284"/>
              <a:gd name="connsiteY4" fmla="*/ 848298 h 1649467"/>
              <a:gd name="connsiteX5" fmla="*/ 157086 w 939284"/>
              <a:gd name="connsiteY5" fmla="*/ 870332 h 1649467"/>
              <a:gd name="connsiteX6" fmla="*/ 190137 w 939284"/>
              <a:gd name="connsiteY6" fmla="*/ 881349 h 1649467"/>
              <a:gd name="connsiteX7" fmla="*/ 201154 w 939284"/>
              <a:gd name="connsiteY7" fmla="*/ 914400 h 1649467"/>
              <a:gd name="connsiteX8" fmla="*/ 234204 w 939284"/>
              <a:gd name="connsiteY8" fmla="*/ 936433 h 1649467"/>
              <a:gd name="connsiteX9" fmla="*/ 300305 w 939284"/>
              <a:gd name="connsiteY9" fmla="*/ 980501 h 1649467"/>
              <a:gd name="connsiteX10" fmla="*/ 333356 w 939284"/>
              <a:gd name="connsiteY10" fmla="*/ 958467 h 1649467"/>
              <a:gd name="connsiteX11" fmla="*/ 366407 w 939284"/>
              <a:gd name="connsiteY11" fmla="*/ 1079653 h 1649467"/>
              <a:gd name="connsiteX12" fmla="*/ 377424 w 939284"/>
              <a:gd name="connsiteY12" fmla="*/ 1112703 h 1649467"/>
              <a:gd name="connsiteX13" fmla="*/ 421491 w 939284"/>
              <a:gd name="connsiteY13" fmla="*/ 1266939 h 1649467"/>
              <a:gd name="connsiteX14" fmla="*/ 443525 w 939284"/>
              <a:gd name="connsiteY14" fmla="*/ 1311007 h 1649467"/>
              <a:gd name="connsiteX15" fmla="*/ 454542 w 939284"/>
              <a:gd name="connsiteY15" fmla="*/ 1377108 h 1649467"/>
              <a:gd name="connsiteX16" fmla="*/ 476575 w 939284"/>
              <a:gd name="connsiteY16" fmla="*/ 1410159 h 1649467"/>
              <a:gd name="connsiteX17" fmla="*/ 498609 w 939284"/>
              <a:gd name="connsiteY17" fmla="*/ 1465243 h 1649467"/>
              <a:gd name="connsiteX18" fmla="*/ 553693 w 939284"/>
              <a:gd name="connsiteY18" fmla="*/ 1597445 h 1649467"/>
              <a:gd name="connsiteX19" fmla="*/ 597761 w 939284"/>
              <a:gd name="connsiteY19" fmla="*/ 1619479 h 1649467"/>
              <a:gd name="connsiteX20" fmla="*/ 785048 w 939284"/>
              <a:gd name="connsiteY20" fmla="*/ 1564395 h 1649467"/>
              <a:gd name="connsiteX21" fmla="*/ 807081 w 939284"/>
              <a:gd name="connsiteY21" fmla="*/ 1531344 h 1649467"/>
              <a:gd name="connsiteX22" fmla="*/ 818098 w 939284"/>
              <a:gd name="connsiteY22" fmla="*/ 1487277 h 1649467"/>
              <a:gd name="connsiteX23" fmla="*/ 851149 w 939284"/>
              <a:gd name="connsiteY23" fmla="*/ 1465243 h 1649467"/>
              <a:gd name="connsiteX24" fmla="*/ 906233 w 939284"/>
              <a:gd name="connsiteY24" fmla="*/ 1410159 h 1649467"/>
              <a:gd name="connsiteX25" fmla="*/ 939284 w 939284"/>
              <a:gd name="connsiteY25" fmla="*/ 1344057 h 1649467"/>
              <a:gd name="connsiteX26" fmla="*/ 917250 w 939284"/>
              <a:gd name="connsiteY26" fmla="*/ 1233889 h 1649467"/>
              <a:gd name="connsiteX27" fmla="*/ 884199 w 939284"/>
              <a:gd name="connsiteY27" fmla="*/ 1101686 h 1649467"/>
              <a:gd name="connsiteX28" fmla="*/ 785048 w 939284"/>
              <a:gd name="connsiteY28" fmla="*/ 1013551 h 1649467"/>
              <a:gd name="connsiteX29" fmla="*/ 740980 w 939284"/>
              <a:gd name="connsiteY29" fmla="*/ 991518 h 1649467"/>
              <a:gd name="connsiteX30" fmla="*/ 696913 w 939284"/>
              <a:gd name="connsiteY30" fmla="*/ 980501 h 1649467"/>
              <a:gd name="connsiteX31" fmla="*/ 663862 w 939284"/>
              <a:gd name="connsiteY31" fmla="*/ 969484 h 1649467"/>
              <a:gd name="connsiteX32" fmla="*/ 586744 w 939284"/>
              <a:gd name="connsiteY32" fmla="*/ 914400 h 1649467"/>
              <a:gd name="connsiteX33" fmla="*/ 553693 w 939284"/>
              <a:gd name="connsiteY33" fmla="*/ 881349 h 1649467"/>
              <a:gd name="connsiteX34" fmla="*/ 520643 w 939284"/>
              <a:gd name="connsiteY34" fmla="*/ 837281 h 1649467"/>
              <a:gd name="connsiteX35" fmla="*/ 487592 w 939284"/>
              <a:gd name="connsiteY35" fmla="*/ 826265 h 1649467"/>
              <a:gd name="connsiteX36" fmla="*/ 465558 w 939284"/>
              <a:gd name="connsiteY36" fmla="*/ 793214 h 1649467"/>
              <a:gd name="connsiteX37" fmla="*/ 432508 w 939284"/>
              <a:gd name="connsiteY37" fmla="*/ 760163 h 1649467"/>
              <a:gd name="connsiteX38" fmla="*/ 421491 w 939284"/>
              <a:gd name="connsiteY38" fmla="*/ 716096 h 1649467"/>
              <a:gd name="connsiteX39" fmla="*/ 388440 w 939284"/>
              <a:gd name="connsiteY39" fmla="*/ 672028 h 1649467"/>
              <a:gd name="connsiteX40" fmla="*/ 377424 w 939284"/>
              <a:gd name="connsiteY40" fmla="*/ 638978 h 1649467"/>
              <a:gd name="connsiteX41" fmla="*/ 377424 w 939284"/>
              <a:gd name="connsiteY41" fmla="*/ 451691 h 1649467"/>
              <a:gd name="connsiteX42" fmla="*/ 410474 w 939284"/>
              <a:gd name="connsiteY42" fmla="*/ 440674 h 1649467"/>
              <a:gd name="connsiteX43" fmla="*/ 443525 w 939284"/>
              <a:gd name="connsiteY43" fmla="*/ 407624 h 1649467"/>
              <a:gd name="connsiteX44" fmla="*/ 476575 w 939284"/>
              <a:gd name="connsiteY44" fmla="*/ 396607 h 1649467"/>
              <a:gd name="connsiteX45" fmla="*/ 586744 w 939284"/>
              <a:gd name="connsiteY45" fmla="*/ 363556 h 1649467"/>
              <a:gd name="connsiteX46" fmla="*/ 663862 w 939284"/>
              <a:gd name="connsiteY46" fmla="*/ 297455 h 1649467"/>
              <a:gd name="connsiteX47" fmla="*/ 707930 w 939284"/>
              <a:gd name="connsiteY47" fmla="*/ 209320 h 1649467"/>
              <a:gd name="connsiteX48" fmla="*/ 729963 w 939284"/>
              <a:gd name="connsiteY48" fmla="*/ 132202 h 1649467"/>
              <a:gd name="connsiteX49" fmla="*/ 718946 w 939284"/>
              <a:gd name="connsiteY49" fmla="*/ 55084 h 1649467"/>
              <a:gd name="connsiteX50" fmla="*/ 707930 w 939284"/>
              <a:gd name="connsiteY50" fmla="*/ 22033 h 1649467"/>
              <a:gd name="connsiteX51" fmla="*/ 641828 w 939284"/>
              <a:gd name="connsiteY51" fmla="*/ 0 h 1649467"/>
              <a:gd name="connsiteX52" fmla="*/ 575727 w 939284"/>
              <a:gd name="connsiteY52" fmla="*/ 11016 h 1649467"/>
              <a:gd name="connsiteX53" fmla="*/ 476575 w 939284"/>
              <a:gd name="connsiteY53" fmla="*/ 22033 h 1649467"/>
              <a:gd name="connsiteX54" fmla="*/ 465558 w 939284"/>
              <a:gd name="connsiteY54" fmla="*/ 55084 h 1649467"/>
              <a:gd name="connsiteX55" fmla="*/ 399457 w 939284"/>
              <a:gd name="connsiteY55" fmla="*/ 99151 h 1649467"/>
              <a:gd name="connsiteX56" fmla="*/ 355390 w 939284"/>
              <a:gd name="connsiteY56" fmla="*/ 165253 h 1649467"/>
              <a:gd name="connsiteX57" fmla="*/ 300305 w 939284"/>
              <a:gd name="connsiteY57" fmla="*/ 220337 h 1649467"/>
              <a:gd name="connsiteX58" fmla="*/ 267255 w 939284"/>
              <a:gd name="connsiteY58" fmla="*/ 231354 h 1649467"/>
              <a:gd name="connsiteX59" fmla="*/ 234204 w 939284"/>
              <a:gd name="connsiteY59" fmla="*/ 297455 h 1649467"/>
              <a:gd name="connsiteX60" fmla="*/ 212171 w 939284"/>
              <a:gd name="connsiteY60" fmla="*/ 330506 h 1649467"/>
              <a:gd name="connsiteX61" fmla="*/ 190137 w 939284"/>
              <a:gd name="connsiteY61" fmla="*/ 407624 h 1649467"/>
              <a:gd name="connsiteX62" fmla="*/ 168103 w 939284"/>
              <a:gd name="connsiteY62" fmla="*/ 396607 h 164946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</a:cxnLst>
            <a:rect l="l" t="t" r="r" b="b"/>
            <a:pathLst>
              <a:path w="939284" h="1649467">
                <a:moveTo>
                  <a:pt x="168103" y="396607"/>
                </a:moveTo>
                <a:lnTo>
                  <a:pt x="168103" y="396607"/>
                </a:lnTo>
                <a:cubicBezTo>
                  <a:pt x="116691" y="503103"/>
                  <a:pt x="56101" y="605638"/>
                  <a:pt x="13867" y="716096"/>
                </a:cubicBezTo>
                <a:cubicBezTo>
                  <a:pt x="0" y="752362"/>
                  <a:pt x="34890" y="786308"/>
                  <a:pt x="57934" y="804231"/>
                </a:cubicBezTo>
                <a:cubicBezTo>
                  <a:pt x="78837" y="820489"/>
                  <a:pt x="102002" y="833609"/>
                  <a:pt x="124036" y="848298"/>
                </a:cubicBezTo>
                <a:cubicBezTo>
                  <a:pt x="135053" y="855642"/>
                  <a:pt x="144525" y="866145"/>
                  <a:pt x="157086" y="870332"/>
                </a:cubicBezTo>
                <a:lnTo>
                  <a:pt x="190137" y="881349"/>
                </a:lnTo>
                <a:cubicBezTo>
                  <a:pt x="193809" y="892366"/>
                  <a:pt x="193899" y="905332"/>
                  <a:pt x="201154" y="914400"/>
                </a:cubicBezTo>
                <a:cubicBezTo>
                  <a:pt x="209425" y="924739"/>
                  <a:pt x="224032" y="927957"/>
                  <a:pt x="234204" y="936433"/>
                </a:cubicBezTo>
                <a:cubicBezTo>
                  <a:pt x="289221" y="982280"/>
                  <a:pt x="242222" y="961140"/>
                  <a:pt x="300305" y="980501"/>
                </a:cubicBezTo>
                <a:cubicBezTo>
                  <a:pt x="311322" y="973156"/>
                  <a:pt x="323993" y="949104"/>
                  <a:pt x="333356" y="958467"/>
                </a:cubicBezTo>
                <a:cubicBezTo>
                  <a:pt x="339537" y="964648"/>
                  <a:pt x="360240" y="1058070"/>
                  <a:pt x="366407" y="1079653"/>
                </a:cubicBezTo>
                <a:cubicBezTo>
                  <a:pt x="369597" y="1090819"/>
                  <a:pt x="374369" y="1101500"/>
                  <a:pt x="377424" y="1112703"/>
                </a:cubicBezTo>
                <a:cubicBezTo>
                  <a:pt x="395334" y="1178375"/>
                  <a:pt x="397363" y="1206619"/>
                  <a:pt x="421491" y="1266939"/>
                </a:cubicBezTo>
                <a:cubicBezTo>
                  <a:pt x="427590" y="1282188"/>
                  <a:pt x="436180" y="1296318"/>
                  <a:pt x="443525" y="1311007"/>
                </a:cubicBezTo>
                <a:cubicBezTo>
                  <a:pt x="447197" y="1333041"/>
                  <a:pt x="447478" y="1355917"/>
                  <a:pt x="454542" y="1377108"/>
                </a:cubicBezTo>
                <a:cubicBezTo>
                  <a:pt x="458729" y="1389669"/>
                  <a:pt x="470654" y="1398316"/>
                  <a:pt x="476575" y="1410159"/>
                </a:cubicBezTo>
                <a:cubicBezTo>
                  <a:pt x="485419" y="1427847"/>
                  <a:pt x="492793" y="1446342"/>
                  <a:pt x="498609" y="1465243"/>
                </a:cubicBezTo>
                <a:cubicBezTo>
                  <a:pt x="516587" y="1523670"/>
                  <a:pt x="507633" y="1557965"/>
                  <a:pt x="553693" y="1597445"/>
                </a:cubicBezTo>
                <a:cubicBezTo>
                  <a:pt x="566162" y="1608133"/>
                  <a:pt x="583072" y="1612134"/>
                  <a:pt x="597761" y="1619479"/>
                </a:cubicBezTo>
                <a:cubicBezTo>
                  <a:pt x="761295" y="1607798"/>
                  <a:pt x="724283" y="1649467"/>
                  <a:pt x="785048" y="1564395"/>
                </a:cubicBezTo>
                <a:cubicBezTo>
                  <a:pt x="792744" y="1553621"/>
                  <a:pt x="799737" y="1542361"/>
                  <a:pt x="807081" y="1531344"/>
                </a:cubicBezTo>
                <a:cubicBezTo>
                  <a:pt x="810753" y="1516655"/>
                  <a:pt x="809699" y="1499875"/>
                  <a:pt x="818098" y="1487277"/>
                </a:cubicBezTo>
                <a:cubicBezTo>
                  <a:pt x="825443" y="1476260"/>
                  <a:pt x="841786" y="1474606"/>
                  <a:pt x="851149" y="1465243"/>
                </a:cubicBezTo>
                <a:cubicBezTo>
                  <a:pt x="924594" y="1391798"/>
                  <a:pt x="818101" y="1468913"/>
                  <a:pt x="906233" y="1410159"/>
                </a:cubicBezTo>
                <a:cubicBezTo>
                  <a:pt x="917373" y="1393448"/>
                  <a:pt x="939284" y="1366863"/>
                  <a:pt x="939284" y="1344057"/>
                </a:cubicBezTo>
                <a:cubicBezTo>
                  <a:pt x="939284" y="1293420"/>
                  <a:pt x="930817" y="1274590"/>
                  <a:pt x="917250" y="1233889"/>
                </a:cubicBezTo>
                <a:cubicBezTo>
                  <a:pt x="913609" y="1212042"/>
                  <a:pt x="901657" y="1119144"/>
                  <a:pt x="884199" y="1101686"/>
                </a:cubicBezTo>
                <a:cubicBezTo>
                  <a:pt x="839587" y="1057074"/>
                  <a:pt x="830915" y="1039761"/>
                  <a:pt x="785048" y="1013551"/>
                </a:cubicBezTo>
                <a:cubicBezTo>
                  <a:pt x="770789" y="1005403"/>
                  <a:pt x="756357" y="997284"/>
                  <a:pt x="740980" y="991518"/>
                </a:cubicBezTo>
                <a:cubicBezTo>
                  <a:pt x="726803" y="986202"/>
                  <a:pt x="711472" y="984661"/>
                  <a:pt x="696913" y="980501"/>
                </a:cubicBezTo>
                <a:cubicBezTo>
                  <a:pt x="685747" y="977311"/>
                  <a:pt x="674879" y="973156"/>
                  <a:pt x="663862" y="969484"/>
                </a:cubicBezTo>
                <a:cubicBezTo>
                  <a:pt x="637712" y="952050"/>
                  <a:pt x="610650" y="934890"/>
                  <a:pt x="586744" y="914400"/>
                </a:cubicBezTo>
                <a:cubicBezTo>
                  <a:pt x="574914" y="904261"/>
                  <a:pt x="563832" y="893179"/>
                  <a:pt x="553693" y="881349"/>
                </a:cubicBezTo>
                <a:cubicBezTo>
                  <a:pt x="541744" y="867408"/>
                  <a:pt x="534749" y="849036"/>
                  <a:pt x="520643" y="837281"/>
                </a:cubicBezTo>
                <a:cubicBezTo>
                  <a:pt x="511722" y="829847"/>
                  <a:pt x="498609" y="829937"/>
                  <a:pt x="487592" y="826265"/>
                </a:cubicBezTo>
                <a:cubicBezTo>
                  <a:pt x="480247" y="815248"/>
                  <a:pt x="474034" y="803386"/>
                  <a:pt x="465558" y="793214"/>
                </a:cubicBezTo>
                <a:cubicBezTo>
                  <a:pt x="455584" y="781245"/>
                  <a:pt x="440238" y="773690"/>
                  <a:pt x="432508" y="760163"/>
                </a:cubicBezTo>
                <a:cubicBezTo>
                  <a:pt x="424996" y="747017"/>
                  <a:pt x="428262" y="729639"/>
                  <a:pt x="421491" y="716096"/>
                </a:cubicBezTo>
                <a:cubicBezTo>
                  <a:pt x="413279" y="699673"/>
                  <a:pt x="399457" y="686717"/>
                  <a:pt x="388440" y="672028"/>
                </a:cubicBezTo>
                <a:cubicBezTo>
                  <a:pt x="384768" y="661011"/>
                  <a:pt x="380240" y="650244"/>
                  <a:pt x="377424" y="638978"/>
                </a:cubicBezTo>
                <a:cubicBezTo>
                  <a:pt x="361444" y="575057"/>
                  <a:pt x="356092" y="521022"/>
                  <a:pt x="377424" y="451691"/>
                </a:cubicBezTo>
                <a:cubicBezTo>
                  <a:pt x="380839" y="440592"/>
                  <a:pt x="399457" y="444346"/>
                  <a:pt x="410474" y="440674"/>
                </a:cubicBezTo>
                <a:cubicBezTo>
                  <a:pt x="421491" y="429657"/>
                  <a:pt x="430561" y="416266"/>
                  <a:pt x="443525" y="407624"/>
                </a:cubicBezTo>
                <a:cubicBezTo>
                  <a:pt x="453187" y="401183"/>
                  <a:pt x="465409" y="399797"/>
                  <a:pt x="476575" y="396607"/>
                </a:cubicBezTo>
                <a:cubicBezTo>
                  <a:pt x="503519" y="388909"/>
                  <a:pt x="567107" y="376647"/>
                  <a:pt x="586744" y="363556"/>
                </a:cubicBezTo>
                <a:cubicBezTo>
                  <a:pt x="625728" y="337567"/>
                  <a:pt x="628242" y="339011"/>
                  <a:pt x="663862" y="297455"/>
                </a:cubicBezTo>
                <a:cubicBezTo>
                  <a:pt x="687526" y="269847"/>
                  <a:pt x="694928" y="243992"/>
                  <a:pt x="707930" y="209320"/>
                </a:cubicBezTo>
                <a:cubicBezTo>
                  <a:pt x="719780" y="177720"/>
                  <a:pt x="721285" y="166914"/>
                  <a:pt x="729963" y="132202"/>
                </a:cubicBezTo>
                <a:cubicBezTo>
                  <a:pt x="726291" y="106496"/>
                  <a:pt x="724038" y="80547"/>
                  <a:pt x="718946" y="55084"/>
                </a:cubicBezTo>
                <a:cubicBezTo>
                  <a:pt x="716669" y="43697"/>
                  <a:pt x="717380" y="28783"/>
                  <a:pt x="707930" y="22033"/>
                </a:cubicBezTo>
                <a:cubicBezTo>
                  <a:pt x="689030" y="8533"/>
                  <a:pt x="641828" y="0"/>
                  <a:pt x="641828" y="0"/>
                </a:cubicBezTo>
                <a:cubicBezTo>
                  <a:pt x="619794" y="3672"/>
                  <a:pt x="597869" y="8064"/>
                  <a:pt x="575727" y="11016"/>
                </a:cubicBezTo>
                <a:cubicBezTo>
                  <a:pt x="542765" y="15411"/>
                  <a:pt x="507451" y="9683"/>
                  <a:pt x="476575" y="22033"/>
                </a:cubicBezTo>
                <a:cubicBezTo>
                  <a:pt x="465793" y="26346"/>
                  <a:pt x="473770" y="46872"/>
                  <a:pt x="465558" y="55084"/>
                </a:cubicBezTo>
                <a:cubicBezTo>
                  <a:pt x="446833" y="73809"/>
                  <a:pt x="399457" y="99151"/>
                  <a:pt x="399457" y="99151"/>
                </a:cubicBezTo>
                <a:lnTo>
                  <a:pt x="355390" y="165253"/>
                </a:lnTo>
                <a:cubicBezTo>
                  <a:pt x="333357" y="198303"/>
                  <a:pt x="337027" y="201976"/>
                  <a:pt x="300305" y="220337"/>
                </a:cubicBezTo>
                <a:cubicBezTo>
                  <a:pt x="289918" y="225530"/>
                  <a:pt x="278272" y="227682"/>
                  <a:pt x="267255" y="231354"/>
                </a:cubicBezTo>
                <a:cubicBezTo>
                  <a:pt x="204119" y="326055"/>
                  <a:pt x="279808" y="206245"/>
                  <a:pt x="234204" y="297455"/>
                </a:cubicBezTo>
                <a:cubicBezTo>
                  <a:pt x="228283" y="309298"/>
                  <a:pt x="218092" y="318663"/>
                  <a:pt x="212171" y="330506"/>
                </a:cubicBezTo>
                <a:cubicBezTo>
                  <a:pt x="201559" y="351729"/>
                  <a:pt x="197198" y="386440"/>
                  <a:pt x="190137" y="407624"/>
                </a:cubicBezTo>
                <a:cubicBezTo>
                  <a:pt x="187540" y="415414"/>
                  <a:pt x="171775" y="398443"/>
                  <a:pt x="168103" y="396607"/>
                </a:cubicBezTo>
                <a:close/>
              </a:path>
            </a:pathLst>
          </a:cu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</a:endParaRPr>
          </a:p>
        </p:txBody>
      </p:sp>
      <p:sp>
        <p:nvSpPr>
          <p:cNvPr id="20" name="Freeform 19"/>
          <p:cNvSpPr/>
          <p:nvPr/>
        </p:nvSpPr>
        <p:spPr bwMode="auto">
          <a:xfrm>
            <a:off x="7028761" y="1850834"/>
            <a:ext cx="1476479" cy="1691222"/>
          </a:xfrm>
          <a:custGeom>
            <a:avLst/>
            <a:gdLst>
              <a:gd name="connsiteX0" fmla="*/ 881350 w 1476479"/>
              <a:gd name="connsiteY0" fmla="*/ 264405 h 1691222"/>
              <a:gd name="connsiteX1" fmla="*/ 881350 w 1476479"/>
              <a:gd name="connsiteY1" fmla="*/ 264405 h 1691222"/>
              <a:gd name="connsiteX2" fmla="*/ 859316 w 1476479"/>
              <a:gd name="connsiteY2" fmla="*/ 165253 h 1691222"/>
              <a:gd name="connsiteX3" fmla="*/ 892367 w 1476479"/>
              <a:gd name="connsiteY3" fmla="*/ 77118 h 1691222"/>
              <a:gd name="connsiteX4" fmla="*/ 936434 w 1476479"/>
              <a:gd name="connsiteY4" fmla="*/ 0 h 1691222"/>
              <a:gd name="connsiteX5" fmla="*/ 969485 w 1476479"/>
              <a:gd name="connsiteY5" fmla="*/ 11017 h 1691222"/>
              <a:gd name="connsiteX6" fmla="*/ 1123721 w 1476479"/>
              <a:gd name="connsiteY6" fmla="*/ 0 h 1691222"/>
              <a:gd name="connsiteX7" fmla="*/ 1211856 w 1476479"/>
              <a:gd name="connsiteY7" fmla="*/ 11017 h 1691222"/>
              <a:gd name="connsiteX8" fmla="*/ 1244906 w 1476479"/>
              <a:gd name="connsiteY8" fmla="*/ 44067 h 1691222"/>
              <a:gd name="connsiteX9" fmla="*/ 1266940 w 1476479"/>
              <a:gd name="connsiteY9" fmla="*/ 77118 h 1691222"/>
              <a:gd name="connsiteX10" fmla="*/ 1299991 w 1476479"/>
              <a:gd name="connsiteY10" fmla="*/ 154236 h 1691222"/>
              <a:gd name="connsiteX11" fmla="*/ 1311008 w 1476479"/>
              <a:gd name="connsiteY11" fmla="*/ 198303 h 1691222"/>
              <a:gd name="connsiteX12" fmla="*/ 1344058 w 1476479"/>
              <a:gd name="connsiteY12" fmla="*/ 220337 h 1691222"/>
              <a:gd name="connsiteX13" fmla="*/ 1443210 w 1476479"/>
              <a:gd name="connsiteY13" fmla="*/ 319489 h 1691222"/>
              <a:gd name="connsiteX14" fmla="*/ 1454227 w 1476479"/>
              <a:gd name="connsiteY14" fmla="*/ 352539 h 1691222"/>
              <a:gd name="connsiteX15" fmla="*/ 1465244 w 1476479"/>
              <a:gd name="connsiteY15" fmla="*/ 407624 h 1691222"/>
              <a:gd name="connsiteX16" fmla="*/ 1421176 w 1476479"/>
              <a:gd name="connsiteY16" fmla="*/ 396607 h 1691222"/>
              <a:gd name="connsiteX17" fmla="*/ 1410159 w 1476479"/>
              <a:gd name="connsiteY17" fmla="*/ 1002535 h 1691222"/>
              <a:gd name="connsiteX18" fmla="*/ 1388126 w 1476479"/>
              <a:gd name="connsiteY18" fmla="*/ 1035585 h 1691222"/>
              <a:gd name="connsiteX19" fmla="*/ 1355075 w 1476479"/>
              <a:gd name="connsiteY19" fmla="*/ 1068636 h 1691222"/>
              <a:gd name="connsiteX20" fmla="*/ 1333041 w 1476479"/>
              <a:gd name="connsiteY20" fmla="*/ 1134737 h 1691222"/>
              <a:gd name="connsiteX21" fmla="*/ 1322025 w 1476479"/>
              <a:gd name="connsiteY21" fmla="*/ 1167788 h 1691222"/>
              <a:gd name="connsiteX22" fmla="*/ 1311008 w 1476479"/>
              <a:gd name="connsiteY22" fmla="*/ 1322024 h 1691222"/>
              <a:gd name="connsiteX23" fmla="*/ 1266940 w 1476479"/>
              <a:gd name="connsiteY23" fmla="*/ 1509311 h 1691222"/>
              <a:gd name="connsiteX24" fmla="*/ 1233890 w 1476479"/>
              <a:gd name="connsiteY24" fmla="*/ 1564395 h 1691222"/>
              <a:gd name="connsiteX25" fmla="*/ 1189822 w 1476479"/>
              <a:gd name="connsiteY25" fmla="*/ 1608462 h 1691222"/>
              <a:gd name="connsiteX26" fmla="*/ 1145755 w 1476479"/>
              <a:gd name="connsiteY26" fmla="*/ 1652530 h 1691222"/>
              <a:gd name="connsiteX27" fmla="*/ 1112704 w 1476479"/>
              <a:gd name="connsiteY27" fmla="*/ 1663547 h 1691222"/>
              <a:gd name="connsiteX28" fmla="*/ 1035586 w 1476479"/>
              <a:gd name="connsiteY28" fmla="*/ 1685580 h 1691222"/>
              <a:gd name="connsiteX29" fmla="*/ 859316 w 1476479"/>
              <a:gd name="connsiteY29" fmla="*/ 1663547 h 1691222"/>
              <a:gd name="connsiteX30" fmla="*/ 815249 w 1476479"/>
              <a:gd name="connsiteY30" fmla="*/ 1641513 h 1691222"/>
              <a:gd name="connsiteX31" fmla="*/ 738131 w 1476479"/>
              <a:gd name="connsiteY31" fmla="*/ 1619479 h 1691222"/>
              <a:gd name="connsiteX32" fmla="*/ 661012 w 1476479"/>
              <a:gd name="connsiteY32" fmla="*/ 1564395 h 1691222"/>
              <a:gd name="connsiteX33" fmla="*/ 616945 w 1476479"/>
              <a:gd name="connsiteY33" fmla="*/ 1531344 h 1691222"/>
              <a:gd name="connsiteX34" fmla="*/ 583894 w 1476479"/>
              <a:gd name="connsiteY34" fmla="*/ 1498294 h 1691222"/>
              <a:gd name="connsiteX35" fmla="*/ 550844 w 1476479"/>
              <a:gd name="connsiteY35" fmla="*/ 1487277 h 1691222"/>
              <a:gd name="connsiteX36" fmla="*/ 506776 w 1476479"/>
              <a:gd name="connsiteY36" fmla="*/ 1454226 h 1691222"/>
              <a:gd name="connsiteX37" fmla="*/ 484743 w 1476479"/>
              <a:gd name="connsiteY37" fmla="*/ 1421176 h 1691222"/>
              <a:gd name="connsiteX38" fmla="*/ 407625 w 1476479"/>
              <a:gd name="connsiteY38" fmla="*/ 1377108 h 1691222"/>
              <a:gd name="connsiteX39" fmla="*/ 374574 w 1476479"/>
              <a:gd name="connsiteY39" fmla="*/ 1366091 h 1691222"/>
              <a:gd name="connsiteX40" fmla="*/ 297456 w 1476479"/>
              <a:gd name="connsiteY40" fmla="*/ 1333041 h 1691222"/>
              <a:gd name="connsiteX41" fmla="*/ 275422 w 1476479"/>
              <a:gd name="connsiteY41" fmla="*/ 1299990 h 1691222"/>
              <a:gd name="connsiteX42" fmla="*/ 242372 w 1476479"/>
              <a:gd name="connsiteY42" fmla="*/ 1277956 h 1691222"/>
              <a:gd name="connsiteX43" fmla="*/ 231355 w 1476479"/>
              <a:gd name="connsiteY43" fmla="*/ 1233889 h 1691222"/>
              <a:gd name="connsiteX44" fmla="*/ 198304 w 1476479"/>
              <a:gd name="connsiteY44" fmla="*/ 1200838 h 1691222"/>
              <a:gd name="connsiteX45" fmla="*/ 176270 w 1476479"/>
              <a:gd name="connsiteY45" fmla="*/ 1156771 h 1691222"/>
              <a:gd name="connsiteX46" fmla="*/ 110169 w 1476479"/>
              <a:gd name="connsiteY46" fmla="*/ 1090670 h 1691222"/>
              <a:gd name="connsiteX47" fmla="*/ 77119 w 1476479"/>
              <a:gd name="connsiteY47" fmla="*/ 1057619 h 1691222"/>
              <a:gd name="connsiteX48" fmla="*/ 44068 w 1476479"/>
              <a:gd name="connsiteY48" fmla="*/ 980501 h 1691222"/>
              <a:gd name="connsiteX49" fmla="*/ 22034 w 1476479"/>
              <a:gd name="connsiteY49" fmla="*/ 914400 h 1691222"/>
              <a:gd name="connsiteX50" fmla="*/ 0 w 1476479"/>
              <a:gd name="connsiteY50" fmla="*/ 815248 h 1691222"/>
              <a:gd name="connsiteX51" fmla="*/ 11017 w 1476479"/>
              <a:gd name="connsiteY51" fmla="*/ 716096 h 1691222"/>
              <a:gd name="connsiteX52" fmla="*/ 22034 w 1476479"/>
              <a:gd name="connsiteY52" fmla="*/ 638978 h 1691222"/>
              <a:gd name="connsiteX53" fmla="*/ 88135 w 1476479"/>
              <a:gd name="connsiteY53" fmla="*/ 594911 h 1691222"/>
              <a:gd name="connsiteX54" fmla="*/ 264405 w 1476479"/>
              <a:gd name="connsiteY54" fmla="*/ 627961 h 1691222"/>
              <a:gd name="connsiteX55" fmla="*/ 275422 w 1476479"/>
              <a:gd name="connsiteY55" fmla="*/ 661012 h 1691222"/>
              <a:gd name="connsiteX56" fmla="*/ 297456 w 1476479"/>
              <a:gd name="connsiteY56" fmla="*/ 694062 h 1691222"/>
              <a:gd name="connsiteX57" fmla="*/ 363557 w 1476479"/>
              <a:gd name="connsiteY57" fmla="*/ 738130 h 1691222"/>
              <a:gd name="connsiteX58" fmla="*/ 429658 w 1476479"/>
              <a:gd name="connsiteY58" fmla="*/ 760164 h 1691222"/>
              <a:gd name="connsiteX59" fmla="*/ 462709 w 1476479"/>
              <a:gd name="connsiteY59" fmla="*/ 793214 h 1691222"/>
              <a:gd name="connsiteX60" fmla="*/ 473726 w 1476479"/>
              <a:gd name="connsiteY60" fmla="*/ 826265 h 1691222"/>
              <a:gd name="connsiteX61" fmla="*/ 495759 w 1476479"/>
              <a:gd name="connsiteY61" fmla="*/ 859315 h 1691222"/>
              <a:gd name="connsiteX62" fmla="*/ 506776 w 1476479"/>
              <a:gd name="connsiteY62" fmla="*/ 892366 h 1691222"/>
              <a:gd name="connsiteX63" fmla="*/ 539827 w 1476479"/>
              <a:gd name="connsiteY63" fmla="*/ 936433 h 1691222"/>
              <a:gd name="connsiteX64" fmla="*/ 583894 w 1476479"/>
              <a:gd name="connsiteY64" fmla="*/ 1046602 h 1691222"/>
              <a:gd name="connsiteX65" fmla="*/ 605928 w 1476479"/>
              <a:gd name="connsiteY65" fmla="*/ 1090670 h 1691222"/>
              <a:gd name="connsiteX66" fmla="*/ 616945 w 1476479"/>
              <a:gd name="connsiteY66" fmla="*/ 1134737 h 1691222"/>
              <a:gd name="connsiteX67" fmla="*/ 627962 w 1476479"/>
              <a:gd name="connsiteY67" fmla="*/ 1211855 h 1691222"/>
              <a:gd name="connsiteX68" fmla="*/ 661012 w 1476479"/>
              <a:gd name="connsiteY68" fmla="*/ 1222872 h 1691222"/>
              <a:gd name="connsiteX69" fmla="*/ 694063 w 1476479"/>
              <a:gd name="connsiteY69" fmla="*/ 1244906 h 1691222"/>
              <a:gd name="connsiteX70" fmla="*/ 760164 w 1476479"/>
              <a:gd name="connsiteY70" fmla="*/ 1266939 h 1691222"/>
              <a:gd name="connsiteX71" fmla="*/ 991519 w 1476479"/>
              <a:gd name="connsiteY71" fmla="*/ 1244906 h 1691222"/>
              <a:gd name="connsiteX72" fmla="*/ 1057620 w 1476479"/>
              <a:gd name="connsiteY72" fmla="*/ 1222872 h 1691222"/>
              <a:gd name="connsiteX73" fmla="*/ 1090670 w 1476479"/>
              <a:gd name="connsiteY73" fmla="*/ 1200838 h 1691222"/>
              <a:gd name="connsiteX74" fmla="*/ 1112704 w 1476479"/>
              <a:gd name="connsiteY74" fmla="*/ 1167788 h 1691222"/>
              <a:gd name="connsiteX75" fmla="*/ 1178805 w 1476479"/>
              <a:gd name="connsiteY75" fmla="*/ 1123720 h 1691222"/>
              <a:gd name="connsiteX76" fmla="*/ 1200839 w 1476479"/>
              <a:gd name="connsiteY76" fmla="*/ 1046602 h 1691222"/>
              <a:gd name="connsiteX77" fmla="*/ 1211856 w 1476479"/>
              <a:gd name="connsiteY77" fmla="*/ 969484 h 1691222"/>
              <a:gd name="connsiteX78" fmla="*/ 1222873 w 1476479"/>
              <a:gd name="connsiteY78" fmla="*/ 837282 h 1691222"/>
              <a:gd name="connsiteX79" fmla="*/ 1233890 w 1476479"/>
              <a:gd name="connsiteY79" fmla="*/ 804231 h 1691222"/>
              <a:gd name="connsiteX80" fmla="*/ 1277957 w 1476479"/>
              <a:gd name="connsiteY80" fmla="*/ 771180 h 1691222"/>
              <a:gd name="connsiteX81" fmla="*/ 1266940 w 1476479"/>
              <a:gd name="connsiteY81" fmla="*/ 672029 h 1691222"/>
              <a:gd name="connsiteX82" fmla="*/ 1244906 w 1476479"/>
              <a:gd name="connsiteY82" fmla="*/ 539826 h 1691222"/>
              <a:gd name="connsiteX83" fmla="*/ 1233890 w 1476479"/>
              <a:gd name="connsiteY83" fmla="*/ 506776 h 1691222"/>
              <a:gd name="connsiteX84" fmla="*/ 1167788 w 1476479"/>
              <a:gd name="connsiteY84" fmla="*/ 462708 h 1691222"/>
              <a:gd name="connsiteX85" fmla="*/ 1123721 w 1476479"/>
              <a:gd name="connsiteY85" fmla="*/ 396607 h 1691222"/>
              <a:gd name="connsiteX86" fmla="*/ 1068637 w 1476479"/>
              <a:gd name="connsiteY86" fmla="*/ 418641 h 1691222"/>
              <a:gd name="connsiteX87" fmla="*/ 1024569 w 1476479"/>
              <a:gd name="connsiteY87" fmla="*/ 429658 h 1691222"/>
              <a:gd name="connsiteX88" fmla="*/ 925417 w 1476479"/>
              <a:gd name="connsiteY88" fmla="*/ 418641 h 1691222"/>
              <a:gd name="connsiteX89" fmla="*/ 903384 w 1476479"/>
              <a:gd name="connsiteY89" fmla="*/ 385590 h 1691222"/>
              <a:gd name="connsiteX90" fmla="*/ 881350 w 1476479"/>
              <a:gd name="connsiteY90" fmla="*/ 308472 h 1691222"/>
              <a:gd name="connsiteX91" fmla="*/ 848299 w 1476479"/>
              <a:gd name="connsiteY91" fmla="*/ 297455 h 1691222"/>
              <a:gd name="connsiteX92" fmla="*/ 859316 w 1476479"/>
              <a:gd name="connsiteY92" fmla="*/ 209320 h 1691222"/>
              <a:gd name="connsiteX93" fmla="*/ 859316 w 1476479"/>
              <a:gd name="connsiteY93" fmla="*/ 209320 h 1691222"/>
              <a:gd name="connsiteX94" fmla="*/ 892367 w 1476479"/>
              <a:gd name="connsiteY94" fmla="*/ 165253 h 169122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</a:cxnLst>
            <a:rect l="l" t="t" r="r" b="b"/>
            <a:pathLst>
              <a:path w="1476479" h="1691222">
                <a:moveTo>
                  <a:pt x="881350" y="264405"/>
                </a:moveTo>
                <a:lnTo>
                  <a:pt x="881350" y="264405"/>
                </a:lnTo>
                <a:cubicBezTo>
                  <a:pt x="874005" y="231354"/>
                  <a:pt x="861913" y="199010"/>
                  <a:pt x="859316" y="165253"/>
                </a:cubicBezTo>
                <a:cubicBezTo>
                  <a:pt x="857316" y="139252"/>
                  <a:pt x="882000" y="97851"/>
                  <a:pt x="892367" y="77118"/>
                </a:cubicBezTo>
                <a:cubicBezTo>
                  <a:pt x="899496" y="34342"/>
                  <a:pt x="885206" y="0"/>
                  <a:pt x="936434" y="0"/>
                </a:cubicBezTo>
                <a:cubicBezTo>
                  <a:pt x="948047" y="0"/>
                  <a:pt x="958468" y="7345"/>
                  <a:pt x="969485" y="11017"/>
                </a:cubicBezTo>
                <a:cubicBezTo>
                  <a:pt x="1020897" y="7345"/>
                  <a:pt x="1072178" y="0"/>
                  <a:pt x="1123721" y="0"/>
                </a:cubicBezTo>
                <a:cubicBezTo>
                  <a:pt x="1153328" y="0"/>
                  <a:pt x="1184032" y="899"/>
                  <a:pt x="1211856" y="11017"/>
                </a:cubicBezTo>
                <a:cubicBezTo>
                  <a:pt x="1226498" y="16341"/>
                  <a:pt x="1234932" y="32098"/>
                  <a:pt x="1244906" y="44067"/>
                </a:cubicBezTo>
                <a:cubicBezTo>
                  <a:pt x="1253383" y="54239"/>
                  <a:pt x="1260371" y="65622"/>
                  <a:pt x="1266940" y="77118"/>
                </a:cubicBezTo>
                <a:cubicBezTo>
                  <a:pt x="1283729" y="106498"/>
                  <a:pt x="1291162" y="123335"/>
                  <a:pt x="1299991" y="154236"/>
                </a:cubicBezTo>
                <a:cubicBezTo>
                  <a:pt x="1304151" y="168795"/>
                  <a:pt x="1302609" y="185705"/>
                  <a:pt x="1311008" y="198303"/>
                </a:cubicBezTo>
                <a:cubicBezTo>
                  <a:pt x="1318352" y="209320"/>
                  <a:pt x="1333284" y="212641"/>
                  <a:pt x="1344058" y="220337"/>
                </a:cubicBezTo>
                <a:cubicBezTo>
                  <a:pt x="1382103" y="247513"/>
                  <a:pt x="1421661" y="276392"/>
                  <a:pt x="1443210" y="319489"/>
                </a:cubicBezTo>
                <a:cubicBezTo>
                  <a:pt x="1448403" y="329876"/>
                  <a:pt x="1451410" y="341273"/>
                  <a:pt x="1454227" y="352539"/>
                </a:cubicBezTo>
                <a:cubicBezTo>
                  <a:pt x="1458769" y="370705"/>
                  <a:pt x="1476479" y="392644"/>
                  <a:pt x="1465244" y="407624"/>
                </a:cubicBezTo>
                <a:cubicBezTo>
                  <a:pt x="1456159" y="419737"/>
                  <a:pt x="1435865" y="400279"/>
                  <a:pt x="1421176" y="396607"/>
                </a:cubicBezTo>
                <a:cubicBezTo>
                  <a:pt x="1417504" y="598583"/>
                  <a:pt x="1420594" y="800795"/>
                  <a:pt x="1410159" y="1002535"/>
                </a:cubicBezTo>
                <a:cubicBezTo>
                  <a:pt x="1409475" y="1015758"/>
                  <a:pt x="1396602" y="1025413"/>
                  <a:pt x="1388126" y="1035585"/>
                </a:cubicBezTo>
                <a:cubicBezTo>
                  <a:pt x="1378152" y="1047554"/>
                  <a:pt x="1366092" y="1057619"/>
                  <a:pt x="1355075" y="1068636"/>
                </a:cubicBezTo>
                <a:lnTo>
                  <a:pt x="1333041" y="1134737"/>
                </a:lnTo>
                <a:lnTo>
                  <a:pt x="1322025" y="1167788"/>
                </a:lnTo>
                <a:cubicBezTo>
                  <a:pt x="1318353" y="1219200"/>
                  <a:pt x="1316916" y="1270821"/>
                  <a:pt x="1311008" y="1322024"/>
                </a:cubicBezTo>
                <a:cubicBezTo>
                  <a:pt x="1302381" y="1396789"/>
                  <a:pt x="1298192" y="1446807"/>
                  <a:pt x="1266940" y="1509311"/>
                </a:cubicBezTo>
                <a:cubicBezTo>
                  <a:pt x="1257364" y="1528463"/>
                  <a:pt x="1243466" y="1545243"/>
                  <a:pt x="1233890" y="1564395"/>
                </a:cubicBezTo>
                <a:cubicBezTo>
                  <a:pt x="1210388" y="1611400"/>
                  <a:pt x="1242703" y="1590837"/>
                  <a:pt x="1189822" y="1608462"/>
                </a:cubicBezTo>
                <a:cubicBezTo>
                  <a:pt x="1175133" y="1623151"/>
                  <a:pt x="1162659" y="1640455"/>
                  <a:pt x="1145755" y="1652530"/>
                </a:cubicBezTo>
                <a:cubicBezTo>
                  <a:pt x="1136305" y="1659280"/>
                  <a:pt x="1123870" y="1660357"/>
                  <a:pt x="1112704" y="1663547"/>
                </a:cubicBezTo>
                <a:cubicBezTo>
                  <a:pt x="1015844" y="1691222"/>
                  <a:pt x="1114851" y="1659161"/>
                  <a:pt x="1035586" y="1685580"/>
                </a:cubicBezTo>
                <a:cubicBezTo>
                  <a:pt x="1016091" y="1683631"/>
                  <a:pt x="893487" y="1673799"/>
                  <a:pt x="859316" y="1663547"/>
                </a:cubicBezTo>
                <a:cubicBezTo>
                  <a:pt x="843586" y="1658828"/>
                  <a:pt x="830344" y="1647982"/>
                  <a:pt x="815249" y="1641513"/>
                </a:cubicBezTo>
                <a:cubicBezTo>
                  <a:pt x="793123" y="1632030"/>
                  <a:pt x="760491" y="1625069"/>
                  <a:pt x="738131" y="1619479"/>
                </a:cubicBezTo>
                <a:cubicBezTo>
                  <a:pt x="675122" y="1556472"/>
                  <a:pt x="738353" y="1612734"/>
                  <a:pt x="661012" y="1564395"/>
                </a:cubicBezTo>
                <a:cubicBezTo>
                  <a:pt x="645442" y="1554663"/>
                  <a:pt x="630886" y="1543293"/>
                  <a:pt x="616945" y="1531344"/>
                </a:cubicBezTo>
                <a:cubicBezTo>
                  <a:pt x="605116" y="1521205"/>
                  <a:pt x="596858" y="1506936"/>
                  <a:pt x="583894" y="1498294"/>
                </a:cubicBezTo>
                <a:cubicBezTo>
                  <a:pt x="574232" y="1491853"/>
                  <a:pt x="561861" y="1490949"/>
                  <a:pt x="550844" y="1487277"/>
                </a:cubicBezTo>
                <a:cubicBezTo>
                  <a:pt x="536155" y="1476260"/>
                  <a:pt x="519760" y="1467210"/>
                  <a:pt x="506776" y="1454226"/>
                </a:cubicBezTo>
                <a:cubicBezTo>
                  <a:pt x="497414" y="1444864"/>
                  <a:pt x="494105" y="1430538"/>
                  <a:pt x="484743" y="1421176"/>
                </a:cubicBezTo>
                <a:cubicBezTo>
                  <a:pt x="470914" y="1407347"/>
                  <a:pt x="422745" y="1383588"/>
                  <a:pt x="407625" y="1377108"/>
                </a:cubicBezTo>
                <a:cubicBezTo>
                  <a:pt x="396951" y="1372533"/>
                  <a:pt x="384961" y="1371284"/>
                  <a:pt x="374574" y="1366091"/>
                </a:cubicBezTo>
                <a:cubicBezTo>
                  <a:pt x="298492" y="1328051"/>
                  <a:pt x="389169" y="1355970"/>
                  <a:pt x="297456" y="1333041"/>
                </a:cubicBezTo>
                <a:cubicBezTo>
                  <a:pt x="290111" y="1322024"/>
                  <a:pt x="284785" y="1309353"/>
                  <a:pt x="275422" y="1299990"/>
                </a:cubicBezTo>
                <a:cubicBezTo>
                  <a:pt x="266060" y="1290627"/>
                  <a:pt x="249716" y="1288973"/>
                  <a:pt x="242372" y="1277956"/>
                </a:cubicBezTo>
                <a:cubicBezTo>
                  <a:pt x="233973" y="1265358"/>
                  <a:pt x="238867" y="1247035"/>
                  <a:pt x="231355" y="1233889"/>
                </a:cubicBezTo>
                <a:cubicBezTo>
                  <a:pt x="223625" y="1220361"/>
                  <a:pt x="207360" y="1213516"/>
                  <a:pt x="198304" y="1200838"/>
                </a:cubicBezTo>
                <a:cubicBezTo>
                  <a:pt x="188758" y="1187474"/>
                  <a:pt x="186529" y="1169595"/>
                  <a:pt x="176270" y="1156771"/>
                </a:cubicBezTo>
                <a:cubicBezTo>
                  <a:pt x="156804" y="1132439"/>
                  <a:pt x="132203" y="1112704"/>
                  <a:pt x="110169" y="1090670"/>
                </a:cubicBezTo>
                <a:lnTo>
                  <a:pt x="77119" y="1057619"/>
                </a:lnTo>
                <a:cubicBezTo>
                  <a:pt x="41657" y="951234"/>
                  <a:pt x="98521" y="1116630"/>
                  <a:pt x="44068" y="980501"/>
                </a:cubicBezTo>
                <a:cubicBezTo>
                  <a:pt x="35442" y="958937"/>
                  <a:pt x="26589" y="937175"/>
                  <a:pt x="22034" y="914400"/>
                </a:cubicBezTo>
                <a:cubicBezTo>
                  <a:pt x="8048" y="844468"/>
                  <a:pt x="15559" y="877481"/>
                  <a:pt x="0" y="815248"/>
                </a:cubicBezTo>
                <a:cubicBezTo>
                  <a:pt x="3672" y="782197"/>
                  <a:pt x="6892" y="749093"/>
                  <a:pt x="11017" y="716096"/>
                </a:cubicBezTo>
                <a:cubicBezTo>
                  <a:pt x="14238" y="690330"/>
                  <a:pt x="12390" y="663088"/>
                  <a:pt x="22034" y="638978"/>
                </a:cubicBezTo>
                <a:cubicBezTo>
                  <a:pt x="34730" y="607237"/>
                  <a:pt x="61595" y="603757"/>
                  <a:pt x="88135" y="594911"/>
                </a:cubicBezTo>
                <a:cubicBezTo>
                  <a:pt x="113895" y="597058"/>
                  <a:pt x="226396" y="589951"/>
                  <a:pt x="264405" y="627961"/>
                </a:cubicBezTo>
                <a:cubicBezTo>
                  <a:pt x="272617" y="636173"/>
                  <a:pt x="270228" y="650625"/>
                  <a:pt x="275422" y="661012"/>
                </a:cubicBezTo>
                <a:cubicBezTo>
                  <a:pt x="281343" y="672855"/>
                  <a:pt x="287491" y="685343"/>
                  <a:pt x="297456" y="694062"/>
                </a:cubicBezTo>
                <a:cubicBezTo>
                  <a:pt x="317385" y="711500"/>
                  <a:pt x="338435" y="729756"/>
                  <a:pt x="363557" y="738130"/>
                </a:cubicBezTo>
                <a:lnTo>
                  <a:pt x="429658" y="760164"/>
                </a:lnTo>
                <a:cubicBezTo>
                  <a:pt x="440675" y="771181"/>
                  <a:pt x="454067" y="780251"/>
                  <a:pt x="462709" y="793214"/>
                </a:cubicBezTo>
                <a:cubicBezTo>
                  <a:pt x="469151" y="802877"/>
                  <a:pt x="468533" y="815878"/>
                  <a:pt x="473726" y="826265"/>
                </a:cubicBezTo>
                <a:cubicBezTo>
                  <a:pt x="479647" y="838108"/>
                  <a:pt x="489838" y="847472"/>
                  <a:pt x="495759" y="859315"/>
                </a:cubicBezTo>
                <a:cubicBezTo>
                  <a:pt x="500952" y="869702"/>
                  <a:pt x="501014" y="882283"/>
                  <a:pt x="506776" y="892366"/>
                </a:cubicBezTo>
                <a:cubicBezTo>
                  <a:pt x="515886" y="908308"/>
                  <a:pt x="530095" y="920863"/>
                  <a:pt x="539827" y="936433"/>
                </a:cubicBezTo>
                <a:cubicBezTo>
                  <a:pt x="587960" y="1013445"/>
                  <a:pt x="534448" y="947710"/>
                  <a:pt x="583894" y="1046602"/>
                </a:cubicBezTo>
                <a:cubicBezTo>
                  <a:pt x="591239" y="1061291"/>
                  <a:pt x="600161" y="1075293"/>
                  <a:pt x="605928" y="1090670"/>
                </a:cubicBezTo>
                <a:cubicBezTo>
                  <a:pt x="611244" y="1104847"/>
                  <a:pt x="614236" y="1119840"/>
                  <a:pt x="616945" y="1134737"/>
                </a:cubicBezTo>
                <a:cubicBezTo>
                  <a:pt x="621590" y="1160285"/>
                  <a:pt x="616349" y="1188629"/>
                  <a:pt x="627962" y="1211855"/>
                </a:cubicBezTo>
                <a:cubicBezTo>
                  <a:pt x="633155" y="1222242"/>
                  <a:pt x="650625" y="1217679"/>
                  <a:pt x="661012" y="1222872"/>
                </a:cubicBezTo>
                <a:cubicBezTo>
                  <a:pt x="672855" y="1228794"/>
                  <a:pt x="681963" y="1239528"/>
                  <a:pt x="694063" y="1244906"/>
                </a:cubicBezTo>
                <a:cubicBezTo>
                  <a:pt x="715287" y="1254339"/>
                  <a:pt x="760164" y="1266939"/>
                  <a:pt x="760164" y="1266939"/>
                </a:cubicBezTo>
                <a:cubicBezTo>
                  <a:pt x="790321" y="1264619"/>
                  <a:pt x="944038" y="1255081"/>
                  <a:pt x="991519" y="1244906"/>
                </a:cubicBezTo>
                <a:cubicBezTo>
                  <a:pt x="1014229" y="1240040"/>
                  <a:pt x="1057620" y="1222872"/>
                  <a:pt x="1057620" y="1222872"/>
                </a:cubicBezTo>
                <a:cubicBezTo>
                  <a:pt x="1068637" y="1215527"/>
                  <a:pt x="1081308" y="1210200"/>
                  <a:pt x="1090670" y="1200838"/>
                </a:cubicBezTo>
                <a:cubicBezTo>
                  <a:pt x="1100032" y="1191476"/>
                  <a:pt x="1102739" y="1176507"/>
                  <a:pt x="1112704" y="1167788"/>
                </a:cubicBezTo>
                <a:cubicBezTo>
                  <a:pt x="1132633" y="1150350"/>
                  <a:pt x="1178805" y="1123720"/>
                  <a:pt x="1178805" y="1123720"/>
                </a:cubicBezTo>
                <a:cubicBezTo>
                  <a:pt x="1188245" y="1095401"/>
                  <a:pt x="1195305" y="1077038"/>
                  <a:pt x="1200839" y="1046602"/>
                </a:cubicBezTo>
                <a:cubicBezTo>
                  <a:pt x="1205484" y="1021054"/>
                  <a:pt x="1209138" y="995308"/>
                  <a:pt x="1211856" y="969484"/>
                </a:cubicBezTo>
                <a:cubicBezTo>
                  <a:pt x="1216485" y="925507"/>
                  <a:pt x="1217029" y="881114"/>
                  <a:pt x="1222873" y="837282"/>
                </a:cubicBezTo>
                <a:cubicBezTo>
                  <a:pt x="1224408" y="825771"/>
                  <a:pt x="1226456" y="813152"/>
                  <a:pt x="1233890" y="804231"/>
                </a:cubicBezTo>
                <a:cubicBezTo>
                  <a:pt x="1245645" y="790125"/>
                  <a:pt x="1263268" y="782197"/>
                  <a:pt x="1277957" y="771180"/>
                </a:cubicBezTo>
                <a:cubicBezTo>
                  <a:pt x="1304918" y="690298"/>
                  <a:pt x="1316414" y="721502"/>
                  <a:pt x="1266940" y="672029"/>
                </a:cubicBezTo>
                <a:cubicBezTo>
                  <a:pt x="1237753" y="555282"/>
                  <a:pt x="1279288" y="728935"/>
                  <a:pt x="1244906" y="539826"/>
                </a:cubicBezTo>
                <a:cubicBezTo>
                  <a:pt x="1242829" y="528401"/>
                  <a:pt x="1242101" y="514987"/>
                  <a:pt x="1233890" y="506776"/>
                </a:cubicBezTo>
                <a:cubicBezTo>
                  <a:pt x="1215165" y="488051"/>
                  <a:pt x="1167788" y="462708"/>
                  <a:pt x="1167788" y="462708"/>
                </a:cubicBezTo>
                <a:cubicBezTo>
                  <a:pt x="1161205" y="442957"/>
                  <a:pt x="1152426" y="400195"/>
                  <a:pt x="1123721" y="396607"/>
                </a:cubicBezTo>
                <a:cubicBezTo>
                  <a:pt x="1104098" y="394154"/>
                  <a:pt x="1087398" y="412387"/>
                  <a:pt x="1068637" y="418641"/>
                </a:cubicBezTo>
                <a:cubicBezTo>
                  <a:pt x="1054273" y="423429"/>
                  <a:pt x="1039258" y="425986"/>
                  <a:pt x="1024569" y="429658"/>
                </a:cubicBezTo>
                <a:cubicBezTo>
                  <a:pt x="991518" y="425986"/>
                  <a:pt x="956669" y="430006"/>
                  <a:pt x="925417" y="418641"/>
                </a:cubicBezTo>
                <a:cubicBezTo>
                  <a:pt x="912974" y="414116"/>
                  <a:pt x="908600" y="397760"/>
                  <a:pt x="903384" y="385590"/>
                </a:cubicBezTo>
                <a:cubicBezTo>
                  <a:pt x="903170" y="385090"/>
                  <a:pt x="886709" y="313831"/>
                  <a:pt x="881350" y="308472"/>
                </a:cubicBezTo>
                <a:cubicBezTo>
                  <a:pt x="873138" y="300260"/>
                  <a:pt x="859316" y="301127"/>
                  <a:pt x="848299" y="297455"/>
                </a:cubicBezTo>
                <a:cubicBezTo>
                  <a:pt x="859835" y="216702"/>
                  <a:pt x="859316" y="246304"/>
                  <a:pt x="859316" y="209320"/>
                </a:cubicBezTo>
                <a:lnTo>
                  <a:pt x="859316" y="209320"/>
                </a:lnTo>
                <a:lnTo>
                  <a:pt x="892367" y="165253"/>
                </a:lnTo>
              </a:path>
            </a:pathLst>
          </a:custGeom>
          <a:solidFill>
            <a:srgbClr val="FF00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</a:endParaRPr>
          </a:p>
        </p:txBody>
      </p:sp>
      <p:cxnSp>
        <p:nvCxnSpPr>
          <p:cNvPr id="12" name="Straight Arrow Connector 11"/>
          <p:cNvCxnSpPr/>
          <p:nvPr/>
        </p:nvCxnSpPr>
        <p:spPr bwMode="auto">
          <a:xfrm flipV="1">
            <a:off x="7315200" y="1371600"/>
            <a:ext cx="0" cy="1524000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arrow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8" name="Straight Arrow Connector 17"/>
          <p:cNvCxnSpPr/>
          <p:nvPr/>
        </p:nvCxnSpPr>
        <p:spPr bwMode="auto">
          <a:xfrm>
            <a:off x="6934200" y="2209800"/>
            <a:ext cx="1828800" cy="0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arrow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</p:spTree>
    <p:extLst>
      <p:ext uri="{BB962C8B-B14F-4D97-AF65-F5344CB8AC3E}">
        <p14:creationId xmlns:p14="http://schemas.microsoft.com/office/powerpoint/2010/main" val="1126434881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3"/>
          <p:cNvPicPr>
            <a:picLocks noChangeAspect="1" noChangeArrowheads="1"/>
          </p:cNvPicPr>
          <p:nvPr/>
        </p:nvPicPr>
        <p:blipFill>
          <a:blip r:embed="rId2" cstate="print"/>
          <a:srcRect l="2857" t="5983" r="4286" b="4268"/>
          <a:stretch>
            <a:fillRect/>
          </a:stretch>
        </p:blipFill>
        <p:spPr bwMode="auto">
          <a:xfrm>
            <a:off x="4017485" y="1905000"/>
            <a:ext cx="4953000" cy="3429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en-US">
                <a:solidFill>
                  <a:srgbClr val="000000"/>
                </a:solidFill>
              </a:rPr>
              <a:t>2014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F28756-B31F-4EB3-9CB3-CC474DFD3A9D}" type="slidenum">
              <a:rPr lang="en-US" altLang="en-US" smtClean="0">
                <a:solidFill>
                  <a:srgbClr val="000000"/>
                </a:solidFill>
              </a:rPr>
              <a:pPr/>
              <a:t>26</a:t>
            </a:fld>
            <a:endParaRPr lang="en-US" altLang="en-US">
              <a:solidFill>
                <a:srgbClr val="000000"/>
              </a:solidFill>
            </a:endParaRPr>
          </a:p>
        </p:txBody>
      </p:sp>
      <p:sp>
        <p:nvSpPr>
          <p:cNvPr id="5" name="AutoShape 2"/>
          <p:cNvSpPr>
            <a:spLocks noChangeArrowheads="1"/>
          </p:cNvSpPr>
          <p:nvPr/>
        </p:nvSpPr>
        <p:spPr bwMode="auto">
          <a:xfrm>
            <a:off x="304800" y="152400"/>
            <a:ext cx="8610600" cy="914400"/>
          </a:xfrm>
          <a:prstGeom prst="roundRect">
            <a:avLst>
              <a:gd name="adj" fmla="val 16667"/>
            </a:avLst>
          </a:prstGeom>
          <a:solidFill>
            <a:srgbClr val="FFCCFF"/>
          </a:solidFill>
          <a:ln w="34925">
            <a:solidFill>
              <a:srgbClr val="FF3300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sz="2400">
              <a:solidFill>
                <a:srgbClr val="000000"/>
              </a:solidFill>
            </a:endParaRPr>
          </a:p>
        </p:txBody>
      </p:sp>
      <p:sp>
        <p:nvSpPr>
          <p:cNvPr id="6" name="AutoShape 3"/>
          <p:cNvSpPr>
            <a:spLocks noChangeArrowheads="1"/>
          </p:cNvSpPr>
          <p:nvPr/>
        </p:nvSpPr>
        <p:spPr bwMode="auto">
          <a:xfrm>
            <a:off x="304800" y="1143000"/>
            <a:ext cx="8610600" cy="4724400"/>
          </a:xfrm>
          <a:prstGeom prst="roundRect">
            <a:avLst>
              <a:gd name="adj" fmla="val 16667"/>
            </a:avLst>
          </a:prstGeom>
          <a:noFill/>
          <a:ln w="34925">
            <a:solidFill>
              <a:srgbClr val="FF33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sz="2400">
              <a:solidFill>
                <a:srgbClr val="000000"/>
              </a:solidFill>
            </a:endParaRPr>
          </a:p>
        </p:txBody>
      </p:sp>
      <p:sp>
        <p:nvSpPr>
          <p:cNvPr id="7" name="Rectangle 4"/>
          <p:cNvSpPr>
            <a:spLocks noChangeArrowheads="1"/>
          </p:cNvSpPr>
          <p:nvPr/>
        </p:nvSpPr>
        <p:spPr bwMode="auto">
          <a:xfrm>
            <a:off x="762000" y="228600"/>
            <a:ext cx="7772400" cy="685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/>
          <a:lstStyle>
            <a:lvl1pPr algn="ctr">
              <a:defRPr sz="4400">
                <a:solidFill>
                  <a:schemeClr val="tx2"/>
                </a:solidFill>
                <a:latin typeface="Times New Roman" pitchFamily="18" charset="0"/>
              </a:defRPr>
            </a:lvl1pPr>
            <a:lvl2pPr algn="ctr">
              <a:defRPr sz="4400">
                <a:solidFill>
                  <a:schemeClr val="tx2"/>
                </a:solidFill>
                <a:latin typeface="Times New Roman" pitchFamily="18" charset="0"/>
              </a:defRPr>
            </a:lvl2pPr>
            <a:lvl3pPr algn="ctr">
              <a:defRPr sz="4400">
                <a:solidFill>
                  <a:schemeClr val="tx2"/>
                </a:solidFill>
                <a:latin typeface="Times New Roman" pitchFamily="18" charset="0"/>
              </a:defRPr>
            </a:lvl3pPr>
            <a:lvl4pPr algn="ctr">
              <a:defRPr sz="4400">
                <a:solidFill>
                  <a:schemeClr val="tx2"/>
                </a:solidFill>
                <a:latin typeface="Times New Roman" pitchFamily="18" charset="0"/>
              </a:defRPr>
            </a:lvl4pPr>
            <a:lvl5pPr algn="ctr">
              <a:defRPr sz="4400">
                <a:solidFill>
                  <a:schemeClr val="tx2"/>
                </a:solidFill>
                <a:latin typeface="Times New Roman" pitchFamily="18" charset="0"/>
              </a:defRPr>
            </a:lvl5pPr>
            <a:lvl6pPr marL="457200" algn="ctr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imes New Roman" pitchFamily="18" charset="0"/>
              </a:defRPr>
            </a:lvl6pPr>
            <a:lvl7pPr marL="914400" algn="ctr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imes New Roman" pitchFamily="18" charset="0"/>
              </a:defRPr>
            </a:lvl7pPr>
            <a:lvl8pPr marL="1371600" algn="ctr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imes New Roman" pitchFamily="18" charset="0"/>
              </a:defRPr>
            </a:lvl8pPr>
            <a:lvl9pPr marL="1828800" algn="ctr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imes New Roman" pitchFamily="18" charset="0"/>
              </a:defRPr>
            </a:lvl9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2800" dirty="0">
                <a:solidFill>
                  <a:srgbClr val="0000FF"/>
                </a:solidFill>
                <a:latin typeface="Arial" charset="0"/>
              </a:rPr>
              <a:t>Decision/Regression Trees</a:t>
            </a:r>
          </a:p>
        </p:txBody>
      </p:sp>
      <p:sp>
        <p:nvSpPr>
          <p:cNvPr id="8" name="Rectangle 5"/>
          <p:cNvSpPr>
            <a:spLocks noChangeArrowheads="1"/>
          </p:cNvSpPr>
          <p:nvPr/>
        </p:nvSpPr>
        <p:spPr bwMode="auto">
          <a:xfrm>
            <a:off x="685800" y="1295400"/>
            <a:ext cx="3810000" cy="4191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2075" tIns="46038" rIns="92075" bIns="46038"/>
          <a:lstStyle>
            <a:lvl1pPr marL="342900" indent="-34290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itchFamily="18" charset="0"/>
              </a:defRPr>
            </a:lvl2pPr>
            <a:lvl3pPr marL="108585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eaLnBrk="0" fontAlgn="base" hangingPunct="0">
              <a:spcAft>
                <a:spcPct val="0"/>
              </a:spcAft>
              <a:buClr>
                <a:srgbClr val="000000"/>
              </a:buClr>
            </a:pPr>
            <a:r>
              <a:rPr lang="en-US" altLang="en-US" sz="2400" dirty="0">
                <a:solidFill>
                  <a:srgbClr val="000000"/>
                </a:solidFill>
              </a:rPr>
              <a:t>Decision and regression trees hierarchically create rules that classify / analyze data</a:t>
            </a:r>
          </a:p>
          <a:p>
            <a:pPr eaLnBrk="0" fontAlgn="base" hangingPunct="0">
              <a:spcAft>
                <a:spcPct val="0"/>
              </a:spcAft>
              <a:buClr>
                <a:srgbClr val="000000"/>
              </a:buClr>
            </a:pPr>
            <a:r>
              <a:rPr lang="en-US" altLang="en-US" sz="2400" dirty="0">
                <a:solidFill>
                  <a:srgbClr val="000000"/>
                </a:solidFill>
              </a:rPr>
              <a:t>They are very popular in medical applications due to their transparency</a:t>
            </a:r>
            <a:endParaRPr lang="en-US" altLang="en-US" sz="2000" dirty="0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70820394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en-US">
                <a:solidFill>
                  <a:srgbClr val="000000"/>
                </a:solidFill>
              </a:rPr>
              <a:t>2014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F28756-B31F-4EB3-9CB3-CC474DFD3A9D}" type="slidenum">
              <a:rPr lang="en-US" altLang="en-US" smtClean="0">
                <a:solidFill>
                  <a:srgbClr val="000000"/>
                </a:solidFill>
              </a:rPr>
              <a:pPr/>
              <a:t>27</a:t>
            </a:fld>
            <a:endParaRPr lang="en-US" altLang="en-US">
              <a:solidFill>
                <a:srgbClr val="000000"/>
              </a:solidFill>
            </a:endParaRPr>
          </a:p>
        </p:txBody>
      </p:sp>
      <p:sp>
        <p:nvSpPr>
          <p:cNvPr id="5" name="AutoShape 2"/>
          <p:cNvSpPr>
            <a:spLocks noChangeArrowheads="1"/>
          </p:cNvSpPr>
          <p:nvPr/>
        </p:nvSpPr>
        <p:spPr bwMode="auto">
          <a:xfrm>
            <a:off x="304800" y="152400"/>
            <a:ext cx="8610600" cy="914400"/>
          </a:xfrm>
          <a:prstGeom prst="roundRect">
            <a:avLst>
              <a:gd name="adj" fmla="val 16667"/>
            </a:avLst>
          </a:prstGeom>
          <a:solidFill>
            <a:srgbClr val="FFCCFF"/>
          </a:solidFill>
          <a:ln w="34925">
            <a:solidFill>
              <a:srgbClr val="FF3300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sz="2400">
              <a:solidFill>
                <a:srgbClr val="000000"/>
              </a:solidFill>
            </a:endParaRPr>
          </a:p>
        </p:txBody>
      </p:sp>
      <p:sp>
        <p:nvSpPr>
          <p:cNvPr id="6" name="AutoShape 3"/>
          <p:cNvSpPr>
            <a:spLocks noChangeArrowheads="1"/>
          </p:cNvSpPr>
          <p:nvPr/>
        </p:nvSpPr>
        <p:spPr bwMode="auto">
          <a:xfrm>
            <a:off x="304800" y="1143000"/>
            <a:ext cx="8610600" cy="4724400"/>
          </a:xfrm>
          <a:prstGeom prst="roundRect">
            <a:avLst>
              <a:gd name="adj" fmla="val 16667"/>
            </a:avLst>
          </a:prstGeom>
          <a:noFill/>
          <a:ln w="34925">
            <a:solidFill>
              <a:srgbClr val="FF33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sz="2400">
              <a:solidFill>
                <a:srgbClr val="000000"/>
              </a:solidFill>
            </a:endParaRPr>
          </a:p>
        </p:txBody>
      </p:sp>
      <p:sp>
        <p:nvSpPr>
          <p:cNvPr id="7" name="Rectangle 4"/>
          <p:cNvSpPr>
            <a:spLocks noChangeArrowheads="1"/>
          </p:cNvSpPr>
          <p:nvPr/>
        </p:nvSpPr>
        <p:spPr bwMode="auto">
          <a:xfrm>
            <a:off x="762000" y="228600"/>
            <a:ext cx="7772400" cy="685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/>
          <a:lstStyle>
            <a:lvl1pPr algn="ctr">
              <a:defRPr sz="4400">
                <a:solidFill>
                  <a:schemeClr val="tx2"/>
                </a:solidFill>
                <a:latin typeface="Times New Roman" pitchFamily="18" charset="0"/>
              </a:defRPr>
            </a:lvl1pPr>
            <a:lvl2pPr algn="ctr">
              <a:defRPr sz="4400">
                <a:solidFill>
                  <a:schemeClr val="tx2"/>
                </a:solidFill>
                <a:latin typeface="Times New Roman" pitchFamily="18" charset="0"/>
              </a:defRPr>
            </a:lvl2pPr>
            <a:lvl3pPr algn="ctr">
              <a:defRPr sz="4400">
                <a:solidFill>
                  <a:schemeClr val="tx2"/>
                </a:solidFill>
                <a:latin typeface="Times New Roman" pitchFamily="18" charset="0"/>
              </a:defRPr>
            </a:lvl3pPr>
            <a:lvl4pPr algn="ctr">
              <a:defRPr sz="4400">
                <a:solidFill>
                  <a:schemeClr val="tx2"/>
                </a:solidFill>
                <a:latin typeface="Times New Roman" pitchFamily="18" charset="0"/>
              </a:defRPr>
            </a:lvl4pPr>
            <a:lvl5pPr algn="ctr">
              <a:defRPr sz="4400">
                <a:solidFill>
                  <a:schemeClr val="tx2"/>
                </a:solidFill>
                <a:latin typeface="Times New Roman" pitchFamily="18" charset="0"/>
              </a:defRPr>
            </a:lvl5pPr>
            <a:lvl6pPr marL="457200" algn="ctr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imes New Roman" pitchFamily="18" charset="0"/>
              </a:defRPr>
            </a:lvl6pPr>
            <a:lvl7pPr marL="914400" algn="ctr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imes New Roman" pitchFamily="18" charset="0"/>
              </a:defRPr>
            </a:lvl7pPr>
            <a:lvl8pPr marL="1371600" algn="ctr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imes New Roman" pitchFamily="18" charset="0"/>
              </a:defRPr>
            </a:lvl8pPr>
            <a:lvl9pPr marL="1828800" algn="ctr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imes New Roman" pitchFamily="18" charset="0"/>
              </a:defRPr>
            </a:lvl9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2800" i="1" dirty="0">
                <a:solidFill>
                  <a:srgbClr val="0000FF"/>
                </a:solidFill>
                <a:latin typeface="Arial" charset="0"/>
              </a:rPr>
              <a:t>Decision/Regression Trees (cont’d)</a:t>
            </a:r>
          </a:p>
        </p:txBody>
      </p:sp>
      <p:sp>
        <p:nvSpPr>
          <p:cNvPr id="8" name="Rectangle 5"/>
          <p:cNvSpPr>
            <a:spLocks noChangeArrowheads="1"/>
          </p:cNvSpPr>
          <p:nvPr/>
        </p:nvSpPr>
        <p:spPr bwMode="auto">
          <a:xfrm>
            <a:off x="685800" y="1295400"/>
            <a:ext cx="3810000" cy="4191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2075" tIns="46038" rIns="92075" bIns="46038"/>
          <a:lstStyle>
            <a:lvl1pPr marL="342900" indent="-34290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itchFamily="18" charset="0"/>
              </a:defRPr>
            </a:lvl2pPr>
            <a:lvl3pPr marL="108585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eaLnBrk="0" fontAlgn="base" hangingPunct="0">
              <a:spcAft>
                <a:spcPct val="0"/>
              </a:spcAft>
              <a:buClr>
                <a:srgbClr val="000000"/>
              </a:buClr>
            </a:pPr>
            <a:r>
              <a:rPr lang="en-US" altLang="en-US" sz="2400" dirty="0">
                <a:solidFill>
                  <a:srgbClr val="000000"/>
                </a:solidFill>
              </a:rPr>
              <a:t>A visual example:</a:t>
            </a:r>
            <a:endParaRPr lang="en-US" altLang="en-US" sz="2000" dirty="0">
              <a:solidFill>
                <a:srgbClr val="000000"/>
              </a:solidFill>
            </a:endParaRPr>
          </a:p>
        </p:txBody>
      </p:sp>
      <p:pic>
        <p:nvPicPr>
          <p:cNvPr id="10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371600" y="1752600"/>
            <a:ext cx="6743700" cy="2769413"/>
          </a:xfrm>
          <a:prstGeom prst="rect">
            <a:avLst/>
          </a:prstGeom>
          <a:noFill/>
        </p:spPr>
      </p:pic>
      <p:sp>
        <p:nvSpPr>
          <p:cNvPr id="11" name="Text Box 4"/>
          <p:cNvSpPr txBox="1">
            <a:spLocks noChangeArrowheads="1"/>
          </p:cNvSpPr>
          <p:nvPr/>
        </p:nvSpPr>
        <p:spPr bwMode="auto">
          <a:xfrm>
            <a:off x="304800" y="4495800"/>
            <a:ext cx="9182100" cy="64633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eaLnBrk="1" hangingPunct="1"/>
            <a:r>
              <a:rPr lang="en-US" sz="1200" dirty="0" err="1"/>
              <a:t>Tarca</a:t>
            </a:r>
            <a:r>
              <a:rPr lang="en-US" sz="1200" dirty="0"/>
              <a:t> AL, Carey VJ, Chen X-w, Romero R, et al. (2007) Machine Learning and Its Applications to Biology. </a:t>
            </a:r>
            <a:r>
              <a:rPr lang="en-US" sz="1200" dirty="0" err="1"/>
              <a:t>PLoS</a:t>
            </a:r>
            <a:r>
              <a:rPr lang="en-US" sz="1200" dirty="0"/>
              <a:t> </a:t>
            </a:r>
            <a:r>
              <a:rPr lang="en-US" sz="1200" dirty="0" err="1"/>
              <a:t>Comput</a:t>
            </a:r>
            <a:r>
              <a:rPr lang="en-US" sz="1200" dirty="0"/>
              <a:t> </a:t>
            </a:r>
            <a:r>
              <a:rPr lang="en-US" sz="1200" dirty="0" err="1"/>
              <a:t>Biol</a:t>
            </a:r>
            <a:r>
              <a:rPr lang="en-US" sz="1200" dirty="0"/>
              <a:t> 3(6): e116. doi:10.1371/journal.pcbi.0030116</a:t>
            </a:r>
          </a:p>
          <a:p>
            <a:pPr eaLnBrk="1" hangingPunct="1"/>
            <a:r>
              <a:rPr lang="en-US" sz="1200" dirty="0">
                <a:hlinkClick r:id="rId3"/>
              </a:rPr>
              <a:t>http://www.ploscompbiol.org/article/info:do</a:t>
            </a:r>
            <a:r>
              <a:rPr lang="en-US" sz="1200" dirty="0">
                <a:solidFill>
                  <a:schemeClr val="accent2"/>
                </a:solidFill>
                <a:hlinkClick r:id="rId3"/>
              </a:rPr>
              <a:t>i/10.1371/journal.pcbi.0030116</a:t>
            </a:r>
            <a:endParaRPr lang="en-US" sz="1200" dirty="0">
              <a:solidFill>
                <a:schemeClr val="accent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70820394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en-US">
                <a:solidFill>
                  <a:srgbClr val="000000"/>
                </a:solidFill>
              </a:rPr>
              <a:t>2014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F28756-B31F-4EB3-9CB3-CC474DFD3A9D}" type="slidenum">
              <a:rPr lang="en-US" altLang="en-US" smtClean="0">
                <a:solidFill>
                  <a:srgbClr val="000000"/>
                </a:solidFill>
              </a:rPr>
              <a:pPr/>
              <a:t>28</a:t>
            </a:fld>
            <a:endParaRPr lang="en-US" altLang="en-US">
              <a:solidFill>
                <a:srgbClr val="000000"/>
              </a:solidFill>
            </a:endParaRPr>
          </a:p>
        </p:txBody>
      </p:sp>
      <p:sp>
        <p:nvSpPr>
          <p:cNvPr id="5" name="AutoShape 2"/>
          <p:cNvSpPr>
            <a:spLocks noChangeArrowheads="1"/>
          </p:cNvSpPr>
          <p:nvPr/>
        </p:nvSpPr>
        <p:spPr bwMode="auto">
          <a:xfrm>
            <a:off x="304800" y="152400"/>
            <a:ext cx="8610600" cy="914400"/>
          </a:xfrm>
          <a:prstGeom prst="roundRect">
            <a:avLst>
              <a:gd name="adj" fmla="val 16667"/>
            </a:avLst>
          </a:prstGeom>
          <a:solidFill>
            <a:srgbClr val="FFCCFF"/>
          </a:solidFill>
          <a:ln w="34925">
            <a:solidFill>
              <a:srgbClr val="FF3300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sz="2400">
              <a:solidFill>
                <a:srgbClr val="000000"/>
              </a:solidFill>
            </a:endParaRPr>
          </a:p>
        </p:txBody>
      </p:sp>
      <p:sp>
        <p:nvSpPr>
          <p:cNvPr id="6" name="AutoShape 3"/>
          <p:cNvSpPr>
            <a:spLocks noChangeArrowheads="1"/>
          </p:cNvSpPr>
          <p:nvPr/>
        </p:nvSpPr>
        <p:spPr bwMode="auto">
          <a:xfrm>
            <a:off x="304800" y="1143000"/>
            <a:ext cx="8610600" cy="4724400"/>
          </a:xfrm>
          <a:prstGeom prst="roundRect">
            <a:avLst>
              <a:gd name="adj" fmla="val 16667"/>
            </a:avLst>
          </a:prstGeom>
          <a:noFill/>
          <a:ln w="34925">
            <a:solidFill>
              <a:srgbClr val="FF33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sz="2400">
              <a:solidFill>
                <a:srgbClr val="000000"/>
              </a:solidFill>
            </a:endParaRPr>
          </a:p>
        </p:txBody>
      </p:sp>
      <p:sp>
        <p:nvSpPr>
          <p:cNvPr id="7" name="Rectangle 4"/>
          <p:cNvSpPr>
            <a:spLocks noChangeArrowheads="1"/>
          </p:cNvSpPr>
          <p:nvPr/>
        </p:nvSpPr>
        <p:spPr bwMode="auto">
          <a:xfrm>
            <a:off x="762000" y="228600"/>
            <a:ext cx="7772400" cy="685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/>
          <a:lstStyle>
            <a:lvl1pPr algn="ctr">
              <a:defRPr sz="4400">
                <a:solidFill>
                  <a:schemeClr val="tx2"/>
                </a:solidFill>
                <a:latin typeface="Times New Roman" pitchFamily="18" charset="0"/>
              </a:defRPr>
            </a:lvl1pPr>
            <a:lvl2pPr algn="ctr">
              <a:defRPr sz="4400">
                <a:solidFill>
                  <a:schemeClr val="tx2"/>
                </a:solidFill>
                <a:latin typeface="Times New Roman" pitchFamily="18" charset="0"/>
              </a:defRPr>
            </a:lvl2pPr>
            <a:lvl3pPr algn="ctr">
              <a:defRPr sz="4400">
                <a:solidFill>
                  <a:schemeClr val="tx2"/>
                </a:solidFill>
                <a:latin typeface="Times New Roman" pitchFamily="18" charset="0"/>
              </a:defRPr>
            </a:lvl3pPr>
            <a:lvl4pPr algn="ctr">
              <a:defRPr sz="4400">
                <a:solidFill>
                  <a:schemeClr val="tx2"/>
                </a:solidFill>
                <a:latin typeface="Times New Roman" pitchFamily="18" charset="0"/>
              </a:defRPr>
            </a:lvl4pPr>
            <a:lvl5pPr algn="ctr">
              <a:defRPr sz="4400">
                <a:solidFill>
                  <a:schemeClr val="tx2"/>
                </a:solidFill>
                <a:latin typeface="Times New Roman" pitchFamily="18" charset="0"/>
              </a:defRPr>
            </a:lvl5pPr>
            <a:lvl6pPr marL="457200" algn="ctr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imes New Roman" pitchFamily="18" charset="0"/>
              </a:defRPr>
            </a:lvl6pPr>
            <a:lvl7pPr marL="914400" algn="ctr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imes New Roman" pitchFamily="18" charset="0"/>
              </a:defRPr>
            </a:lvl7pPr>
            <a:lvl8pPr marL="1371600" algn="ctr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imes New Roman" pitchFamily="18" charset="0"/>
              </a:defRPr>
            </a:lvl8pPr>
            <a:lvl9pPr marL="1828800" algn="ctr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imes New Roman" pitchFamily="18" charset="0"/>
              </a:defRPr>
            </a:lvl9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2800" i="1" dirty="0">
                <a:solidFill>
                  <a:srgbClr val="0000FF"/>
                </a:solidFill>
                <a:latin typeface="Arial" charset="0"/>
              </a:rPr>
              <a:t>Decision/Regression Trees (cont’d)</a:t>
            </a:r>
          </a:p>
        </p:txBody>
      </p:sp>
      <p:sp>
        <p:nvSpPr>
          <p:cNvPr id="8" name="Rectangle 5"/>
          <p:cNvSpPr>
            <a:spLocks noChangeArrowheads="1"/>
          </p:cNvSpPr>
          <p:nvPr/>
        </p:nvSpPr>
        <p:spPr bwMode="auto">
          <a:xfrm>
            <a:off x="685800" y="1295400"/>
            <a:ext cx="8001000" cy="4191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2075" tIns="46038" rIns="92075" bIns="46038"/>
          <a:lstStyle>
            <a:lvl1pPr marL="342900" indent="-34290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itchFamily="18" charset="0"/>
              </a:defRPr>
            </a:lvl2pPr>
            <a:lvl3pPr marL="108585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eaLnBrk="0" fontAlgn="base" hangingPunct="0">
              <a:spcAft>
                <a:spcPct val="0"/>
              </a:spcAft>
              <a:buClr>
                <a:srgbClr val="000000"/>
              </a:buClr>
            </a:pPr>
            <a:r>
              <a:rPr lang="en-US" altLang="en-US" sz="2400" dirty="0">
                <a:solidFill>
                  <a:srgbClr val="000000"/>
                </a:solidFill>
              </a:rPr>
              <a:t>What measure can tell us:</a:t>
            </a:r>
          </a:p>
          <a:p>
            <a:pPr lvl="1" eaLnBrk="0" fontAlgn="base" hangingPunct="0">
              <a:spcAft>
                <a:spcPct val="0"/>
              </a:spcAft>
              <a:buClr>
                <a:srgbClr val="000000"/>
              </a:buClr>
            </a:pPr>
            <a:r>
              <a:rPr lang="en-US" altLang="en-US" sz="1800" dirty="0">
                <a:solidFill>
                  <a:srgbClr val="000000"/>
                </a:solidFill>
              </a:rPr>
              <a:t>What variable to branch on next?</a:t>
            </a:r>
          </a:p>
          <a:p>
            <a:pPr lvl="1" eaLnBrk="0" fontAlgn="base" hangingPunct="0">
              <a:spcAft>
                <a:spcPct val="0"/>
              </a:spcAft>
              <a:buClr>
                <a:srgbClr val="000000"/>
              </a:buClr>
            </a:pPr>
            <a:r>
              <a:rPr lang="en-US" altLang="en-US" sz="1800" dirty="0">
                <a:solidFill>
                  <a:srgbClr val="000000"/>
                </a:solidFill>
              </a:rPr>
              <a:t>What value for this variable is the threshold for branching</a:t>
            </a:r>
          </a:p>
          <a:p>
            <a:pPr eaLnBrk="0" fontAlgn="base" hangingPunct="0">
              <a:spcAft>
                <a:spcPct val="0"/>
              </a:spcAft>
              <a:buClr>
                <a:srgbClr val="000000"/>
              </a:buClr>
            </a:pPr>
            <a:r>
              <a:rPr lang="en-US" altLang="en-US" sz="2400" dirty="0">
                <a:solidFill>
                  <a:srgbClr val="000000"/>
                </a:solidFill>
              </a:rPr>
              <a:t>Although different measures are used for this purpose, resulting to variety of decision trees, almost all of them are based on entropy, which is a measure of uncertainty/impurity</a:t>
            </a:r>
          </a:p>
          <a:p>
            <a:pPr eaLnBrk="0" fontAlgn="base" hangingPunct="0">
              <a:spcAft>
                <a:spcPct val="0"/>
              </a:spcAft>
              <a:buClr>
                <a:srgbClr val="000000"/>
              </a:buClr>
              <a:buNone/>
            </a:pPr>
            <a:endParaRPr lang="en-US" altLang="en-US" sz="1100" dirty="0">
              <a:solidFill>
                <a:srgbClr val="000000"/>
              </a:solidFill>
            </a:endParaRPr>
          </a:p>
          <a:p>
            <a:pPr eaLnBrk="0" fontAlgn="base" hangingPunct="0">
              <a:spcAft>
                <a:spcPct val="0"/>
              </a:spcAft>
              <a:buClr>
                <a:srgbClr val="000000"/>
              </a:buClr>
            </a:pPr>
            <a:endParaRPr lang="en-US" altLang="en-US" sz="2400" dirty="0">
              <a:solidFill>
                <a:srgbClr val="000000"/>
              </a:solidFill>
            </a:endParaRPr>
          </a:p>
          <a:p>
            <a:pPr eaLnBrk="0" fontAlgn="base" hangingPunct="0">
              <a:spcAft>
                <a:spcPct val="0"/>
              </a:spcAft>
              <a:buClr>
                <a:srgbClr val="000000"/>
              </a:buClr>
              <a:buNone/>
            </a:pPr>
            <a:endParaRPr lang="en-US" altLang="en-US" sz="2400" dirty="0">
              <a:solidFill>
                <a:srgbClr val="000000"/>
              </a:solidFill>
            </a:endParaRPr>
          </a:p>
          <a:p>
            <a:pPr eaLnBrk="0" fontAlgn="base" hangingPunct="0">
              <a:spcAft>
                <a:spcPct val="0"/>
              </a:spcAft>
              <a:buClr>
                <a:srgbClr val="000000"/>
              </a:buClr>
            </a:pPr>
            <a:endParaRPr lang="en-US" altLang="en-US" sz="2400" dirty="0">
              <a:solidFill>
                <a:srgbClr val="000000"/>
              </a:solidFill>
            </a:endParaRPr>
          </a:p>
          <a:p>
            <a:pPr eaLnBrk="0" fontAlgn="base" hangingPunct="0">
              <a:spcAft>
                <a:spcPct val="0"/>
              </a:spcAft>
              <a:buClr>
                <a:srgbClr val="000000"/>
              </a:buClr>
            </a:pPr>
            <a:r>
              <a:rPr lang="en-US" altLang="en-US" sz="2400" dirty="0">
                <a:solidFill>
                  <a:srgbClr val="000000"/>
                </a:solidFill>
              </a:rPr>
              <a:t>Entropy quantifies lack of “purity” among the examples left in a given node</a:t>
            </a:r>
          </a:p>
        </p:txBody>
      </p:sp>
      <p:graphicFrame>
        <p:nvGraphicFramePr>
          <p:cNvPr id="12" name="Object 11"/>
          <p:cNvGraphicFramePr>
            <a:graphicFrameLocks noChangeAspect="1"/>
          </p:cNvGraphicFramePr>
          <p:nvPr/>
        </p:nvGraphicFramePr>
        <p:xfrm>
          <a:off x="3505200" y="3504281"/>
          <a:ext cx="2286000" cy="609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1091726" imgH="342751" progId="Equation.3">
                  <p:embed/>
                </p:oleObj>
              </mc:Choice>
              <mc:Fallback>
                <p:oleObj name="Equation" r:id="rId2" imgW="1091726" imgH="342751" progId="Equation.3">
                  <p:embed/>
                  <p:pic>
                    <p:nvPicPr>
                      <p:cNvPr id="0" name="Picture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505200" y="3504281"/>
                        <a:ext cx="2286000" cy="6096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" name="Oval 9"/>
          <p:cNvSpPr/>
          <p:nvPr/>
        </p:nvSpPr>
        <p:spPr bwMode="auto">
          <a:xfrm>
            <a:off x="1752600" y="3886200"/>
            <a:ext cx="1524000" cy="1295400"/>
          </a:xfrm>
          <a:prstGeom prst="ellipse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</a:endParaRPr>
          </a:p>
        </p:txBody>
      </p:sp>
      <p:sp>
        <p:nvSpPr>
          <p:cNvPr id="11" name="Rectangle 10"/>
          <p:cNvSpPr/>
          <p:nvPr/>
        </p:nvSpPr>
        <p:spPr bwMode="auto">
          <a:xfrm>
            <a:off x="2590800" y="4343400"/>
            <a:ext cx="76200" cy="76200"/>
          </a:xfrm>
          <a:prstGeom prst="rect">
            <a:avLst/>
          </a:prstGeom>
          <a:solidFill>
            <a:srgbClr val="FF00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</a:endParaRPr>
          </a:p>
        </p:txBody>
      </p:sp>
      <p:sp>
        <p:nvSpPr>
          <p:cNvPr id="13" name="Rectangle 12"/>
          <p:cNvSpPr/>
          <p:nvPr/>
        </p:nvSpPr>
        <p:spPr bwMode="auto">
          <a:xfrm>
            <a:off x="2743200" y="4495800"/>
            <a:ext cx="76200" cy="76200"/>
          </a:xfrm>
          <a:prstGeom prst="rect">
            <a:avLst/>
          </a:prstGeom>
          <a:solidFill>
            <a:srgbClr val="FF00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</a:endParaRPr>
          </a:p>
        </p:txBody>
      </p:sp>
      <p:sp>
        <p:nvSpPr>
          <p:cNvPr id="14" name="Rectangle 13"/>
          <p:cNvSpPr/>
          <p:nvPr/>
        </p:nvSpPr>
        <p:spPr bwMode="auto">
          <a:xfrm>
            <a:off x="2286000" y="4572000"/>
            <a:ext cx="76200" cy="76200"/>
          </a:xfrm>
          <a:prstGeom prst="rect">
            <a:avLst/>
          </a:prstGeom>
          <a:solidFill>
            <a:srgbClr val="FF00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</a:endParaRPr>
          </a:p>
        </p:txBody>
      </p:sp>
      <p:sp>
        <p:nvSpPr>
          <p:cNvPr id="15" name="Rectangle 14"/>
          <p:cNvSpPr/>
          <p:nvPr/>
        </p:nvSpPr>
        <p:spPr bwMode="auto">
          <a:xfrm>
            <a:off x="3048000" y="4800600"/>
            <a:ext cx="76200" cy="76200"/>
          </a:xfrm>
          <a:prstGeom prst="rect">
            <a:avLst/>
          </a:prstGeom>
          <a:solidFill>
            <a:srgbClr val="FF00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</a:endParaRPr>
          </a:p>
        </p:txBody>
      </p:sp>
      <p:sp>
        <p:nvSpPr>
          <p:cNvPr id="16" name="Rectangle 15"/>
          <p:cNvSpPr/>
          <p:nvPr/>
        </p:nvSpPr>
        <p:spPr bwMode="auto">
          <a:xfrm>
            <a:off x="2362200" y="4114800"/>
            <a:ext cx="76200" cy="76200"/>
          </a:xfrm>
          <a:prstGeom prst="rect">
            <a:avLst/>
          </a:prstGeom>
          <a:solidFill>
            <a:srgbClr val="FF00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</a:endParaRPr>
          </a:p>
        </p:txBody>
      </p:sp>
      <p:sp>
        <p:nvSpPr>
          <p:cNvPr id="17" name="Rectangle 16"/>
          <p:cNvSpPr/>
          <p:nvPr/>
        </p:nvSpPr>
        <p:spPr bwMode="auto">
          <a:xfrm>
            <a:off x="2438400" y="4724400"/>
            <a:ext cx="76200" cy="76200"/>
          </a:xfrm>
          <a:prstGeom prst="rect">
            <a:avLst/>
          </a:prstGeom>
          <a:solidFill>
            <a:srgbClr val="FF00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</a:endParaRPr>
          </a:p>
        </p:txBody>
      </p:sp>
      <p:sp>
        <p:nvSpPr>
          <p:cNvPr id="18" name="Rectangle 17"/>
          <p:cNvSpPr/>
          <p:nvPr/>
        </p:nvSpPr>
        <p:spPr bwMode="auto">
          <a:xfrm>
            <a:off x="3048000" y="4800600"/>
            <a:ext cx="76200" cy="76200"/>
          </a:xfrm>
          <a:prstGeom prst="rect">
            <a:avLst/>
          </a:prstGeom>
          <a:solidFill>
            <a:srgbClr val="FF00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</a:endParaRPr>
          </a:p>
        </p:txBody>
      </p:sp>
      <p:sp>
        <p:nvSpPr>
          <p:cNvPr id="19" name="Rectangle 18"/>
          <p:cNvSpPr/>
          <p:nvPr/>
        </p:nvSpPr>
        <p:spPr bwMode="auto">
          <a:xfrm>
            <a:off x="2743200" y="4419600"/>
            <a:ext cx="76200" cy="76200"/>
          </a:xfrm>
          <a:prstGeom prst="rect">
            <a:avLst/>
          </a:prstGeom>
          <a:solidFill>
            <a:srgbClr val="FF00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</a:endParaRPr>
          </a:p>
        </p:txBody>
      </p:sp>
      <p:sp>
        <p:nvSpPr>
          <p:cNvPr id="20" name="Oval 19"/>
          <p:cNvSpPr/>
          <p:nvPr/>
        </p:nvSpPr>
        <p:spPr bwMode="auto">
          <a:xfrm>
            <a:off x="6019800" y="3810000"/>
            <a:ext cx="1524000" cy="1295400"/>
          </a:xfrm>
          <a:prstGeom prst="ellipse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</a:endParaRPr>
          </a:p>
        </p:txBody>
      </p:sp>
      <p:sp>
        <p:nvSpPr>
          <p:cNvPr id="21" name="Rectangle 20"/>
          <p:cNvSpPr/>
          <p:nvPr/>
        </p:nvSpPr>
        <p:spPr bwMode="auto">
          <a:xfrm>
            <a:off x="6858000" y="4267200"/>
            <a:ext cx="76200" cy="76200"/>
          </a:xfrm>
          <a:prstGeom prst="rect">
            <a:avLst/>
          </a:prstGeom>
          <a:solidFill>
            <a:srgbClr val="FF00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</a:endParaRPr>
          </a:p>
        </p:txBody>
      </p:sp>
      <p:sp>
        <p:nvSpPr>
          <p:cNvPr id="22" name="Rectangle 21"/>
          <p:cNvSpPr/>
          <p:nvPr/>
        </p:nvSpPr>
        <p:spPr bwMode="auto">
          <a:xfrm>
            <a:off x="7010400" y="4419600"/>
            <a:ext cx="76200" cy="76200"/>
          </a:xfrm>
          <a:prstGeom prst="rect">
            <a:avLst/>
          </a:prstGeom>
          <a:solidFill>
            <a:srgbClr val="FF00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</a:endParaRPr>
          </a:p>
        </p:txBody>
      </p:sp>
      <p:sp>
        <p:nvSpPr>
          <p:cNvPr id="23" name="Rectangle 22"/>
          <p:cNvSpPr/>
          <p:nvPr/>
        </p:nvSpPr>
        <p:spPr bwMode="auto">
          <a:xfrm>
            <a:off x="6553200" y="4495800"/>
            <a:ext cx="76200" cy="76200"/>
          </a:xfrm>
          <a:prstGeom prst="rect">
            <a:avLst/>
          </a:prstGeom>
          <a:solidFill>
            <a:srgbClr val="FF00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</a:endParaRPr>
          </a:p>
        </p:txBody>
      </p:sp>
      <p:sp>
        <p:nvSpPr>
          <p:cNvPr id="24" name="Rectangle 23"/>
          <p:cNvSpPr/>
          <p:nvPr/>
        </p:nvSpPr>
        <p:spPr bwMode="auto">
          <a:xfrm>
            <a:off x="7315200" y="4724400"/>
            <a:ext cx="76200" cy="76200"/>
          </a:xfrm>
          <a:prstGeom prst="rect">
            <a:avLst/>
          </a:prstGeom>
          <a:solidFill>
            <a:srgbClr val="FF00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</a:endParaRPr>
          </a:p>
        </p:txBody>
      </p:sp>
      <p:sp>
        <p:nvSpPr>
          <p:cNvPr id="25" name="Rectangle 24"/>
          <p:cNvSpPr/>
          <p:nvPr/>
        </p:nvSpPr>
        <p:spPr bwMode="auto">
          <a:xfrm>
            <a:off x="6629400" y="4038600"/>
            <a:ext cx="76200" cy="76200"/>
          </a:xfrm>
          <a:prstGeom prst="rect">
            <a:avLst/>
          </a:prstGeom>
          <a:solidFill>
            <a:srgbClr val="FF00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</a:endParaRPr>
          </a:p>
        </p:txBody>
      </p:sp>
      <p:sp>
        <p:nvSpPr>
          <p:cNvPr id="26" name="Rectangle 25"/>
          <p:cNvSpPr/>
          <p:nvPr/>
        </p:nvSpPr>
        <p:spPr bwMode="auto">
          <a:xfrm>
            <a:off x="6705600" y="4648200"/>
            <a:ext cx="76200" cy="76200"/>
          </a:xfrm>
          <a:prstGeom prst="rect">
            <a:avLst/>
          </a:prstGeom>
          <a:solidFill>
            <a:srgbClr val="FF00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</a:endParaRPr>
          </a:p>
        </p:txBody>
      </p:sp>
      <p:sp>
        <p:nvSpPr>
          <p:cNvPr id="27" name="Rectangle 26"/>
          <p:cNvSpPr/>
          <p:nvPr/>
        </p:nvSpPr>
        <p:spPr bwMode="auto">
          <a:xfrm>
            <a:off x="7315200" y="4724400"/>
            <a:ext cx="76200" cy="76200"/>
          </a:xfrm>
          <a:prstGeom prst="rect">
            <a:avLst/>
          </a:prstGeom>
          <a:solidFill>
            <a:srgbClr val="FF00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</a:endParaRPr>
          </a:p>
        </p:txBody>
      </p:sp>
      <p:sp>
        <p:nvSpPr>
          <p:cNvPr id="28" name="Rectangle 27"/>
          <p:cNvSpPr/>
          <p:nvPr/>
        </p:nvSpPr>
        <p:spPr bwMode="auto">
          <a:xfrm>
            <a:off x="7010400" y="4343400"/>
            <a:ext cx="76200" cy="76200"/>
          </a:xfrm>
          <a:prstGeom prst="rect">
            <a:avLst/>
          </a:prstGeom>
          <a:solidFill>
            <a:srgbClr val="FF00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</a:endParaRPr>
          </a:p>
        </p:txBody>
      </p:sp>
      <p:sp>
        <p:nvSpPr>
          <p:cNvPr id="29" name="Isosceles Triangle 28"/>
          <p:cNvSpPr/>
          <p:nvPr/>
        </p:nvSpPr>
        <p:spPr bwMode="auto">
          <a:xfrm>
            <a:off x="2667000" y="4114800"/>
            <a:ext cx="152400" cy="152400"/>
          </a:xfrm>
          <a:prstGeom prst="triangle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</a:endParaRPr>
          </a:p>
        </p:txBody>
      </p:sp>
      <p:sp>
        <p:nvSpPr>
          <p:cNvPr id="30" name="Isosceles Triangle 29"/>
          <p:cNvSpPr/>
          <p:nvPr/>
        </p:nvSpPr>
        <p:spPr bwMode="auto">
          <a:xfrm>
            <a:off x="2667000" y="4724400"/>
            <a:ext cx="152400" cy="152400"/>
          </a:xfrm>
          <a:prstGeom prst="triangle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</a:endParaRPr>
          </a:p>
        </p:txBody>
      </p:sp>
      <p:sp>
        <p:nvSpPr>
          <p:cNvPr id="31" name="Isosceles Triangle 30"/>
          <p:cNvSpPr/>
          <p:nvPr/>
        </p:nvSpPr>
        <p:spPr bwMode="auto">
          <a:xfrm>
            <a:off x="2895600" y="4343400"/>
            <a:ext cx="152400" cy="152400"/>
          </a:xfrm>
          <a:prstGeom prst="triangle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</a:endParaRPr>
          </a:p>
        </p:txBody>
      </p:sp>
      <p:sp>
        <p:nvSpPr>
          <p:cNvPr id="32" name="Isosceles Triangle 31"/>
          <p:cNvSpPr/>
          <p:nvPr/>
        </p:nvSpPr>
        <p:spPr bwMode="auto">
          <a:xfrm>
            <a:off x="2286000" y="4267200"/>
            <a:ext cx="152400" cy="152400"/>
          </a:xfrm>
          <a:prstGeom prst="triangle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</a:endParaRPr>
          </a:p>
        </p:txBody>
      </p:sp>
      <p:sp>
        <p:nvSpPr>
          <p:cNvPr id="33" name="TextBox 32"/>
          <p:cNvSpPr txBox="1"/>
          <p:nvPr/>
        </p:nvSpPr>
        <p:spPr>
          <a:xfrm flipH="1">
            <a:off x="762000" y="3886200"/>
            <a:ext cx="137160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High entropy, high impurity</a:t>
            </a:r>
          </a:p>
        </p:txBody>
      </p:sp>
      <p:sp>
        <p:nvSpPr>
          <p:cNvPr id="34" name="TextBox 33"/>
          <p:cNvSpPr txBox="1"/>
          <p:nvPr/>
        </p:nvSpPr>
        <p:spPr>
          <a:xfrm flipH="1">
            <a:off x="7543800" y="3886200"/>
            <a:ext cx="137160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Low entropy, low impurity</a:t>
            </a:r>
          </a:p>
        </p:txBody>
      </p:sp>
    </p:spTree>
    <p:extLst>
      <p:ext uri="{BB962C8B-B14F-4D97-AF65-F5344CB8AC3E}">
        <p14:creationId xmlns:p14="http://schemas.microsoft.com/office/powerpoint/2010/main" val="70820394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en-US">
                <a:solidFill>
                  <a:srgbClr val="000000"/>
                </a:solidFill>
              </a:rPr>
              <a:t>2014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F28756-B31F-4EB3-9CB3-CC474DFD3A9D}" type="slidenum">
              <a:rPr lang="en-US" altLang="en-US" smtClean="0">
                <a:solidFill>
                  <a:srgbClr val="000000"/>
                </a:solidFill>
              </a:rPr>
              <a:pPr/>
              <a:t>29</a:t>
            </a:fld>
            <a:endParaRPr lang="en-US" altLang="en-US">
              <a:solidFill>
                <a:srgbClr val="000000"/>
              </a:solidFill>
            </a:endParaRPr>
          </a:p>
        </p:txBody>
      </p:sp>
      <p:sp>
        <p:nvSpPr>
          <p:cNvPr id="5" name="AutoShape 2"/>
          <p:cNvSpPr>
            <a:spLocks noChangeArrowheads="1"/>
          </p:cNvSpPr>
          <p:nvPr/>
        </p:nvSpPr>
        <p:spPr bwMode="auto">
          <a:xfrm>
            <a:off x="304800" y="152400"/>
            <a:ext cx="8610600" cy="914400"/>
          </a:xfrm>
          <a:prstGeom prst="roundRect">
            <a:avLst>
              <a:gd name="adj" fmla="val 16667"/>
            </a:avLst>
          </a:prstGeom>
          <a:solidFill>
            <a:srgbClr val="FFCCFF"/>
          </a:solidFill>
          <a:ln w="34925">
            <a:solidFill>
              <a:srgbClr val="FF3300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sz="2400">
              <a:solidFill>
                <a:srgbClr val="000000"/>
              </a:solidFill>
            </a:endParaRPr>
          </a:p>
        </p:txBody>
      </p:sp>
      <p:sp>
        <p:nvSpPr>
          <p:cNvPr id="6" name="AutoShape 3"/>
          <p:cNvSpPr>
            <a:spLocks noChangeArrowheads="1"/>
          </p:cNvSpPr>
          <p:nvPr/>
        </p:nvSpPr>
        <p:spPr bwMode="auto">
          <a:xfrm>
            <a:off x="304800" y="1143000"/>
            <a:ext cx="8610600" cy="4724400"/>
          </a:xfrm>
          <a:prstGeom prst="roundRect">
            <a:avLst>
              <a:gd name="adj" fmla="val 16667"/>
            </a:avLst>
          </a:prstGeom>
          <a:noFill/>
          <a:ln w="34925">
            <a:solidFill>
              <a:srgbClr val="FF33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sz="2400">
              <a:solidFill>
                <a:srgbClr val="000000"/>
              </a:solidFill>
            </a:endParaRPr>
          </a:p>
        </p:txBody>
      </p:sp>
      <p:sp>
        <p:nvSpPr>
          <p:cNvPr id="7" name="Rectangle 4"/>
          <p:cNvSpPr>
            <a:spLocks noChangeArrowheads="1"/>
          </p:cNvSpPr>
          <p:nvPr/>
        </p:nvSpPr>
        <p:spPr bwMode="auto">
          <a:xfrm>
            <a:off x="762000" y="228600"/>
            <a:ext cx="7772400" cy="685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/>
          <a:lstStyle>
            <a:lvl1pPr algn="ctr">
              <a:defRPr sz="4400">
                <a:solidFill>
                  <a:schemeClr val="tx2"/>
                </a:solidFill>
                <a:latin typeface="Times New Roman" pitchFamily="18" charset="0"/>
              </a:defRPr>
            </a:lvl1pPr>
            <a:lvl2pPr algn="ctr">
              <a:defRPr sz="4400">
                <a:solidFill>
                  <a:schemeClr val="tx2"/>
                </a:solidFill>
                <a:latin typeface="Times New Roman" pitchFamily="18" charset="0"/>
              </a:defRPr>
            </a:lvl2pPr>
            <a:lvl3pPr algn="ctr">
              <a:defRPr sz="4400">
                <a:solidFill>
                  <a:schemeClr val="tx2"/>
                </a:solidFill>
                <a:latin typeface="Times New Roman" pitchFamily="18" charset="0"/>
              </a:defRPr>
            </a:lvl3pPr>
            <a:lvl4pPr algn="ctr">
              <a:defRPr sz="4400">
                <a:solidFill>
                  <a:schemeClr val="tx2"/>
                </a:solidFill>
                <a:latin typeface="Times New Roman" pitchFamily="18" charset="0"/>
              </a:defRPr>
            </a:lvl4pPr>
            <a:lvl5pPr algn="ctr">
              <a:defRPr sz="4400">
                <a:solidFill>
                  <a:schemeClr val="tx2"/>
                </a:solidFill>
                <a:latin typeface="Times New Roman" pitchFamily="18" charset="0"/>
              </a:defRPr>
            </a:lvl5pPr>
            <a:lvl6pPr marL="457200" algn="ctr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imes New Roman" pitchFamily="18" charset="0"/>
              </a:defRPr>
            </a:lvl6pPr>
            <a:lvl7pPr marL="914400" algn="ctr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imes New Roman" pitchFamily="18" charset="0"/>
              </a:defRPr>
            </a:lvl7pPr>
            <a:lvl8pPr marL="1371600" algn="ctr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imes New Roman" pitchFamily="18" charset="0"/>
              </a:defRPr>
            </a:lvl8pPr>
            <a:lvl9pPr marL="1828800" algn="ctr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imes New Roman" pitchFamily="18" charset="0"/>
              </a:defRPr>
            </a:lvl9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2800" i="1" dirty="0">
                <a:solidFill>
                  <a:srgbClr val="0000FF"/>
                </a:solidFill>
                <a:latin typeface="Arial" charset="0"/>
              </a:rPr>
              <a:t>Decision/Regression Trees (cont’d)</a:t>
            </a:r>
          </a:p>
        </p:txBody>
      </p:sp>
      <p:sp>
        <p:nvSpPr>
          <p:cNvPr id="8" name="Rectangle 5"/>
          <p:cNvSpPr>
            <a:spLocks noChangeArrowheads="1"/>
          </p:cNvSpPr>
          <p:nvPr/>
        </p:nvSpPr>
        <p:spPr bwMode="auto">
          <a:xfrm>
            <a:off x="685800" y="1295400"/>
            <a:ext cx="8001000" cy="4495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2075" tIns="46038" rIns="92075" bIns="46038"/>
          <a:lstStyle>
            <a:lvl1pPr marL="342900" indent="-34290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itchFamily="18" charset="0"/>
              </a:defRPr>
            </a:lvl2pPr>
            <a:lvl3pPr marL="108585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eaLnBrk="0" fontAlgn="base" hangingPunct="0">
              <a:spcAft>
                <a:spcPct val="0"/>
              </a:spcAft>
              <a:buClr>
                <a:srgbClr val="000000"/>
              </a:buClr>
            </a:pPr>
            <a:r>
              <a:rPr lang="en-US" altLang="en-US" sz="2400" dirty="0">
                <a:solidFill>
                  <a:srgbClr val="000000"/>
                </a:solidFill>
              </a:rPr>
              <a:t>One typical measure used for splitting nodes; information gain:</a:t>
            </a:r>
          </a:p>
          <a:p>
            <a:pPr eaLnBrk="0" fontAlgn="base" hangingPunct="0">
              <a:spcAft>
                <a:spcPct val="0"/>
              </a:spcAft>
              <a:buClr>
                <a:srgbClr val="000000"/>
              </a:buClr>
              <a:buNone/>
            </a:pPr>
            <a:r>
              <a:rPr lang="en-US" altLang="en-US" sz="1600" dirty="0">
                <a:solidFill>
                  <a:srgbClr val="000000"/>
                </a:solidFill>
              </a:rPr>
              <a:t>		</a:t>
            </a:r>
            <a:r>
              <a:rPr lang="en-US" altLang="en-US" sz="1800" dirty="0">
                <a:solidFill>
                  <a:srgbClr val="000000"/>
                </a:solidFill>
              </a:rPr>
              <a:t>Information Gain = Entropy(parent) – [Average Entropy(children)]</a:t>
            </a:r>
            <a:endParaRPr lang="en-US" altLang="en-US" sz="1600" dirty="0">
              <a:solidFill>
                <a:srgbClr val="000000"/>
              </a:solidFill>
            </a:endParaRPr>
          </a:p>
          <a:p>
            <a:pPr eaLnBrk="0" fontAlgn="base" hangingPunct="0">
              <a:spcAft>
                <a:spcPct val="0"/>
              </a:spcAft>
              <a:buClr>
                <a:srgbClr val="000000"/>
              </a:buClr>
            </a:pPr>
            <a:r>
              <a:rPr lang="en-US" altLang="en-US" sz="2400" dirty="0">
                <a:solidFill>
                  <a:srgbClr val="000000"/>
                </a:solidFill>
              </a:rPr>
              <a:t>Unlike connectionist methods, dealing with categorical variables in the nature of decision trees</a:t>
            </a:r>
          </a:p>
          <a:p>
            <a:pPr eaLnBrk="0" fontAlgn="base" hangingPunct="0">
              <a:spcAft>
                <a:spcPct val="0"/>
              </a:spcAft>
              <a:buClr>
                <a:srgbClr val="000000"/>
              </a:buClr>
            </a:pPr>
            <a:r>
              <a:rPr lang="en-US" altLang="en-US" sz="2400" dirty="0">
                <a:solidFill>
                  <a:srgbClr val="000000"/>
                </a:solidFill>
              </a:rPr>
              <a:t>There are many tree-based methods such as ID3, CART (Classification and Regression Tree) and C4.5 </a:t>
            </a:r>
          </a:p>
          <a:p>
            <a:pPr eaLnBrk="0" fontAlgn="base" hangingPunct="0">
              <a:spcAft>
                <a:spcPct val="0"/>
              </a:spcAft>
              <a:buClr>
                <a:srgbClr val="000000"/>
              </a:buClr>
            </a:pPr>
            <a:r>
              <a:rPr lang="en-US" altLang="en-US" sz="2400" dirty="0">
                <a:solidFill>
                  <a:srgbClr val="000000"/>
                </a:solidFill>
              </a:rPr>
              <a:t>Decision/regression trees can </a:t>
            </a:r>
            <a:r>
              <a:rPr lang="en-US" altLang="en-US" sz="2400" dirty="0" err="1">
                <a:solidFill>
                  <a:srgbClr val="000000"/>
                </a:solidFill>
              </a:rPr>
              <a:t>overfit</a:t>
            </a:r>
            <a:r>
              <a:rPr lang="en-US" altLang="en-US" sz="2400" dirty="0">
                <a:solidFill>
                  <a:srgbClr val="000000"/>
                </a:solidFill>
              </a:rPr>
              <a:t> the data, in particular when depth of the tree becomes too large</a:t>
            </a:r>
          </a:p>
          <a:p>
            <a:pPr lvl="1" eaLnBrk="0" fontAlgn="base" hangingPunct="0">
              <a:spcAft>
                <a:spcPct val="0"/>
              </a:spcAft>
              <a:buClr>
                <a:srgbClr val="000000"/>
              </a:buClr>
            </a:pPr>
            <a:r>
              <a:rPr lang="en-US" altLang="en-US" sz="2000" dirty="0">
                <a:solidFill>
                  <a:srgbClr val="000000"/>
                </a:solidFill>
              </a:rPr>
              <a:t>Pruning is used to partially address this issue; trees are first expanded to large depth and then pruned/collapsed according to some quality measure</a:t>
            </a:r>
          </a:p>
        </p:txBody>
      </p:sp>
    </p:spTree>
    <p:extLst>
      <p:ext uri="{BB962C8B-B14F-4D97-AF65-F5344CB8AC3E}">
        <p14:creationId xmlns:p14="http://schemas.microsoft.com/office/powerpoint/2010/main" val="70820394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en-US">
                <a:solidFill>
                  <a:srgbClr val="000000"/>
                </a:solidFill>
              </a:rPr>
              <a:t>2014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F28756-B31F-4EB3-9CB3-CC474DFD3A9D}" type="slidenum">
              <a:rPr lang="en-US" altLang="en-US" smtClean="0">
                <a:solidFill>
                  <a:srgbClr val="000000"/>
                </a:solidFill>
              </a:rPr>
              <a:pPr/>
              <a:t>30</a:t>
            </a:fld>
            <a:endParaRPr lang="en-US" altLang="en-US">
              <a:solidFill>
                <a:srgbClr val="000000"/>
              </a:solidFill>
            </a:endParaRPr>
          </a:p>
        </p:txBody>
      </p:sp>
      <p:sp>
        <p:nvSpPr>
          <p:cNvPr id="5" name="AutoShape 2"/>
          <p:cNvSpPr>
            <a:spLocks noChangeArrowheads="1"/>
          </p:cNvSpPr>
          <p:nvPr/>
        </p:nvSpPr>
        <p:spPr bwMode="auto">
          <a:xfrm>
            <a:off x="304800" y="152400"/>
            <a:ext cx="8610600" cy="914400"/>
          </a:xfrm>
          <a:prstGeom prst="roundRect">
            <a:avLst>
              <a:gd name="adj" fmla="val 16667"/>
            </a:avLst>
          </a:prstGeom>
          <a:solidFill>
            <a:srgbClr val="FFCCFF"/>
          </a:solidFill>
          <a:ln w="34925">
            <a:solidFill>
              <a:srgbClr val="FF3300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sz="2400">
              <a:solidFill>
                <a:srgbClr val="000000"/>
              </a:solidFill>
            </a:endParaRPr>
          </a:p>
        </p:txBody>
      </p:sp>
      <p:sp>
        <p:nvSpPr>
          <p:cNvPr id="6" name="AutoShape 3"/>
          <p:cNvSpPr>
            <a:spLocks noChangeArrowheads="1"/>
          </p:cNvSpPr>
          <p:nvPr/>
        </p:nvSpPr>
        <p:spPr bwMode="auto">
          <a:xfrm>
            <a:off x="304800" y="1143000"/>
            <a:ext cx="8610600" cy="4724400"/>
          </a:xfrm>
          <a:prstGeom prst="roundRect">
            <a:avLst>
              <a:gd name="adj" fmla="val 16667"/>
            </a:avLst>
          </a:prstGeom>
          <a:noFill/>
          <a:ln w="34925">
            <a:solidFill>
              <a:srgbClr val="FF33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sz="2400">
              <a:solidFill>
                <a:srgbClr val="000000"/>
              </a:solidFill>
            </a:endParaRPr>
          </a:p>
        </p:txBody>
      </p:sp>
      <p:sp>
        <p:nvSpPr>
          <p:cNvPr id="7" name="Rectangle 4"/>
          <p:cNvSpPr>
            <a:spLocks noChangeArrowheads="1"/>
          </p:cNvSpPr>
          <p:nvPr/>
        </p:nvSpPr>
        <p:spPr bwMode="auto">
          <a:xfrm>
            <a:off x="762000" y="228600"/>
            <a:ext cx="7772400" cy="685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/>
          <a:lstStyle>
            <a:lvl1pPr algn="ctr">
              <a:defRPr sz="4400">
                <a:solidFill>
                  <a:schemeClr val="tx2"/>
                </a:solidFill>
                <a:latin typeface="Times New Roman" pitchFamily="18" charset="0"/>
              </a:defRPr>
            </a:lvl1pPr>
            <a:lvl2pPr algn="ctr">
              <a:defRPr sz="4400">
                <a:solidFill>
                  <a:schemeClr val="tx2"/>
                </a:solidFill>
                <a:latin typeface="Times New Roman" pitchFamily="18" charset="0"/>
              </a:defRPr>
            </a:lvl2pPr>
            <a:lvl3pPr algn="ctr">
              <a:defRPr sz="4400">
                <a:solidFill>
                  <a:schemeClr val="tx2"/>
                </a:solidFill>
                <a:latin typeface="Times New Roman" pitchFamily="18" charset="0"/>
              </a:defRPr>
            </a:lvl3pPr>
            <a:lvl4pPr algn="ctr">
              <a:defRPr sz="4400">
                <a:solidFill>
                  <a:schemeClr val="tx2"/>
                </a:solidFill>
                <a:latin typeface="Times New Roman" pitchFamily="18" charset="0"/>
              </a:defRPr>
            </a:lvl4pPr>
            <a:lvl5pPr algn="ctr">
              <a:defRPr sz="4400">
                <a:solidFill>
                  <a:schemeClr val="tx2"/>
                </a:solidFill>
                <a:latin typeface="Times New Roman" pitchFamily="18" charset="0"/>
              </a:defRPr>
            </a:lvl5pPr>
            <a:lvl6pPr marL="457200" algn="ctr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imes New Roman" pitchFamily="18" charset="0"/>
              </a:defRPr>
            </a:lvl6pPr>
            <a:lvl7pPr marL="914400" algn="ctr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imes New Roman" pitchFamily="18" charset="0"/>
              </a:defRPr>
            </a:lvl7pPr>
            <a:lvl8pPr marL="1371600" algn="ctr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imes New Roman" pitchFamily="18" charset="0"/>
              </a:defRPr>
            </a:lvl8pPr>
            <a:lvl9pPr marL="1828800" algn="ctr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imes New Roman" pitchFamily="18" charset="0"/>
              </a:defRPr>
            </a:lvl9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2800" dirty="0">
                <a:solidFill>
                  <a:srgbClr val="0000FF"/>
                </a:solidFill>
                <a:latin typeface="Arial" charset="0"/>
              </a:rPr>
              <a:t>Random Forest</a:t>
            </a:r>
          </a:p>
        </p:txBody>
      </p:sp>
      <p:sp>
        <p:nvSpPr>
          <p:cNvPr id="8" name="Rectangle 5"/>
          <p:cNvSpPr>
            <a:spLocks noChangeArrowheads="1"/>
          </p:cNvSpPr>
          <p:nvPr/>
        </p:nvSpPr>
        <p:spPr bwMode="auto">
          <a:xfrm>
            <a:off x="685800" y="1219200"/>
            <a:ext cx="7543800" cy="4648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2075" tIns="46038" rIns="92075" bIns="46038"/>
          <a:lstStyle>
            <a:lvl1pPr marL="342900" indent="-34290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itchFamily="18" charset="0"/>
              </a:defRPr>
            </a:lvl2pPr>
            <a:lvl3pPr marL="108585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eaLnBrk="0" fontAlgn="base" hangingPunct="0">
              <a:spcAft>
                <a:spcPct val="0"/>
              </a:spcAft>
              <a:buClr>
                <a:srgbClr val="000000"/>
              </a:buClr>
            </a:pPr>
            <a:r>
              <a:rPr lang="en-US" altLang="en-US" sz="2400" dirty="0">
                <a:solidFill>
                  <a:srgbClr val="000000"/>
                </a:solidFill>
              </a:rPr>
              <a:t>Another solution to address the issue of </a:t>
            </a:r>
            <a:r>
              <a:rPr lang="en-US" altLang="en-US" sz="2400" dirty="0" err="1">
                <a:solidFill>
                  <a:srgbClr val="000000"/>
                </a:solidFill>
              </a:rPr>
              <a:t>overfitting</a:t>
            </a:r>
            <a:r>
              <a:rPr lang="en-US" altLang="en-US" sz="2400" dirty="0">
                <a:solidFill>
                  <a:srgbClr val="000000"/>
                </a:solidFill>
              </a:rPr>
              <a:t> when dealing with trees using bootstrapping / bagging</a:t>
            </a:r>
          </a:p>
          <a:p>
            <a:pPr eaLnBrk="0" fontAlgn="base" hangingPunct="0">
              <a:spcAft>
                <a:spcPct val="0"/>
              </a:spcAft>
              <a:buClr>
                <a:srgbClr val="000000"/>
              </a:buClr>
            </a:pPr>
            <a:r>
              <a:rPr lang="en-US" altLang="en-US" sz="2400" dirty="0">
                <a:solidFill>
                  <a:srgbClr val="000000"/>
                </a:solidFill>
              </a:rPr>
              <a:t>Data are randomly split into subsets</a:t>
            </a:r>
          </a:p>
          <a:p>
            <a:pPr eaLnBrk="0" fontAlgn="base" hangingPunct="0">
              <a:spcAft>
                <a:spcPct val="0"/>
              </a:spcAft>
              <a:buClr>
                <a:srgbClr val="000000"/>
              </a:buClr>
            </a:pPr>
            <a:r>
              <a:rPr lang="en-US" altLang="en-US" sz="2400" dirty="0">
                <a:solidFill>
                  <a:srgbClr val="000000"/>
                </a:solidFill>
              </a:rPr>
              <a:t>Random subsets of input variables are formed</a:t>
            </a:r>
          </a:p>
          <a:p>
            <a:pPr lvl="1" eaLnBrk="0" fontAlgn="base" hangingPunct="0">
              <a:spcAft>
                <a:spcPct val="0"/>
              </a:spcAft>
              <a:buClr>
                <a:srgbClr val="000000"/>
              </a:buClr>
            </a:pPr>
            <a:r>
              <a:rPr lang="en-US" altLang="en-US" sz="2000" dirty="0">
                <a:solidFill>
                  <a:srgbClr val="000000"/>
                </a:solidFill>
              </a:rPr>
              <a:t>This allows a level of variable/feature selection not available in many other machine learning models</a:t>
            </a:r>
          </a:p>
          <a:p>
            <a:pPr eaLnBrk="0" fontAlgn="base" hangingPunct="0">
              <a:spcAft>
                <a:spcPct val="0"/>
              </a:spcAft>
              <a:buClr>
                <a:srgbClr val="000000"/>
              </a:buClr>
            </a:pPr>
            <a:r>
              <a:rPr lang="en-US" altLang="en-US" sz="2400" dirty="0">
                <a:solidFill>
                  <a:srgbClr val="000000"/>
                </a:solidFill>
              </a:rPr>
              <a:t>Using subsets of data and subsets of input variables, trees are forms</a:t>
            </a:r>
          </a:p>
          <a:p>
            <a:pPr eaLnBrk="0" fontAlgn="base" hangingPunct="0">
              <a:spcAft>
                <a:spcPct val="0"/>
              </a:spcAft>
              <a:buClr>
                <a:srgbClr val="000000"/>
              </a:buClr>
            </a:pPr>
            <a:r>
              <a:rPr lang="en-US" altLang="en-US" sz="2400" dirty="0">
                <a:solidFill>
                  <a:srgbClr val="000000"/>
                </a:solidFill>
              </a:rPr>
              <a:t>Performance of these trees are tested using the data not seen by those trees</a:t>
            </a:r>
          </a:p>
          <a:p>
            <a:pPr lvl="1" eaLnBrk="0" fontAlgn="base" hangingPunct="0">
              <a:spcAft>
                <a:spcPct val="0"/>
              </a:spcAft>
              <a:buClr>
                <a:srgbClr val="000000"/>
              </a:buClr>
            </a:pPr>
            <a:r>
              <a:rPr lang="en-US" altLang="en-US" sz="2000" dirty="0">
                <a:solidFill>
                  <a:srgbClr val="000000"/>
                </a:solidFill>
              </a:rPr>
              <a:t>This is a level of validation not available in many other tree-based methods</a:t>
            </a:r>
          </a:p>
        </p:txBody>
      </p:sp>
    </p:spTree>
    <p:extLst>
      <p:ext uri="{BB962C8B-B14F-4D97-AF65-F5344CB8AC3E}">
        <p14:creationId xmlns:p14="http://schemas.microsoft.com/office/powerpoint/2010/main" val="70820394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en-US">
                <a:solidFill>
                  <a:srgbClr val="000000"/>
                </a:solidFill>
              </a:rPr>
              <a:t>2014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F28756-B31F-4EB3-9CB3-CC474DFD3A9D}" type="slidenum">
              <a:rPr lang="en-US" altLang="en-US" smtClean="0">
                <a:solidFill>
                  <a:srgbClr val="000000"/>
                </a:solidFill>
              </a:rPr>
              <a:pPr/>
              <a:t>31</a:t>
            </a:fld>
            <a:endParaRPr lang="en-US" altLang="en-US">
              <a:solidFill>
                <a:srgbClr val="000000"/>
              </a:solidFill>
            </a:endParaRPr>
          </a:p>
        </p:txBody>
      </p:sp>
      <p:sp>
        <p:nvSpPr>
          <p:cNvPr id="5" name="AutoShape 2"/>
          <p:cNvSpPr>
            <a:spLocks noChangeArrowheads="1"/>
          </p:cNvSpPr>
          <p:nvPr/>
        </p:nvSpPr>
        <p:spPr bwMode="auto">
          <a:xfrm>
            <a:off x="304800" y="152400"/>
            <a:ext cx="8610600" cy="914400"/>
          </a:xfrm>
          <a:prstGeom prst="roundRect">
            <a:avLst>
              <a:gd name="adj" fmla="val 16667"/>
            </a:avLst>
          </a:prstGeom>
          <a:solidFill>
            <a:srgbClr val="FFCCFF"/>
          </a:solidFill>
          <a:ln w="34925">
            <a:solidFill>
              <a:srgbClr val="FF3300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sz="2400">
              <a:solidFill>
                <a:srgbClr val="000000"/>
              </a:solidFill>
            </a:endParaRPr>
          </a:p>
        </p:txBody>
      </p:sp>
      <p:sp>
        <p:nvSpPr>
          <p:cNvPr id="6" name="AutoShape 3"/>
          <p:cNvSpPr>
            <a:spLocks noChangeArrowheads="1"/>
          </p:cNvSpPr>
          <p:nvPr/>
        </p:nvSpPr>
        <p:spPr bwMode="auto">
          <a:xfrm>
            <a:off x="304800" y="1143000"/>
            <a:ext cx="8610600" cy="4724400"/>
          </a:xfrm>
          <a:prstGeom prst="roundRect">
            <a:avLst>
              <a:gd name="adj" fmla="val 16667"/>
            </a:avLst>
          </a:prstGeom>
          <a:noFill/>
          <a:ln w="34925">
            <a:solidFill>
              <a:srgbClr val="FF33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sz="2400">
              <a:solidFill>
                <a:srgbClr val="000000"/>
              </a:solidFill>
            </a:endParaRPr>
          </a:p>
        </p:txBody>
      </p:sp>
      <p:sp>
        <p:nvSpPr>
          <p:cNvPr id="7" name="Rectangle 4"/>
          <p:cNvSpPr>
            <a:spLocks noChangeArrowheads="1"/>
          </p:cNvSpPr>
          <p:nvPr/>
        </p:nvSpPr>
        <p:spPr bwMode="auto">
          <a:xfrm>
            <a:off x="762000" y="228600"/>
            <a:ext cx="7772400" cy="685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/>
          <a:lstStyle>
            <a:lvl1pPr algn="ctr">
              <a:defRPr sz="4400">
                <a:solidFill>
                  <a:schemeClr val="tx2"/>
                </a:solidFill>
                <a:latin typeface="Times New Roman" pitchFamily="18" charset="0"/>
              </a:defRPr>
            </a:lvl1pPr>
            <a:lvl2pPr algn="ctr">
              <a:defRPr sz="4400">
                <a:solidFill>
                  <a:schemeClr val="tx2"/>
                </a:solidFill>
                <a:latin typeface="Times New Roman" pitchFamily="18" charset="0"/>
              </a:defRPr>
            </a:lvl2pPr>
            <a:lvl3pPr algn="ctr">
              <a:defRPr sz="4400">
                <a:solidFill>
                  <a:schemeClr val="tx2"/>
                </a:solidFill>
                <a:latin typeface="Times New Roman" pitchFamily="18" charset="0"/>
              </a:defRPr>
            </a:lvl3pPr>
            <a:lvl4pPr algn="ctr">
              <a:defRPr sz="4400">
                <a:solidFill>
                  <a:schemeClr val="tx2"/>
                </a:solidFill>
                <a:latin typeface="Times New Roman" pitchFamily="18" charset="0"/>
              </a:defRPr>
            </a:lvl4pPr>
            <a:lvl5pPr algn="ctr">
              <a:defRPr sz="4400">
                <a:solidFill>
                  <a:schemeClr val="tx2"/>
                </a:solidFill>
                <a:latin typeface="Times New Roman" pitchFamily="18" charset="0"/>
              </a:defRPr>
            </a:lvl5pPr>
            <a:lvl6pPr marL="457200" algn="ctr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imes New Roman" pitchFamily="18" charset="0"/>
              </a:defRPr>
            </a:lvl6pPr>
            <a:lvl7pPr marL="914400" algn="ctr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imes New Roman" pitchFamily="18" charset="0"/>
              </a:defRPr>
            </a:lvl7pPr>
            <a:lvl8pPr marL="1371600" algn="ctr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imes New Roman" pitchFamily="18" charset="0"/>
              </a:defRPr>
            </a:lvl8pPr>
            <a:lvl9pPr marL="1828800" algn="ctr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imes New Roman" pitchFamily="18" charset="0"/>
              </a:defRPr>
            </a:lvl9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2800" i="1" dirty="0">
                <a:solidFill>
                  <a:srgbClr val="0000FF"/>
                </a:solidFill>
                <a:latin typeface="Arial" charset="0"/>
              </a:rPr>
              <a:t>Random Forest (cont’d)</a:t>
            </a:r>
          </a:p>
        </p:txBody>
      </p:sp>
      <p:sp>
        <p:nvSpPr>
          <p:cNvPr id="8" name="Rectangle 5"/>
          <p:cNvSpPr>
            <a:spLocks noChangeArrowheads="1"/>
          </p:cNvSpPr>
          <p:nvPr/>
        </p:nvSpPr>
        <p:spPr bwMode="auto">
          <a:xfrm>
            <a:off x="685800" y="1130145"/>
            <a:ext cx="8001000" cy="4648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2075" tIns="46038" rIns="92075" bIns="46038"/>
          <a:lstStyle>
            <a:lvl1pPr marL="342900" indent="-34290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itchFamily="18" charset="0"/>
              </a:defRPr>
            </a:lvl2pPr>
            <a:lvl3pPr marL="108585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eaLnBrk="0" fontAlgn="base" hangingPunct="0">
              <a:spcAft>
                <a:spcPct val="0"/>
              </a:spcAft>
              <a:buClr>
                <a:srgbClr val="000000"/>
              </a:buClr>
            </a:pPr>
            <a:r>
              <a:rPr lang="en-US" altLang="en-US" sz="2400" dirty="0">
                <a:solidFill>
                  <a:srgbClr val="000000"/>
                </a:solidFill>
              </a:rPr>
              <a:t>Finally, the output of random forest to a new input will be the average of the output of all trees to that input</a:t>
            </a:r>
          </a:p>
          <a:p>
            <a:pPr eaLnBrk="0" fontAlgn="base" hangingPunct="0">
              <a:spcAft>
                <a:spcPct val="0"/>
              </a:spcAft>
              <a:buClr>
                <a:srgbClr val="000000"/>
              </a:buClr>
            </a:pPr>
            <a:r>
              <a:rPr lang="en-US" altLang="en-US" sz="2400" dirty="0">
                <a:solidFill>
                  <a:srgbClr val="000000"/>
                </a:solidFill>
              </a:rPr>
              <a:t>Random forest is known to have good accuracy without serious </a:t>
            </a:r>
            <a:r>
              <a:rPr lang="en-US" altLang="en-US" sz="2400" dirty="0" err="1">
                <a:solidFill>
                  <a:srgbClr val="000000"/>
                </a:solidFill>
              </a:rPr>
              <a:t>overfitting</a:t>
            </a:r>
            <a:endParaRPr lang="en-US" altLang="en-US" sz="2400" dirty="0">
              <a:solidFill>
                <a:srgbClr val="000000"/>
              </a:solidFill>
            </a:endParaRPr>
          </a:p>
          <a:p>
            <a:pPr eaLnBrk="0" fontAlgn="base" hangingPunct="0">
              <a:spcAft>
                <a:spcPct val="0"/>
              </a:spcAft>
              <a:buClr>
                <a:srgbClr val="000000"/>
              </a:buClr>
            </a:pPr>
            <a:r>
              <a:rPr lang="en-US" altLang="en-US" sz="2400" dirty="0">
                <a:solidFill>
                  <a:srgbClr val="000000"/>
                </a:solidFill>
              </a:rPr>
              <a:t>Also, it is one of the fastest machine learning methods given its desirable performance</a:t>
            </a:r>
          </a:p>
          <a:p>
            <a:pPr eaLnBrk="0" fontAlgn="base" hangingPunct="0">
              <a:spcAft>
                <a:spcPct val="0"/>
              </a:spcAft>
              <a:buClr>
                <a:srgbClr val="000000"/>
              </a:buClr>
            </a:pPr>
            <a:r>
              <a:rPr lang="en-US" altLang="en-US" sz="2400" dirty="0">
                <a:solidFill>
                  <a:srgbClr val="000000"/>
                </a:solidFill>
              </a:rPr>
              <a:t>Furthermore, since a level of feature selection is conducted by Random Forest, it may be applied to some datasets large number of input features without feature selection</a:t>
            </a:r>
          </a:p>
          <a:p>
            <a:pPr eaLnBrk="0" fontAlgn="base" hangingPunct="0">
              <a:spcAft>
                <a:spcPct val="0"/>
              </a:spcAft>
              <a:buClr>
                <a:srgbClr val="000000"/>
              </a:buClr>
            </a:pPr>
            <a:r>
              <a:rPr lang="en-US" altLang="en-US" sz="2400" dirty="0">
                <a:solidFill>
                  <a:srgbClr val="000000"/>
                </a:solidFill>
              </a:rPr>
              <a:t>It was shown, at least in some microarray based studies, that on average Random Forest might produce the best results for bioinformatics applications</a:t>
            </a:r>
            <a:endParaRPr lang="en-US" altLang="en-US" sz="2000" dirty="0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70820394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en-US">
                <a:solidFill>
                  <a:srgbClr val="000000"/>
                </a:solidFill>
              </a:rPr>
              <a:t>2014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F28756-B31F-4EB3-9CB3-CC474DFD3A9D}" type="slidenum">
              <a:rPr lang="en-US" altLang="en-US" smtClean="0">
                <a:solidFill>
                  <a:srgbClr val="000000"/>
                </a:solidFill>
              </a:rPr>
              <a:pPr/>
              <a:t>32</a:t>
            </a:fld>
            <a:endParaRPr lang="en-US" altLang="en-US">
              <a:solidFill>
                <a:srgbClr val="000000"/>
              </a:solidFill>
            </a:endParaRPr>
          </a:p>
        </p:txBody>
      </p:sp>
      <p:sp>
        <p:nvSpPr>
          <p:cNvPr id="5" name="AutoShape 2"/>
          <p:cNvSpPr>
            <a:spLocks noChangeArrowheads="1"/>
          </p:cNvSpPr>
          <p:nvPr/>
        </p:nvSpPr>
        <p:spPr bwMode="auto">
          <a:xfrm>
            <a:off x="304800" y="152400"/>
            <a:ext cx="8610600" cy="914400"/>
          </a:xfrm>
          <a:prstGeom prst="roundRect">
            <a:avLst>
              <a:gd name="adj" fmla="val 16667"/>
            </a:avLst>
          </a:prstGeom>
          <a:solidFill>
            <a:srgbClr val="FFCCFF"/>
          </a:solidFill>
          <a:ln w="34925">
            <a:solidFill>
              <a:srgbClr val="FF3300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sz="2400">
              <a:solidFill>
                <a:srgbClr val="000000"/>
              </a:solidFill>
            </a:endParaRPr>
          </a:p>
        </p:txBody>
      </p:sp>
      <p:sp>
        <p:nvSpPr>
          <p:cNvPr id="6" name="AutoShape 3"/>
          <p:cNvSpPr>
            <a:spLocks noChangeArrowheads="1"/>
          </p:cNvSpPr>
          <p:nvPr/>
        </p:nvSpPr>
        <p:spPr bwMode="auto">
          <a:xfrm>
            <a:off x="304800" y="1143000"/>
            <a:ext cx="8610600" cy="4724400"/>
          </a:xfrm>
          <a:prstGeom prst="roundRect">
            <a:avLst>
              <a:gd name="adj" fmla="val 16667"/>
            </a:avLst>
          </a:prstGeom>
          <a:noFill/>
          <a:ln w="34925">
            <a:solidFill>
              <a:srgbClr val="FF33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sz="2400">
              <a:solidFill>
                <a:srgbClr val="000000"/>
              </a:solidFill>
            </a:endParaRPr>
          </a:p>
        </p:txBody>
      </p:sp>
      <p:sp>
        <p:nvSpPr>
          <p:cNvPr id="7" name="Rectangle 4"/>
          <p:cNvSpPr>
            <a:spLocks noChangeArrowheads="1"/>
          </p:cNvSpPr>
          <p:nvPr/>
        </p:nvSpPr>
        <p:spPr bwMode="auto">
          <a:xfrm>
            <a:off x="762000" y="228600"/>
            <a:ext cx="7772400" cy="685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/>
          <a:lstStyle>
            <a:lvl1pPr algn="ctr">
              <a:defRPr sz="4400">
                <a:solidFill>
                  <a:schemeClr val="tx2"/>
                </a:solidFill>
                <a:latin typeface="Times New Roman" pitchFamily="18" charset="0"/>
              </a:defRPr>
            </a:lvl1pPr>
            <a:lvl2pPr algn="ctr">
              <a:defRPr sz="4400">
                <a:solidFill>
                  <a:schemeClr val="tx2"/>
                </a:solidFill>
                <a:latin typeface="Times New Roman" pitchFamily="18" charset="0"/>
              </a:defRPr>
            </a:lvl2pPr>
            <a:lvl3pPr algn="ctr">
              <a:defRPr sz="4400">
                <a:solidFill>
                  <a:schemeClr val="tx2"/>
                </a:solidFill>
                <a:latin typeface="Times New Roman" pitchFamily="18" charset="0"/>
              </a:defRPr>
            </a:lvl3pPr>
            <a:lvl4pPr algn="ctr">
              <a:defRPr sz="4400">
                <a:solidFill>
                  <a:schemeClr val="tx2"/>
                </a:solidFill>
                <a:latin typeface="Times New Roman" pitchFamily="18" charset="0"/>
              </a:defRPr>
            </a:lvl4pPr>
            <a:lvl5pPr algn="ctr">
              <a:defRPr sz="4400">
                <a:solidFill>
                  <a:schemeClr val="tx2"/>
                </a:solidFill>
                <a:latin typeface="Times New Roman" pitchFamily="18" charset="0"/>
              </a:defRPr>
            </a:lvl5pPr>
            <a:lvl6pPr marL="457200" algn="ctr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imes New Roman" pitchFamily="18" charset="0"/>
              </a:defRPr>
            </a:lvl6pPr>
            <a:lvl7pPr marL="914400" algn="ctr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imes New Roman" pitchFamily="18" charset="0"/>
              </a:defRPr>
            </a:lvl7pPr>
            <a:lvl8pPr marL="1371600" algn="ctr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imes New Roman" pitchFamily="18" charset="0"/>
              </a:defRPr>
            </a:lvl8pPr>
            <a:lvl9pPr marL="1828800" algn="ctr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imes New Roman" pitchFamily="18" charset="0"/>
              </a:defRPr>
            </a:lvl9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2800" dirty="0">
                <a:solidFill>
                  <a:srgbClr val="0000FF"/>
                </a:solidFill>
                <a:latin typeface="Arial" charset="0"/>
              </a:rPr>
              <a:t>Testing and Validation of Machine Learning Models</a:t>
            </a:r>
          </a:p>
        </p:txBody>
      </p:sp>
      <p:sp>
        <p:nvSpPr>
          <p:cNvPr id="8" name="Rectangle 5"/>
          <p:cNvSpPr>
            <a:spLocks noChangeArrowheads="1"/>
          </p:cNvSpPr>
          <p:nvPr/>
        </p:nvSpPr>
        <p:spPr bwMode="auto">
          <a:xfrm>
            <a:off x="685800" y="1130145"/>
            <a:ext cx="8001000" cy="4648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2075" tIns="46038" rIns="92075" bIns="46038"/>
          <a:lstStyle>
            <a:lvl1pPr marL="342900" indent="-34290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itchFamily="18" charset="0"/>
              </a:defRPr>
            </a:lvl2pPr>
            <a:lvl3pPr marL="108585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eaLnBrk="0" fontAlgn="base" hangingPunct="0">
              <a:spcAft>
                <a:spcPct val="0"/>
              </a:spcAft>
              <a:buClr>
                <a:srgbClr val="000000"/>
              </a:buClr>
            </a:pPr>
            <a:r>
              <a:rPr lang="en-US" altLang="en-US" sz="2400" dirty="0">
                <a:solidFill>
                  <a:srgbClr val="000000"/>
                </a:solidFill>
              </a:rPr>
              <a:t>There are two main approaches:</a:t>
            </a:r>
          </a:p>
          <a:p>
            <a:pPr marL="857250" lvl="1" indent="-457200" eaLnBrk="0" fontAlgn="base" hangingPunct="0">
              <a:spcAft>
                <a:spcPct val="0"/>
              </a:spcAft>
              <a:buClr>
                <a:srgbClr val="000000"/>
              </a:buClr>
              <a:buFont typeface="+mj-lt"/>
              <a:buAutoNum type="arabicPeriod"/>
            </a:pPr>
            <a:r>
              <a:rPr lang="en-US" altLang="en-US" sz="1800" dirty="0">
                <a:solidFill>
                  <a:srgbClr val="000000"/>
                </a:solidFill>
              </a:rPr>
              <a:t>Training-testing: Randomly divide data into training and testing sets, and test the performance on the testing data.</a:t>
            </a:r>
          </a:p>
          <a:p>
            <a:pPr marL="857250" lvl="1" indent="-457200" eaLnBrk="0" fontAlgn="base" hangingPunct="0">
              <a:spcAft>
                <a:spcPct val="0"/>
              </a:spcAft>
              <a:buClr>
                <a:srgbClr val="000000"/>
              </a:buClr>
              <a:buFont typeface="+mj-lt"/>
              <a:buAutoNum type="arabicPeriod"/>
            </a:pPr>
            <a:endParaRPr lang="en-US" altLang="en-US" sz="1800" dirty="0">
              <a:solidFill>
                <a:srgbClr val="000000"/>
              </a:solidFill>
            </a:endParaRPr>
          </a:p>
          <a:p>
            <a:pPr marL="857250" lvl="1" indent="-457200" eaLnBrk="0" fontAlgn="base" hangingPunct="0">
              <a:spcAft>
                <a:spcPct val="0"/>
              </a:spcAft>
              <a:buClr>
                <a:srgbClr val="000000"/>
              </a:buClr>
              <a:buFont typeface="+mj-lt"/>
              <a:buAutoNum type="arabicPeriod"/>
            </a:pPr>
            <a:endParaRPr lang="en-US" altLang="en-US" sz="1800" dirty="0">
              <a:solidFill>
                <a:srgbClr val="000000"/>
              </a:solidFill>
            </a:endParaRPr>
          </a:p>
          <a:p>
            <a:pPr marL="857250" lvl="1" indent="-457200" eaLnBrk="0" fontAlgn="base" hangingPunct="0">
              <a:spcAft>
                <a:spcPct val="0"/>
              </a:spcAft>
              <a:buClr>
                <a:srgbClr val="000000"/>
              </a:buClr>
              <a:buFont typeface="+mj-lt"/>
              <a:buAutoNum type="arabicPeriod"/>
            </a:pPr>
            <a:endParaRPr lang="en-US" altLang="en-US" sz="1800" dirty="0">
              <a:solidFill>
                <a:srgbClr val="000000"/>
              </a:solidFill>
            </a:endParaRPr>
          </a:p>
          <a:p>
            <a:pPr marL="857250" lvl="1" indent="-457200" eaLnBrk="0" fontAlgn="base" hangingPunct="0">
              <a:spcAft>
                <a:spcPct val="0"/>
              </a:spcAft>
              <a:buClr>
                <a:srgbClr val="000000"/>
              </a:buClr>
              <a:buFont typeface="+mj-lt"/>
              <a:buAutoNum type="arabicPeriod"/>
            </a:pPr>
            <a:endParaRPr lang="en-US" altLang="en-US" sz="1800" dirty="0">
              <a:solidFill>
                <a:srgbClr val="000000"/>
              </a:solidFill>
            </a:endParaRPr>
          </a:p>
          <a:p>
            <a:pPr marL="857250" lvl="1" indent="-457200" eaLnBrk="0" fontAlgn="base" hangingPunct="0">
              <a:spcAft>
                <a:spcPct val="0"/>
              </a:spcAft>
              <a:buClr>
                <a:srgbClr val="000000"/>
              </a:buClr>
              <a:buFont typeface="+mj-lt"/>
              <a:buAutoNum type="arabicPeriod"/>
            </a:pPr>
            <a:endParaRPr lang="en-US" altLang="en-US" sz="1800" dirty="0">
              <a:solidFill>
                <a:srgbClr val="000000"/>
              </a:solidFill>
            </a:endParaRPr>
          </a:p>
          <a:p>
            <a:pPr marL="857250" lvl="1" indent="-457200" eaLnBrk="0" fontAlgn="base" hangingPunct="0">
              <a:spcAft>
                <a:spcPct val="0"/>
              </a:spcAft>
              <a:buClr>
                <a:srgbClr val="000000"/>
              </a:buClr>
              <a:buFont typeface="+mj-lt"/>
              <a:buAutoNum type="arabicPeriod"/>
            </a:pPr>
            <a:endParaRPr lang="en-US" altLang="en-US" sz="1800" dirty="0">
              <a:solidFill>
                <a:srgbClr val="000000"/>
              </a:solidFill>
            </a:endParaRPr>
          </a:p>
          <a:p>
            <a:pPr marL="857250" lvl="1" indent="-457200" eaLnBrk="0" fontAlgn="base" hangingPunct="0">
              <a:spcAft>
                <a:spcPct val="0"/>
              </a:spcAft>
              <a:buClr>
                <a:srgbClr val="000000"/>
              </a:buClr>
              <a:buFont typeface="+mj-lt"/>
              <a:buAutoNum type="arabicPeriod"/>
            </a:pPr>
            <a:r>
              <a:rPr lang="en-US" altLang="en-US" sz="1800" i="1" dirty="0">
                <a:solidFill>
                  <a:srgbClr val="000000"/>
                </a:solidFill>
              </a:rPr>
              <a:t>n</a:t>
            </a:r>
            <a:r>
              <a:rPr lang="en-US" altLang="en-US" sz="1800" dirty="0">
                <a:solidFill>
                  <a:srgbClr val="000000"/>
                </a:solidFill>
              </a:rPr>
              <a:t>-fold cross validation: Randomly divide data into </a:t>
            </a:r>
            <a:r>
              <a:rPr lang="en-US" altLang="en-US" sz="1800" i="1" dirty="0">
                <a:solidFill>
                  <a:srgbClr val="000000"/>
                </a:solidFill>
              </a:rPr>
              <a:t>n</a:t>
            </a:r>
            <a:r>
              <a:rPr lang="en-US" altLang="en-US" sz="1800" dirty="0">
                <a:solidFill>
                  <a:srgbClr val="000000"/>
                </a:solidFill>
              </a:rPr>
              <a:t> folds (often </a:t>
            </a:r>
            <a:r>
              <a:rPr lang="en-US" altLang="en-US" sz="1800" i="1" dirty="0">
                <a:solidFill>
                  <a:srgbClr val="000000"/>
                </a:solidFill>
              </a:rPr>
              <a:t>n</a:t>
            </a:r>
            <a:r>
              <a:rPr lang="en-US" altLang="en-US" sz="1800" dirty="0">
                <a:solidFill>
                  <a:srgbClr val="000000"/>
                </a:solidFill>
              </a:rPr>
              <a:t>=10) and in a “round-robin” like approach, train the model using </a:t>
            </a:r>
            <a:r>
              <a:rPr lang="en-US" altLang="en-US" sz="1800" i="1" dirty="0">
                <a:solidFill>
                  <a:srgbClr val="000000"/>
                </a:solidFill>
              </a:rPr>
              <a:t>n</a:t>
            </a:r>
            <a:r>
              <a:rPr lang="en-US" altLang="en-US" sz="1800" dirty="0">
                <a:solidFill>
                  <a:srgbClr val="000000"/>
                </a:solidFill>
              </a:rPr>
              <a:t>-1 folds and test on the </a:t>
            </a:r>
            <a:r>
              <a:rPr lang="en-US" altLang="en-US" sz="1800" i="1" dirty="0">
                <a:solidFill>
                  <a:srgbClr val="000000"/>
                </a:solidFill>
              </a:rPr>
              <a:t>n</a:t>
            </a:r>
            <a:r>
              <a:rPr lang="en-US" altLang="en-US" sz="1800" dirty="0">
                <a:solidFill>
                  <a:srgbClr val="000000"/>
                </a:solidFill>
              </a:rPr>
              <a:t>th. The average the performance over all n trained models. </a:t>
            </a:r>
          </a:p>
        </p:txBody>
      </p:sp>
      <p:sp>
        <p:nvSpPr>
          <p:cNvPr id="9" name="Rectangle 8"/>
          <p:cNvSpPr/>
          <p:nvPr/>
        </p:nvSpPr>
        <p:spPr bwMode="auto">
          <a:xfrm>
            <a:off x="2438400" y="3124200"/>
            <a:ext cx="1600200" cy="609600"/>
          </a:xfrm>
          <a:prstGeom prst="rect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</a:rPr>
              <a:t>Training</a:t>
            </a:r>
          </a:p>
        </p:txBody>
      </p:sp>
      <p:sp>
        <p:nvSpPr>
          <p:cNvPr id="10" name="Rectangle 9"/>
          <p:cNvSpPr/>
          <p:nvPr/>
        </p:nvSpPr>
        <p:spPr bwMode="auto">
          <a:xfrm>
            <a:off x="4038600" y="3124200"/>
            <a:ext cx="1600200" cy="609600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</a:rPr>
              <a:t>Validation / Tune-up</a:t>
            </a:r>
          </a:p>
        </p:txBody>
      </p:sp>
      <p:sp>
        <p:nvSpPr>
          <p:cNvPr id="11" name="Rectangle 10"/>
          <p:cNvSpPr/>
          <p:nvPr/>
        </p:nvSpPr>
        <p:spPr bwMode="auto">
          <a:xfrm>
            <a:off x="2438400" y="2286000"/>
            <a:ext cx="3276600" cy="609600"/>
          </a:xfrm>
          <a:prstGeom prst="rect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</a:rPr>
              <a:t>Training</a:t>
            </a:r>
          </a:p>
        </p:txBody>
      </p:sp>
      <p:sp>
        <p:nvSpPr>
          <p:cNvPr id="12" name="Rectangle 11"/>
          <p:cNvSpPr/>
          <p:nvPr/>
        </p:nvSpPr>
        <p:spPr bwMode="auto">
          <a:xfrm>
            <a:off x="5715000" y="2286000"/>
            <a:ext cx="1600200" cy="609600"/>
          </a:xfrm>
          <a:prstGeom prst="rect">
            <a:avLst/>
          </a:prstGeom>
          <a:solidFill>
            <a:srgbClr val="FF00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</a:rPr>
              <a:t>Testing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2286000"/>
            <a:ext cx="147348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One approach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4400" y="3048000"/>
            <a:ext cx="147348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Another approach</a:t>
            </a:r>
          </a:p>
        </p:txBody>
      </p:sp>
      <p:sp>
        <p:nvSpPr>
          <p:cNvPr id="15" name="Rectangle 14"/>
          <p:cNvSpPr/>
          <p:nvPr/>
        </p:nvSpPr>
        <p:spPr bwMode="auto">
          <a:xfrm>
            <a:off x="5638800" y="3124200"/>
            <a:ext cx="1676400" cy="609600"/>
          </a:xfrm>
          <a:prstGeom prst="rect">
            <a:avLst/>
          </a:prstGeom>
          <a:solidFill>
            <a:srgbClr val="FF00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</a:rPr>
              <a:t>Testing</a:t>
            </a:r>
          </a:p>
        </p:txBody>
      </p:sp>
      <p:sp>
        <p:nvSpPr>
          <p:cNvPr id="16" name="Rectangle 15"/>
          <p:cNvSpPr/>
          <p:nvPr/>
        </p:nvSpPr>
        <p:spPr bwMode="auto">
          <a:xfrm>
            <a:off x="1415668" y="5105400"/>
            <a:ext cx="381000" cy="609600"/>
          </a:xfrm>
          <a:prstGeom prst="rect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</a:endParaRPr>
          </a:p>
        </p:txBody>
      </p:sp>
      <p:sp>
        <p:nvSpPr>
          <p:cNvPr id="17" name="Rectangle 16"/>
          <p:cNvSpPr/>
          <p:nvPr/>
        </p:nvSpPr>
        <p:spPr bwMode="auto">
          <a:xfrm>
            <a:off x="1807685" y="5105400"/>
            <a:ext cx="381000" cy="609600"/>
          </a:xfrm>
          <a:prstGeom prst="rect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</a:endParaRPr>
          </a:p>
        </p:txBody>
      </p:sp>
      <p:sp>
        <p:nvSpPr>
          <p:cNvPr id="18" name="Rectangle 17"/>
          <p:cNvSpPr/>
          <p:nvPr/>
        </p:nvSpPr>
        <p:spPr bwMode="auto">
          <a:xfrm>
            <a:off x="2188685" y="5105400"/>
            <a:ext cx="381000" cy="609600"/>
          </a:xfrm>
          <a:prstGeom prst="rect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762000" y="5181600"/>
            <a:ext cx="54534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i="1" dirty="0"/>
              <a:t>n</a:t>
            </a:r>
            <a:r>
              <a:rPr lang="en-US" dirty="0"/>
              <a:t>=4</a:t>
            </a:r>
          </a:p>
        </p:txBody>
      </p:sp>
      <p:sp>
        <p:nvSpPr>
          <p:cNvPr id="20" name="Rectangle 19"/>
          <p:cNvSpPr/>
          <p:nvPr/>
        </p:nvSpPr>
        <p:spPr bwMode="auto">
          <a:xfrm>
            <a:off x="2580702" y="5105400"/>
            <a:ext cx="381000" cy="609600"/>
          </a:xfrm>
          <a:prstGeom prst="rect">
            <a:avLst/>
          </a:prstGeom>
          <a:solidFill>
            <a:srgbClr val="FF00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</a:endParaRPr>
          </a:p>
        </p:txBody>
      </p:sp>
      <p:sp>
        <p:nvSpPr>
          <p:cNvPr id="24" name="Rectangle 23"/>
          <p:cNvSpPr/>
          <p:nvPr/>
        </p:nvSpPr>
        <p:spPr bwMode="auto">
          <a:xfrm>
            <a:off x="3168268" y="5105400"/>
            <a:ext cx="381000" cy="609600"/>
          </a:xfrm>
          <a:prstGeom prst="rect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</a:endParaRPr>
          </a:p>
        </p:txBody>
      </p:sp>
      <p:sp>
        <p:nvSpPr>
          <p:cNvPr id="25" name="Rectangle 24"/>
          <p:cNvSpPr/>
          <p:nvPr/>
        </p:nvSpPr>
        <p:spPr bwMode="auto">
          <a:xfrm>
            <a:off x="3560285" y="5105400"/>
            <a:ext cx="381000" cy="609600"/>
          </a:xfrm>
          <a:prstGeom prst="rect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</a:endParaRPr>
          </a:p>
        </p:txBody>
      </p:sp>
      <p:sp>
        <p:nvSpPr>
          <p:cNvPr id="26" name="Rectangle 25"/>
          <p:cNvSpPr/>
          <p:nvPr/>
        </p:nvSpPr>
        <p:spPr bwMode="auto">
          <a:xfrm>
            <a:off x="3941285" y="5105400"/>
            <a:ext cx="381000" cy="609600"/>
          </a:xfrm>
          <a:prstGeom prst="rect">
            <a:avLst/>
          </a:prstGeom>
          <a:solidFill>
            <a:srgbClr val="FF00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b="0" i="0" u="none" strike="noStrike" cap="none" normalizeH="0" baseline="0" dirty="0">
              <a:ln>
                <a:noFill/>
              </a:ln>
              <a:solidFill>
                <a:srgbClr val="FF0000"/>
              </a:solidFill>
              <a:effectLst/>
              <a:latin typeface="Times New Roman" pitchFamily="18" charset="0"/>
            </a:endParaRPr>
          </a:p>
        </p:txBody>
      </p:sp>
      <p:sp>
        <p:nvSpPr>
          <p:cNvPr id="27" name="Rectangle 26"/>
          <p:cNvSpPr/>
          <p:nvPr/>
        </p:nvSpPr>
        <p:spPr bwMode="auto">
          <a:xfrm>
            <a:off x="4333302" y="5105400"/>
            <a:ext cx="381000" cy="609600"/>
          </a:xfrm>
          <a:prstGeom prst="rect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</a:endParaRPr>
          </a:p>
        </p:txBody>
      </p:sp>
      <p:sp>
        <p:nvSpPr>
          <p:cNvPr id="28" name="Rectangle 27"/>
          <p:cNvSpPr/>
          <p:nvPr/>
        </p:nvSpPr>
        <p:spPr bwMode="auto">
          <a:xfrm>
            <a:off x="4931885" y="5105400"/>
            <a:ext cx="381000" cy="609600"/>
          </a:xfrm>
          <a:prstGeom prst="rect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</a:endParaRPr>
          </a:p>
        </p:txBody>
      </p:sp>
      <p:sp>
        <p:nvSpPr>
          <p:cNvPr id="29" name="Rectangle 28"/>
          <p:cNvSpPr/>
          <p:nvPr/>
        </p:nvSpPr>
        <p:spPr bwMode="auto">
          <a:xfrm>
            <a:off x="5312885" y="5105400"/>
            <a:ext cx="381000" cy="609600"/>
          </a:xfrm>
          <a:prstGeom prst="rect">
            <a:avLst/>
          </a:prstGeom>
          <a:solidFill>
            <a:srgbClr val="FF00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</a:endParaRPr>
          </a:p>
        </p:txBody>
      </p:sp>
      <p:sp>
        <p:nvSpPr>
          <p:cNvPr id="30" name="Rectangle 29"/>
          <p:cNvSpPr/>
          <p:nvPr/>
        </p:nvSpPr>
        <p:spPr bwMode="auto">
          <a:xfrm>
            <a:off x="5693885" y="5105400"/>
            <a:ext cx="381000" cy="609600"/>
          </a:xfrm>
          <a:prstGeom prst="rect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</a:endParaRPr>
          </a:p>
        </p:txBody>
      </p:sp>
      <p:sp>
        <p:nvSpPr>
          <p:cNvPr id="31" name="Rectangle 30"/>
          <p:cNvSpPr/>
          <p:nvPr/>
        </p:nvSpPr>
        <p:spPr bwMode="auto">
          <a:xfrm>
            <a:off x="6085902" y="5105400"/>
            <a:ext cx="381000" cy="609600"/>
          </a:xfrm>
          <a:prstGeom prst="rect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</a:endParaRPr>
          </a:p>
        </p:txBody>
      </p:sp>
      <p:sp>
        <p:nvSpPr>
          <p:cNvPr id="32" name="Rectangle 31"/>
          <p:cNvSpPr/>
          <p:nvPr/>
        </p:nvSpPr>
        <p:spPr bwMode="auto">
          <a:xfrm>
            <a:off x="6673468" y="5105400"/>
            <a:ext cx="381000" cy="609600"/>
          </a:xfrm>
          <a:prstGeom prst="rect">
            <a:avLst/>
          </a:prstGeom>
          <a:solidFill>
            <a:srgbClr val="FF00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</a:endParaRPr>
          </a:p>
        </p:txBody>
      </p:sp>
      <p:sp>
        <p:nvSpPr>
          <p:cNvPr id="33" name="Rectangle 32"/>
          <p:cNvSpPr/>
          <p:nvPr/>
        </p:nvSpPr>
        <p:spPr bwMode="auto">
          <a:xfrm>
            <a:off x="7065485" y="5105400"/>
            <a:ext cx="381000" cy="609600"/>
          </a:xfrm>
          <a:prstGeom prst="rect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</a:endParaRPr>
          </a:p>
        </p:txBody>
      </p:sp>
      <p:sp>
        <p:nvSpPr>
          <p:cNvPr id="34" name="Rectangle 33"/>
          <p:cNvSpPr/>
          <p:nvPr/>
        </p:nvSpPr>
        <p:spPr bwMode="auto">
          <a:xfrm>
            <a:off x="7446485" y="5105400"/>
            <a:ext cx="381000" cy="609600"/>
          </a:xfrm>
          <a:prstGeom prst="rect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</a:endParaRPr>
          </a:p>
        </p:txBody>
      </p:sp>
      <p:sp>
        <p:nvSpPr>
          <p:cNvPr id="35" name="Rectangle 34"/>
          <p:cNvSpPr/>
          <p:nvPr/>
        </p:nvSpPr>
        <p:spPr bwMode="auto">
          <a:xfrm>
            <a:off x="7838502" y="5105400"/>
            <a:ext cx="381000" cy="609600"/>
          </a:xfrm>
          <a:prstGeom prst="rect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0820394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en-US">
                <a:solidFill>
                  <a:srgbClr val="000000"/>
                </a:solidFill>
              </a:rPr>
              <a:t>2014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F28756-B31F-4EB3-9CB3-CC474DFD3A9D}" type="slidenum">
              <a:rPr lang="en-US" altLang="en-US" smtClean="0">
                <a:solidFill>
                  <a:srgbClr val="000000"/>
                </a:solidFill>
              </a:rPr>
              <a:pPr/>
              <a:t>33</a:t>
            </a:fld>
            <a:endParaRPr lang="en-US" altLang="en-US" dirty="0">
              <a:solidFill>
                <a:srgbClr val="000000"/>
              </a:solidFill>
            </a:endParaRPr>
          </a:p>
        </p:txBody>
      </p:sp>
      <p:sp>
        <p:nvSpPr>
          <p:cNvPr id="5" name="AutoShape 2"/>
          <p:cNvSpPr>
            <a:spLocks noChangeArrowheads="1"/>
          </p:cNvSpPr>
          <p:nvPr/>
        </p:nvSpPr>
        <p:spPr bwMode="auto">
          <a:xfrm>
            <a:off x="304800" y="152400"/>
            <a:ext cx="8610600" cy="914400"/>
          </a:xfrm>
          <a:prstGeom prst="roundRect">
            <a:avLst>
              <a:gd name="adj" fmla="val 16667"/>
            </a:avLst>
          </a:prstGeom>
          <a:solidFill>
            <a:srgbClr val="FFCCFF"/>
          </a:solidFill>
          <a:ln w="34925">
            <a:solidFill>
              <a:srgbClr val="FF3300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sz="2400">
              <a:solidFill>
                <a:srgbClr val="000000"/>
              </a:solidFill>
            </a:endParaRPr>
          </a:p>
        </p:txBody>
      </p:sp>
      <p:sp>
        <p:nvSpPr>
          <p:cNvPr id="6" name="AutoShape 3"/>
          <p:cNvSpPr>
            <a:spLocks noChangeArrowheads="1"/>
          </p:cNvSpPr>
          <p:nvPr/>
        </p:nvSpPr>
        <p:spPr bwMode="auto">
          <a:xfrm>
            <a:off x="304800" y="1143000"/>
            <a:ext cx="8610600" cy="4724400"/>
          </a:xfrm>
          <a:prstGeom prst="roundRect">
            <a:avLst>
              <a:gd name="adj" fmla="val 16667"/>
            </a:avLst>
          </a:prstGeom>
          <a:noFill/>
          <a:ln w="34925">
            <a:solidFill>
              <a:srgbClr val="FF33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sz="2400">
              <a:solidFill>
                <a:srgbClr val="000000"/>
              </a:solidFill>
            </a:endParaRPr>
          </a:p>
        </p:txBody>
      </p:sp>
      <p:sp>
        <p:nvSpPr>
          <p:cNvPr id="7" name="Rectangle 4"/>
          <p:cNvSpPr>
            <a:spLocks noChangeArrowheads="1"/>
          </p:cNvSpPr>
          <p:nvPr/>
        </p:nvSpPr>
        <p:spPr bwMode="auto">
          <a:xfrm>
            <a:off x="762000" y="228600"/>
            <a:ext cx="7772400" cy="685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/>
          <a:lstStyle>
            <a:lvl1pPr algn="ctr">
              <a:defRPr sz="4400">
                <a:solidFill>
                  <a:schemeClr val="tx2"/>
                </a:solidFill>
                <a:latin typeface="Times New Roman" pitchFamily="18" charset="0"/>
              </a:defRPr>
            </a:lvl1pPr>
            <a:lvl2pPr algn="ctr">
              <a:defRPr sz="4400">
                <a:solidFill>
                  <a:schemeClr val="tx2"/>
                </a:solidFill>
                <a:latin typeface="Times New Roman" pitchFamily="18" charset="0"/>
              </a:defRPr>
            </a:lvl2pPr>
            <a:lvl3pPr algn="ctr">
              <a:defRPr sz="4400">
                <a:solidFill>
                  <a:schemeClr val="tx2"/>
                </a:solidFill>
                <a:latin typeface="Times New Roman" pitchFamily="18" charset="0"/>
              </a:defRPr>
            </a:lvl3pPr>
            <a:lvl4pPr algn="ctr">
              <a:defRPr sz="4400">
                <a:solidFill>
                  <a:schemeClr val="tx2"/>
                </a:solidFill>
                <a:latin typeface="Times New Roman" pitchFamily="18" charset="0"/>
              </a:defRPr>
            </a:lvl4pPr>
            <a:lvl5pPr algn="ctr">
              <a:defRPr sz="4400">
                <a:solidFill>
                  <a:schemeClr val="tx2"/>
                </a:solidFill>
                <a:latin typeface="Times New Roman" pitchFamily="18" charset="0"/>
              </a:defRPr>
            </a:lvl5pPr>
            <a:lvl6pPr marL="457200" algn="ctr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imes New Roman" pitchFamily="18" charset="0"/>
              </a:defRPr>
            </a:lvl6pPr>
            <a:lvl7pPr marL="914400" algn="ctr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imes New Roman" pitchFamily="18" charset="0"/>
              </a:defRPr>
            </a:lvl7pPr>
            <a:lvl8pPr marL="1371600" algn="ctr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imes New Roman" pitchFamily="18" charset="0"/>
              </a:defRPr>
            </a:lvl8pPr>
            <a:lvl9pPr marL="1828800" algn="ctr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imes New Roman" pitchFamily="18" charset="0"/>
              </a:defRPr>
            </a:lvl9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2800" i="1" dirty="0">
                <a:solidFill>
                  <a:srgbClr val="0000FF"/>
                </a:solidFill>
                <a:latin typeface="Arial" charset="0"/>
              </a:rPr>
              <a:t>Testing and Validation of Machine Learning Models (cont’d)</a:t>
            </a:r>
          </a:p>
        </p:txBody>
      </p:sp>
      <p:sp>
        <p:nvSpPr>
          <p:cNvPr id="8" name="Rectangle 5"/>
          <p:cNvSpPr>
            <a:spLocks noChangeArrowheads="1"/>
          </p:cNvSpPr>
          <p:nvPr/>
        </p:nvSpPr>
        <p:spPr bwMode="auto">
          <a:xfrm>
            <a:off x="685800" y="1130145"/>
            <a:ext cx="8001000" cy="4648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2075" tIns="46038" rIns="92075" bIns="46038"/>
          <a:lstStyle>
            <a:lvl1pPr marL="342900" indent="-34290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itchFamily="18" charset="0"/>
              </a:defRPr>
            </a:lvl2pPr>
            <a:lvl3pPr marL="108585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marL="857250" lvl="1" indent="-457200" eaLnBrk="0" fontAlgn="base" hangingPunct="0">
              <a:spcAft>
                <a:spcPct val="0"/>
              </a:spcAft>
              <a:buClr>
                <a:srgbClr val="000000"/>
              </a:buClr>
            </a:pPr>
            <a:r>
              <a:rPr lang="en-US" altLang="en-US" sz="2000" dirty="0">
                <a:solidFill>
                  <a:srgbClr val="000000"/>
                </a:solidFill>
              </a:rPr>
              <a:t>An extreme but special case of </a:t>
            </a:r>
            <a:r>
              <a:rPr lang="en-US" altLang="en-US" sz="2000" i="1" dirty="0">
                <a:solidFill>
                  <a:srgbClr val="000000"/>
                </a:solidFill>
              </a:rPr>
              <a:t>n</a:t>
            </a:r>
            <a:r>
              <a:rPr lang="en-US" altLang="en-US" sz="2000" dirty="0">
                <a:solidFill>
                  <a:srgbClr val="000000"/>
                </a:solidFill>
              </a:rPr>
              <a:t>-fold cross validation is called “leave-one-out” in which for each of the round-robin attempts, all but one example is training and that example is used for testing </a:t>
            </a:r>
          </a:p>
          <a:p>
            <a:pPr marL="857250" lvl="1" indent="-457200" eaLnBrk="0" fontAlgn="base" hangingPunct="0">
              <a:spcAft>
                <a:spcPct val="0"/>
              </a:spcAft>
              <a:buClr>
                <a:srgbClr val="000000"/>
              </a:buClr>
            </a:pPr>
            <a:r>
              <a:rPr lang="en-US" altLang="en-US" sz="2000" dirty="0">
                <a:solidFill>
                  <a:srgbClr val="000000"/>
                </a:solidFill>
              </a:rPr>
              <a:t>If the number of examples is small, leave-one-out is a reasonable option; if not, </a:t>
            </a:r>
            <a:r>
              <a:rPr lang="en-US" altLang="en-US" sz="2000" i="1" dirty="0">
                <a:solidFill>
                  <a:srgbClr val="000000"/>
                </a:solidFill>
              </a:rPr>
              <a:t>n</a:t>
            </a:r>
            <a:r>
              <a:rPr lang="en-US" altLang="en-US" sz="2000" dirty="0">
                <a:solidFill>
                  <a:srgbClr val="000000"/>
                </a:solidFill>
              </a:rPr>
              <a:t>-fold cross validation is preferred because it is less likely to </a:t>
            </a:r>
            <a:r>
              <a:rPr lang="en-US" altLang="en-US" sz="2000" dirty="0" err="1">
                <a:solidFill>
                  <a:srgbClr val="000000"/>
                </a:solidFill>
              </a:rPr>
              <a:t>overfit</a:t>
            </a:r>
            <a:r>
              <a:rPr lang="en-US" altLang="en-US" sz="2000" dirty="0">
                <a:solidFill>
                  <a:srgbClr val="000000"/>
                </a:solidFill>
              </a:rPr>
              <a:t> the data</a:t>
            </a:r>
          </a:p>
          <a:p>
            <a:pPr marL="457200" indent="-457200" eaLnBrk="0" fontAlgn="base" hangingPunct="0">
              <a:spcAft>
                <a:spcPct val="0"/>
              </a:spcAft>
              <a:buClr>
                <a:srgbClr val="000000"/>
              </a:buClr>
            </a:pPr>
            <a:r>
              <a:rPr lang="en-US" altLang="en-US" sz="2400" dirty="0">
                <a:solidFill>
                  <a:srgbClr val="000000"/>
                </a:solidFill>
              </a:rPr>
              <a:t>Performance measures</a:t>
            </a:r>
          </a:p>
          <a:p>
            <a:pPr marL="857250" lvl="1" indent="-457200" eaLnBrk="0" fontAlgn="base" hangingPunct="0">
              <a:spcAft>
                <a:spcPct val="0"/>
              </a:spcAft>
              <a:buClr>
                <a:srgbClr val="000000"/>
              </a:buClr>
            </a:pPr>
            <a:r>
              <a:rPr lang="en-US" altLang="en-US" sz="1800" dirty="0">
                <a:solidFill>
                  <a:srgbClr val="000000"/>
                </a:solidFill>
              </a:rPr>
              <a:t>Regardless of specific approach used for testing and validation, some popular measures are used for evaluating the goodness of classification</a:t>
            </a:r>
          </a:p>
          <a:p>
            <a:pPr marL="857250" lvl="1" indent="-457200" eaLnBrk="0" fontAlgn="base" hangingPunct="0">
              <a:spcAft>
                <a:spcPct val="0"/>
              </a:spcAft>
              <a:buClr>
                <a:srgbClr val="000000"/>
              </a:buClr>
            </a:pPr>
            <a:r>
              <a:rPr lang="en-US" altLang="en-US" sz="1800" dirty="0">
                <a:solidFill>
                  <a:srgbClr val="000000"/>
                </a:solidFill>
              </a:rPr>
              <a:t>These measures are evaluated based on “confusion matrix”</a:t>
            </a:r>
          </a:p>
          <a:p>
            <a:pPr marL="857250" lvl="1" indent="-457200" eaLnBrk="0" fontAlgn="base" hangingPunct="0">
              <a:spcAft>
                <a:spcPct val="0"/>
              </a:spcAft>
              <a:buClr>
                <a:srgbClr val="000000"/>
              </a:buClr>
            </a:pPr>
            <a:r>
              <a:rPr lang="en-US" altLang="en-US" sz="1800" dirty="0">
                <a:solidFill>
                  <a:srgbClr val="000000"/>
                </a:solidFill>
              </a:rPr>
              <a:t>When diagonal elements are large,</a:t>
            </a:r>
          </a:p>
          <a:p>
            <a:pPr marL="857250" lvl="1" indent="-457200" eaLnBrk="0" fontAlgn="base" hangingPunct="0">
              <a:spcAft>
                <a:spcPct val="0"/>
              </a:spcAft>
              <a:buClr>
                <a:srgbClr val="000000"/>
              </a:buClr>
              <a:buNone/>
            </a:pPr>
            <a:r>
              <a:rPr lang="en-US" altLang="en-US" sz="1800" dirty="0">
                <a:solidFill>
                  <a:srgbClr val="000000"/>
                </a:solidFill>
              </a:rPr>
              <a:t>	and others are small,</a:t>
            </a:r>
          </a:p>
          <a:p>
            <a:pPr marL="857250" lvl="1" indent="-457200" eaLnBrk="0" fontAlgn="base" hangingPunct="0">
              <a:spcAft>
                <a:spcPct val="0"/>
              </a:spcAft>
              <a:buClr>
                <a:srgbClr val="000000"/>
              </a:buClr>
              <a:buNone/>
            </a:pPr>
            <a:r>
              <a:rPr lang="en-US" altLang="en-US" sz="1800" dirty="0">
                <a:solidFill>
                  <a:srgbClr val="000000"/>
                </a:solidFill>
              </a:rPr>
              <a:t>	life is beautiful!</a:t>
            </a:r>
          </a:p>
        </p:txBody>
      </p:sp>
      <p:cxnSp>
        <p:nvCxnSpPr>
          <p:cNvPr id="37" name="Straight Connector 36"/>
          <p:cNvCxnSpPr/>
          <p:nvPr/>
        </p:nvCxnSpPr>
        <p:spPr bwMode="auto">
          <a:xfrm>
            <a:off x="5715000" y="4648200"/>
            <a:ext cx="0" cy="1066800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39" name="Straight Connector 38"/>
          <p:cNvCxnSpPr/>
          <p:nvPr/>
        </p:nvCxnSpPr>
        <p:spPr bwMode="auto">
          <a:xfrm>
            <a:off x="4191000" y="4876800"/>
            <a:ext cx="4646406" cy="21115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40" name="TextBox 39"/>
          <p:cNvSpPr txBox="1"/>
          <p:nvPr/>
        </p:nvSpPr>
        <p:spPr>
          <a:xfrm>
            <a:off x="7467600" y="4495800"/>
            <a:ext cx="1423788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/>
              <a:t>Class Negative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5867400" y="4495800"/>
            <a:ext cx="1345240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/>
              <a:t>Class Positive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3810000" y="5334000"/>
            <a:ext cx="1978427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/>
              <a:t>Predicted as Negative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3886200" y="4876800"/>
            <a:ext cx="1899879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/>
              <a:t>Predicted as Positive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5791200" y="4876800"/>
            <a:ext cx="1280287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/>
              <a:t>True Positive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7467600" y="5257800"/>
            <a:ext cx="1358834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/>
              <a:t>True Negative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7467600" y="4876800"/>
            <a:ext cx="1334020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/>
              <a:t>False Positive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5791200" y="5257800"/>
            <a:ext cx="1412566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/>
              <a:t>False Negative</a:t>
            </a:r>
          </a:p>
        </p:txBody>
      </p:sp>
    </p:spTree>
    <p:extLst>
      <p:ext uri="{BB962C8B-B14F-4D97-AF65-F5344CB8AC3E}">
        <p14:creationId xmlns:p14="http://schemas.microsoft.com/office/powerpoint/2010/main" val="70820394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en-US">
                <a:solidFill>
                  <a:srgbClr val="000000"/>
                </a:solidFill>
              </a:rPr>
              <a:t>2014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F28756-B31F-4EB3-9CB3-CC474DFD3A9D}" type="slidenum">
              <a:rPr lang="en-US" altLang="en-US" smtClean="0">
                <a:solidFill>
                  <a:srgbClr val="000000"/>
                </a:solidFill>
              </a:rPr>
              <a:pPr/>
              <a:t>34</a:t>
            </a:fld>
            <a:endParaRPr lang="en-US" altLang="en-US" dirty="0">
              <a:solidFill>
                <a:srgbClr val="000000"/>
              </a:solidFill>
            </a:endParaRPr>
          </a:p>
        </p:txBody>
      </p:sp>
      <p:sp>
        <p:nvSpPr>
          <p:cNvPr id="5" name="AutoShape 2"/>
          <p:cNvSpPr>
            <a:spLocks noChangeArrowheads="1"/>
          </p:cNvSpPr>
          <p:nvPr/>
        </p:nvSpPr>
        <p:spPr bwMode="auto">
          <a:xfrm>
            <a:off x="304800" y="152400"/>
            <a:ext cx="8610600" cy="914400"/>
          </a:xfrm>
          <a:prstGeom prst="roundRect">
            <a:avLst>
              <a:gd name="adj" fmla="val 16667"/>
            </a:avLst>
          </a:prstGeom>
          <a:solidFill>
            <a:srgbClr val="FFCCFF"/>
          </a:solidFill>
          <a:ln w="34925">
            <a:solidFill>
              <a:srgbClr val="FF3300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sz="2400">
              <a:solidFill>
                <a:srgbClr val="000000"/>
              </a:solidFill>
            </a:endParaRPr>
          </a:p>
        </p:txBody>
      </p:sp>
      <p:sp>
        <p:nvSpPr>
          <p:cNvPr id="6" name="AutoShape 3"/>
          <p:cNvSpPr>
            <a:spLocks noChangeArrowheads="1"/>
          </p:cNvSpPr>
          <p:nvPr/>
        </p:nvSpPr>
        <p:spPr bwMode="auto">
          <a:xfrm>
            <a:off x="304800" y="1143000"/>
            <a:ext cx="8610600" cy="4724400"/>
          </a:xfrm>
          <a:prstGeom prst="roundRect">
            <a:avLst>
              <a:gd name="adj" fmla="val 16667"/>
            </a:avLst>
          </a:prstGeom>
          <a:noFill/>
          <a:ln w="34925">
            <a:solidFill>
              <a:srgbClr val="FF33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sz="2400">
              <a:solidFill>
                <a:srgbClr val="000000"/>
              </a:solidFill>
            </a:endParaRPr>
          </a:p>
        </p:txBody>
      </p:sp>
      <p:sp>
        <p:nvSpPr>
          <p:cNvPr id="7" name="Rectangle 4"/>
          <p:cNvSpPr>
            <a:spLocks noChangeArrowheads="1"/>
          </p:cNvSpPr>
          <p:nvPr/>
        </p:nvSpPr>
        <p:spPr bwMode="auto">
          <a:xfrm>
            <a:off x="762000" y="228600"/>
            <a:ext cx="7772400" cy="685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/>
          <a:lstStyle>
            <a:lvl1pPr algn="ctr">
              <a:defRPr sz="4400">
                <a:solidFill>
                  <a:schemeClr val="tx2"/>
                </a:solidFill>
                <a:latin typeface="Times New Roman" pitchFamily="18" charset="0"/>
              </a:defRPr>
            </a:lvl1pPr>
            <a:lvl2pPr algn="ctr">
              <a:defRPr sz="4400">
                <a:solidFill>
                  <a:schemeClr val="tx2"/>
                </a:solidFill>
                <a:latin typeface="Times New Roman" pitchFamily="18" charset="0"/>
              </a:defRPr>
            </a:lvl2pPr>
            <a:lvl3pPr algn="ctr">
              <a:defRPr sz="4400">
                <a:solidFill>
                  <a:schemeClr val="tx2"/>
                </a:solidFill>
                <a:latin typeface="Times New Roman" pitchFamily="18" charset="0"/>
              </a:defRPr>
            </a:lvl3pPr>
            <a:lvl4pPr algn="ctr">
              <a:defRPr sz="4400">
                <a:solidFill>
                  <a:schemeClr val="tx2"/>
                </a:solidFill>
                <a:latin typeface="Times New Roman" pitchFamily="18" charset="0"/>
              </a:defRPr>
            </a:lvl4pPr>
            <a:lvl5pPr algn="ctr">
              <a:defRPr sz="4400">
                <a:solidFill>
                  <a:schemeClr val="tx2"/>
                </a:solidFill>
                <a:latin typeface="Times New Roman" pitchFamily="18" charset="0"/>
              </a:defRPr>
            </a:lvl5pPr>
            <a:lvl6pPr marL="457200" algn="ctr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imes New Roman" pitchFamily="18" charset="0"/>
              </a:defRPr>
            </a:lvl6pPr>
            <a:lvl7pPr marL="914400" algn="ctr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imes New Roman" pitchFamily="18" charset="0"/>
              </a:defRPr>
            </a:lvl7pPr>
            <a:lvl8pPr marL="1371600" algn="ctr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imes New Roman" pitchFamily="18" charset="0"/>
              </a:defRPr>
            </a:lvl8pPr>
            <a:lvl9pPr marL="1828800" algn="ctr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imes New Roman" pitchFamily="18" charset="0"/>
              </a:defRPr>
            </a:lvl9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2800" i="1" dirty="0">
                <a:solidFill>
                  <a:srgbClr val="0000FF"/>
                </a:solidFill>
                <a:latin typeface="Arial" charset="0"/>
              </a:rPr>
              <a:t>Testing and Validation of Machine Learning Models (cont’d)</a:t>
            </a:r>
          </a:p>
        </p:txBody>
      </p:sp>
      <p:sp>
        <p:nvSpPr>
          <p:cNvPr id="8" name="Rectangle 5"/>
          <p:cNvSpPr>
            <a:spLocks noChangeArrowheads="1"/>
          </p:cNvSpPr>
          <p:nvPr/>
        </p:nvSpPr>
        <p:spPr bwMode="auto">
          <a:xfrm>
            <a:off x="685800" y="1130145"/>
            <a:ext cx="8001000" cy="4648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2075" tIns="46038" rIns="92075" bIns="46038"/>
          <a:lstStyle>
            <a:lvl1pPr marL="342900" indent="-34290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itchFamily="18" charset="0"/>
              </a:defRPr>
            </a:lvl2pPr>
            <a:lvl3pPr marL="108585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marL="857250" lvl="1" indent="-457200" eaLnBrk="0" fontAlgn="base" hangingPunct="0">
              <a:spcAft>
                <a:spcPct val="0"/>
              </a:spcAft>
              <a:buClr>
                <a:srgbClr val="000000"/>
              </a:buClr>
            </a:pPr>
            <a:r>
              <a:rPr lang="en-US" altLang="en-US" sz="2000" dirty="0">
                <a:solidFill>
                  <a:srgbClr val="000000"/>
                </a:solidFill>
              </a:rPr>
              <a:t>Some important measures based on confusion matrix:</a:t>
            </a:r>
          </a:p>
          <a:p>
            <a:pPr marL="857250" lvl="1" indent="-457200" eaLnBrk="0" fontAlgn="base" hangingPunct="0">
              <a:spcAft>
                <a:spcPct val="0"/>
              </a:spcAft>
              <a:buClr>
                <a:srgbClr val="000000"/>
              </a:buClr>
            </a:pPr>
            <a:endParaRPr lang="en-US" altLang="en-US" sz="2000" dirty="0">
              <a:solidFill>
                <a:srgbClr val="000000"/>
              </a:solidFill>
            </a:endParaRPr>
          </a:p>
          <a:p>
            <a:pPr marL="857250" lvl="1" indent="-457200" eaLnBrk="0" fontAlgn="base" hangingPunct="0">
              <a:spcAft>
                <a:spcPct val="0"/>
              </a:spcAft>
              <a:buClr>
                <a:srgbClr val="000000"/>
              </a:buClr>
            </a:pPr>
            <a:endParaRPr lang="en-US" altLang="en-US" sz="2000" dirty="0">
              <a:solidFill>
                <a:srgbClr val="000000"/>
              </a:solidFill>
            </a:endParaRPr>
          </a:p>
          <a:p>
            <a:pPr marL="857250" lvl="1" indent="-457200" eaLnBrk="0" fontAlgn="base" hangingPunct="0">
              <a:spcAft>
                <a:spcPct val="0"/>
              </a:spcAft>
              <a:buClr>
                <a:srgbClr val="000000"/>
              </a:buClr>
            </a:pPr>
            <a:endParaRPr lang="en-US" altLang="en-US" sz="2000" dirty="0">
              <a:solidFill>
                <a:srgbClr val="000000"/>
              </a:solidFill>
            </a:endParaRPr>
          </a:p>
          <a:p>
            <a:pPr marL="857250" lvl="1" indent="-457200" eaLnBrk="0" fontAlgn="base" hangingPunct="0">
              <a:spcAft>
                <a:spcPct val="0"/>
              </a:spcAft>
              <a:buClr>
                <a:srgbClr val="000000"/>
              </a:buClr>
            </a:pPr>
            <a:endParaRPr lang="en-US" altLang="en-US" sz="2000" dirty="0">
              <a:solidFill>
                <a:srgbClr val="000000"/>
              </a:solidFill>
            </a:endParaRPr>
          </a:p>
          <a:p>
            <a:pPr marL="857250" lvl="1" indent="-457200" eaLnBrk="0" fontAlgn="base" hangingPunct="0">
              <a:spcAft>
                <a:spcPct val="0"/>
              </a:spcAft>
              <a:buClr>
                <a:srgbClr val="000000"/>
              </a:buClr>
            </a:pPr>
            <a:endParaRPr lang="en-US" altLang="en-US" sz="2000" dirty="0">
              <a:solidFill>
                <a:srgbClr val="000000"/>
              </a:solidFill>
            </a:endParaRPr>
          </a:p>
          <a:p>
            <a:pPr marL="857250" lvl="1" indent="-457200" eaLnBrk="0" fontAlgn="base" hangingPunct="0">
              <a:spcAft>
                <a:spcPct val="0"/>
              </a:spcAft>
              <a:buClr>
                <a:srgbClr val="000000"/>
              </a:buClr>
            </a:pPr>
            <a:endParaRPr lang="en-US" altLang="en-US" sz="2000" dirty="0">
              <a:solidFill>
                <a:srgbClr val="000000"/>
              </a:solidFill>
            </a:endParaRPr>
          </a:p>
          <a:p>
            <a:pPr marL="857250" lvl="1" indent="-457200" eaLnBrk="0" fontAlgn="base" hangingPunct="0">
              <a:spcAft>
                <a:spcPct val="0"/>
              </a:spcAft>
              <a:buClr>
                <a:srgbClr val="000000"/>
              </a:buClr>
            </a:pPr>
            <a:endParaRPr lang="en-US" altLang="en-US" sz="2000" dirty="0">
              <a:solidFill>
                <a:srgbClr val="000000"/>
              </a:solidFill>
            </a:endParaRPr>
          </a:p>
        </p:txBody>
      </p:sp>
      <p:graphicFrame>
        <p:nvGraphicFramePr>
          <p:cNvPr id="20" name="Object 19"/>
          <p:cNvGraphicFramePr>
            <a:graphicFrameLocks noChangeAspect="1"/>
          </p:cNvGraphicFramePr>
          <p:nvPr/>
        </p:nvGraphicFramePr>
        <p:xfrm>
          <a:off x="1066800" y="2438400"/>
          <a:ext cx="6942138" cy="520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5626100" imgH="431800" progId="Equation.3">
                  <p:embed/>
                </p:oleObj>
              </mc:Choice>
              <mc:Fallback>
                <p:oleObj name="Equation" r:id="rId2" imgW="5626100" imgH="431800" progId="Equation.3">
                  <p:embed/>
                  <p:pic>
                    <p:nvPicPr>
                      <p:cNvPr id="0" name="Picture 1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066800" y="2438400"/>
                        <a:ext cx="6942138" cy="5207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7108" name="Object 4"/>
          <p:cNvGraphicFramePr>
            <a:graphicFrameLocks noChangeAspect="1"/>
          </p:cNvGraphicFramePr>
          <p:nvPr/>
        </p:nvGraphicFramePr>
        <p:xfrm>
          <a:off x="2286000" y="3124200"/>
          <a:ext cx="4625975" cy="520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3835400" imgH="431800" progId="Equation.3">
                  <p:embed/>
                </p:oleObj>
              </mc:Choice>
              <mc:Fallback>
                <p:oleObj name="Equation" r:id="rId4" imgW="3835400" imgH="431800" progId="Equation.3">
                  <p:embed/>
                  <p:pic>
                    <p:nvPicPr>
                      <p:cNvPr id="0" name="Picture 1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86000" y="3124200"/>
                        <a:ext cx="4625975" cy="5207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7109" name="Object 5"/>
          <p:cNvGraphicFramePr>
            <a:graphicFrameLocks noChangeAspect="1"/>
          </p:cNvGraphicFramePr>
          <p:nvPr/>
        </p:nvGraphicFramePr>
        <p:xfrm>
          <a:off x="1265238" y="1676400"/>
          <a:ext cx="7064375" cy="520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5854700" imgH="431800" progId="Equation.3">
                  <p:embed/>
                </p:oleObj>
              </mc:Choice>
              <mc:Fallback>
                <p:oleObj name="Equation" r:id="rId6" imgW="5854700" imgH="431800" progId="Equation.3">
                  <p:embed/>
                  <p:pic>
                    <p:nvPicPr>
                      <p:cNvPr id="0" name="Picture 1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265238" y="1676400"/>
                        <a:ext cx="7064375" cy="5207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7110" name="Object 6"/>
          <p:cNvGraphicFramePr>
            <a:graphicFrameLocks noChangeAspect="1"/>
          </p:cNvGraphicFramePr>
          <p:nvPr/>
        </p:nvGraphicFramePr>
        <p:xfrm>
          <a:off x="1219200" y="3886200"/>
          <a:ext cx="6981825" cy="520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8" imgW="5791200" imgH="431800" progId="Equation.3">
                  <p:embed/>
                </p:oleObj>
              </mc:Choice>
              <mc:Fallback>
                <p:oleObj name="Equation" r:id="rId8" imgW="5791200" imgH="431800" progId="Equation.3">
                  <p:embed/>
                  <p:pic>
                    <p:nvPicPr>
                      <p:cNvPr id="0" name="Picture 1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219200" y="3886200"/>
                        <a:ext cx="6981825" cy="5207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7111" name="Object 7"/>
          <p:cNvGraphicFramePr>
            <a:graphicFrameLocks noChangeAspect="1"/>
          </p:cNvGraphicFramePr>
          <p:nvPr/>
        </p:nvGraphicFramePr>
        <p:xfrm>
          <a:off x="1371600" y="4724400"/>
          <a:ext cx="6605588" cy="520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0" imgW="5473700" imgH="431800" progId="Equation.3">
                  <p:embed/>
                </p:oleObj>
              </mc:Choice>
              <mc:Fallback>
                <p:oleObj name="Equation" r:id="rId10" imgW="5473700" imgH="431800" progId="Equation.3">
                  <p:embed/>
                  <p:pic>
                    <p:nvPicPr>
                      <p:cNvPr id="0" name="Picture 1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371600" y="4724400"/>
                        <a:ext cx="6605588" cy="5207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70820394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en-US">
                <a:solidFill>
                  <a:srgbClr val="000000"/>
                </a:solidFill>
              </a:rPr>
              <a:t>2014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F28756-B31F-4EB3-9CB3-CC474DFD3A9D}" type="slidenum">
              <a:rPr lang="en-US" altLang="en-US" smtClean="0">
                <a:solidFill>
                  <a:srgbClr val="000000"/>
                </a:solidFill>
              </a:rPr>
              <a:pPr/>
              <a:t>35</a:t>
            </a:fld>
            <a:endParaRPr lang="en-US" altLang="en-US" dirty="0">
              <a:solidFill>
                <a:srgbClr val="000000"/>
              </a:solidFill>
            </a:endParaRPr>
          </a:p>
        </p:txBody>
      </p:sp>
      <p:sp>
        <p:nvSpPr>
          <p:cNvPr id="5" name="AutoShape 2"/>
          <p:cNvSpPr>
            <a:spLocks noChangeArrowheads="1"/>
          </p:cNvSpPr>
          <p:nvPr/>
        </p:nvSpPr>
        <p:spPr bwMode="auto">
          <a:xfrm>
            <a:off x="304800" y="152400"/>
            <a:ext cx="8610600" cy="914400"/>
          </a:xfrm>
          <a:prstGeom prst="roundRect">
            <a:avLst>
              <a:gd name="adj" fmla="val 16667"/>
            </a:avLst>
          </a:prstGeom>
          <a:solidFill>
            <a:srgbClr val="FFCCFF"/>
          </a:solidFill>
          <a:ln w="34925">
            <a:solidFill>
              <a:srgbClr val="FF3300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sz="2400">
              <a:solidFill>
                <a:srgbClr val="000000"/>
              </a:solidFill>
            </a:endParaRPr>
          </a:p>
        </p:txBody>
      </p:sp>
      <p:sp>
        <p:nvSpPr>
          <p:cNvPr id="6" name="AutoShape 3"/>
          <p:cNvSpPr>
            <a:spLocks noChangeArrowheads="1"/>
          </p:cNvSpPr>
          <p:nvPr/>
        </p:nvSpPr>
        <p:spPr bwMode="auto">
          <a:xfrm>
            <a:off x="304800" y="1143000"/>
            <a:ext cx="8610600" cy="4724400"/>
          </a:xfrm>
          <a:prstGeom prst="roundRect">
            <a:avLst>
              <a:gd name="adj" fmla="val 16667"/>
            </a:avLst>
          </a:prstGeom>
          <a:noFill/>
          <a:ln w="34925">
            <a:solidFill>
              <a:srgbClr val="FF33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sz="2400">
              <a:solidFill>
                <a:srgbClr val="000000"/>
              </a:solidFill>
            </a:endParaRPr>
          </a:p>
        </p:txBody>
      </p:sp>
      <p:sp>
        <p:nvSpPr>
          <p:cNvPr id="7" name="Rectangle 4"/>
          <p:cNvSpPr>
            <a:spLocks noChangeArrowheads="1"/>
          </p:cNvSpPr>
          <p:nvPr/>
        </p:nvSpPr>
        <p:spPr bwMode="auto">
          <a:xfrm>
            <a:off x="762000" y="228600"/>
            <a:ext cx="7772400" cy="685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/>
          <a:lstStyle>
            <a:lvl1pPr algn="ctr">
              <a:defRPr sz="4400">
                <a:solidFill>
                  <a:schemeClr val="tx2"/>
                </a:solidFill>
                <a:latin typeface="Times New Roman" pitchFamily="18" charset="0"/>
              </a:defRPr>
            </a:lvl1pPr>
            <a:lvl2pPr algn="ctr">
              <a:defRPr sz="4400">
                <a:solidFill>
                  <a:schemeClr val="tx2"/>
                </a:solidFill>
                <a:latin typeface="Times New Roman" pitchFamily="18" charset="0"/>
              </a:defRPr>
            </a:lvl2pPr>
            <a:lvl3pPr algn="ctr">
              <a:defRPr sz="4400">
                <a:solidFill>
                  <a:schemeClr val="tx2"/>
                </a:solidFill>
                <a:latin typeface="Times New Roman" pitchFamily="18" charset="0"/>
              </a:defRPr>
            </a:lvl3pPr>
            <a:lvl4pPr algn="ctr">
              <a:defRPr sz="4400">
                <a:solidFill>
                  <a:schemeClr val="tx2"/>
                </a:solidFill>
                <a:latin typeface="Times New Roman" pitchFamily="18" charset="0"/>
              </a:defRPr>
            </a:lvl4pPr>
            <a:lvl5pPr algn="ctr">
              <a:defRPr sz="4400">
                <a:solidFill>
                  <a:schemeClr val="tx2"/>
                </a:solidFill>
                <a:latin typeface="Times New Roman" pitchFamily="18" charset="0"/>
              </a:defRPr>
            </a:lvl5pPr>
            <a:lvl6pPr marL="457200" algn="ctr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imes New Roman" pitchFamily="18" charset="0"/>
              </a:defRPr>
            </a:lvl6pPr>
            <a:lvl7pPr marL="914400" algn="ctr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imes New Roman" pitchFamily="18" charset="0"/>
              </a:defRPr>
            </a:lvl7pPr>
            <a:lvl8pPr marL="1371600" algn="ctr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imes New Roman" pitchFamily="18" charset="0"/>
              </a:defRPr>
            </a:lvl8pPr>
            <a:lvl9pPr marL="1828800" algn="ctr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imes New Roman" pitchFamily="18" charset="0"/>
              </a:defRPr>
            </a:lvl9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2800" i="1" dirty="0">
                <a:solidFill>
                  <a:srgbClr val="0000FF"/>
                </a:solidFill>
                <a:latin typeface="Arial" charset="0"/>
              </a:rPr>
              <a:t>Testing and Validation of Machine Learning Models (cont’d)</a:t>
            </a:r>
          </a:p>
        </p:txBody>
      </p:sp>
      <p:sp>
        <p:nvSpPr>
          <p:cNvPr id="8" name="Rectangle 5"/>
          <p:cNvSpPr>
            <a:spLocks noChangeArrowheads="1"/>
          </p:cNvSpPr>
          <p:nvPr/>
        </p:nvSpPr>
        <p:spPr bwMode="auto">
          <a:xfrm>
            <a:off x="685800" y="1130145"/>
            <a:ext cx="8001000" cy="4648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2075" tIns="46038" rIns="92075" bIns="46038"/>
          <a:lstStyle>
            <a:lvl1pPr marL="342900" indent="-34290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itchFamily="18" charset="0"/>
              </a:defRPr>
            </a:lvl2pPr>
            <a:lvl3pPr marL="108585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marL="857250" lvl="1" indent="-457200" eaLnBrk="0" fontAlgn="base" hangingPunct="0">
              <a:spcAft>
                <a:spcPct val="0"/>
              </a:spcAft>
              <a:buClr>
                <a:srgbClr val="000000"/>
              </a:buClr>
            </a:pPr>
            <a:r>
              <a:rPr lang="en-US" altLang="en-US" sz="2000" dirty="0">
                <a:solidFill>
                  <a:srgbClr val="000000"/>
                </a:solidFill>
              </a:rPr>
              <a:t>For about the same accuracy, machine learning classes can be trained to have a different balance between true sensitivity and specificity; or equivalently the balance between false positive rate (FPR) and true positive rate (TPR)</a:t>
            </a:r>
          </a:p>
          <a:p>
            <a:pPr marL="1200150" lvl="2" indent="-457200" eaLnBrk="0" fontAlgn="base" hangingPunct="0">
              <a:spcAft>
                <a:spcPct val="0"/>
              </a:spcAft>
              <a:buClr>
                <a:srgbClr val="000000"/>
              </a:buClr>
            </a:pPr>
            <a:r>
              <a:rPr lang="en-US" altLang="en-US" sz="1600" dirty="0">
                <a:solidFill>
                  <a:srgbClr val="000000"/>
                </a:solidFill>
              </a:rPr>
              <a:t>Remember: FPR=1-Specificity      &amp;       TPR = Sensitivity</a:t>
            </a:r>
          </a:p>
          <a:p>
            <a:pPr marL="857250" lvl="1" indent="-457200" eaLnBrk="0" fontAlgn="base" hangingPunct="0">
              <a:spcAft>
                <a:spcPct val="0"/>
              </a:spcAft>
              <a:buClr>
                <a:srgbClr val="000000"/>
              </a:buClr>
            </a:pPr>
            <a:r>
              <a:rPr lang="en-US" sz="2000" dirty="0"/>
              <a:t>Receiver operating characteristic </a:t>
            </a:r>
            <a:r>
              <a:rPr lang="en-US" altLang="en-US" sz="2000" dirty="0">
                <a:solidFill>
                  <a:srgbClr val="000000"/>
                </a:solidFill>
              </a:rPr>
              <a:t>(ROC) curve is measure to show the trade-off between FPR and TPR</a:t>
            </a:r>
          </a:p>
          <a:p>
            <a:pPr marL="1200150" lvl="2" indent="-457200" eaLnBrk="0" fontAlgn="base" hangingPunct="0">
              <a:spcAft>
                <a:spcPct val="0"/>
              </a:spcAft>
              <a:buClr>
                <a:srgbClr val="000000"/>
              </a:buClr>
            </a:pPr>
            <a:r>
              <a:rPr lang="en-US" altLang="en-US" sz="1600" dirty="0">
                <a:solidFill>
                  <a:srgbClr val="000000"/>
                </a:solidFill>
              </a:rPr>
              <a:t>Different threshold values or weighting on </a:t>
            </a:r>
          </a:p>
          <a:p>
            <a:pPr marL="1200150" lvl="2" indent="-457200" eaLnBrk="0" fontAlgn="base" hangingPunct="0">
              <a:spcAft>
                <a:spcPct val="0"/>
              </a:spcAft>
              <a:buClr>
                <a:srgbClr val="000000"/>
              </a:buClr>
              <a:buNone/>
            </a:pPr>
            <a:r>
              <a:rPr lang="en-US" altLang="en-US" sz="1600" dirty="0">
                <a:solidFill>
                  <a:srgbClr val="000000"/>
                </a:solidFill>
              </a:rPr>
              <a:t>	cost functions are used to generate points in ROC</a:t>
            </a:r>
          </a:p>
          <a:p>
            <a:pPr marL="1200150" lvl="2" indent="-457200" eaLnBrk="0" fontAlgn="base" hangingPunct="0">
              <a:spcAft>
                <a:spcPct val="0"/>
              </a:spcAft>
              <a:buClr>
                <a:srgbClr val="000000"/>
              </a:buClr>
            </a:pPr>
            <a:r>
              <a:rPr lang="en-US" altLang="en-US" sz="1600" dirty="0">
                <a:solidFill>
                  <a:srgbClr val="000000"/>
                </a:solidFill>
              </a:rPr>
              <a:t>A good ROC is the one that rises early so that high </a:t>
            </a:r>
          </a:p>
          <a:p>
            <a:pPr marL="1200150" lvl="2" indent="-457200" eaLnBrk="0" fontAlgn="base" hangingPunct="0">
              <a:spcAft>
                <a:spcPct val="0"/>
              </a:spcAft>
              <a:buClr>
                <a:srgbClr val="000000"/>
              </a:buClr>
              <a:buNone/>
            </a:pPr>
            <a:r>
              <a:rPr lang="en-US" altLang="en-US" sz="1600" dirty="0">
                <a:solidFill>
                  <a:srgbClr val="000000"/>
                </a:solidFill>
              </a:rPr>
              <a:t>	sensitivity and specificity are achieved at the same time</a:t>
            </a:r>
            <a:endParaRPr lang="en-US" altLang="en-US" sz="2000" dirty="0">
              <a:solidFill>
                <a:srgbClr val="000000"/>
              </a:solidFill>
            </a:endParaRPr>
          </a:p>
          <a:p>
            <a:pPr marL="857250" lvl="1" indent="-457200" eaLnBrk="0" fontAlgn="base" hangingPunct="0">
              <a:spcAft>
                <a:spcPct val="0"/>
              </a:spcAft>
              <a:buClr>
                <a:srgbClr val="000000"/>
              </a:buClr>
            </a:pPr>
            <a:r>
              <a:rPr lang="en-US" altLang="en-US" sz="2000" dirty="0">
                <a:solidFill>
                  <a:srgbClr val="000000"/>
                </a:solidFill>
              </a:rPr>
              <a:t>Area Under Curve (AUC) of ROC</a:t>
            </a:r>
          </a:p>
          <a:p>
            <a:pPr marL="1200150" lvl="2" indent="-457200" eaLnBrk="0" fontAlgn="base" hangingPunct="0">
              <a:spcAft>
                <a:spcPct val="0"/>
              </a:spcAft>
              <a:buClr>
                <a:srgbClr val="000000"/>
              </a:buClr>
            </a:pPr>
            <a:r>
              <a:rPr lang="en-US" altLang="en-US" sz="1600" dirty="0">
                <a:solidFill>
                  <a:srgbClr val="000000"/>
                </a:solidFill>
              </a:rPr>
              <a:t>A measure of how fast ROC rises and how soon a good balance point between specificity and sensitivity is achieved </a:t>
            </a:r>
          </a:p>
        </p:txBody>
      </p:sp>
      <p:cxnSp>
        <p:nvCxnSpPr>
          <p:cNvPr id="25" name="Straight Arrow Connector 24"/>
          <p:cNvCxnSpPr/>
          <p:nvPr/>
        </p:nvCxnSpPr>
        <p:spPr bwMode="auto">
          <a:xfrm flipV="1">
            <a:off x="7010400" y="3352800"/>
            <a:ext cx="0" cy="1066800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arrow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27" name="Straight Arrow Connector 26"/>
          <p:cNvCxnSpPr/>
          <p:nvPr/>
        </p:nvCxnSpPr>
        <p:spPr bwMode="auto">
          <a:xfrm>
            <a:off x="7010400" y="4419600"/>
            <a:ext cx="1524000" cy="0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arrow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15" name="TextBox 14"/>
          <p:cNvSpPr txBox="1"/>
          <p:nvPr/>
        </p:nvSpPr>
        <p:spPr>
          <a:xfrm>
            <a:off x="7010400" y="4419600"/>
            <a:ext cx="145745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/>
              <a:t>1-specificity (=FPR)</a:t>
            </a:r>
          </a:p>
        </p:txBody>
      </p:sp>
      <p:sp>
        <p:nvSpPr>
          <p:cNvPr id="16" name="TextBox 15"/>
          <p:cNvSpPr txBox="1"/>
          <p:nvPr/>
        </p:nvSpPr>
        <p:spPr>
          <a:xfrm rot="16200000">
            <a:off x="6342649" y="3791954"/>
            <a:ext cx="88277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Sensitivity(=TPR)  </a:t>
            </a:r>
          </a:p>
        </p:txBody>
      </p:sp>
      <p:cxnSp>
        <p:nvCxnSpPr>
          <p:cNvPr id="18" name="Straight Connector 17"/>
          <p:cNvCxnSpPr/>
          <p:nvPr/>
        </p:nvCxnSpPr>
        <p:spPr bwMode="auto">
          <a:xfrm>
            <a:off x="7010400" y="3559366"/>
            <a:ext cx="1447800" cy="22034"/>
          </a:xfrm>
          <a:prstGeom prst="line">
            <a:avLst/>
          </a:prstGeom>
          <a:solidFill>
            <a:schemeClr val="accent1"/>
          </a:solidFill>
          <a:ln w="28575" cap="flat" cmpd="sng" algn="ctr">
            <a:solidFill>
              <a:schemeClr val="tx1"/>
            </a:solidFill>
            <a:prstDash val="sysDash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19" name="Arc 18"/>
          <p:cNvSpPr/>
          <p:nvPr/>
        </p:nvSpPr>
        <p:spPr bwMode="auto">
          <a:xfrm flipH="1">
            <a:off x="7010400" y="3581400"/>
            <a:ext cx="2590800" cy="1676400"/>
          </a:xfrm>
          <a:prstGeom prst="arc">
            <a:avLst>
              <a:gd name="adj1" fmla="val 16264542"/>
              <a:gd name="adj2" fmla="val 0"/>
            </a:avLst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6705600" y="3352800"/>
            <a:ext cx="402674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/>
              <a:t>1=</a:t>
            </a:r>
          </a:p>
        </p:txBody>
      </p:sp>
      <p:cxnSp>
        <p:nvCxnSpPr>
          <p:cNvPr id="26" name="Straight Connector 25"/>
          <p:cNvCxnSpPr>
            <a:stCxn id="19" idx="2"/>
            <a:endCxn id="19" idx="0"/>
          </p:cNvCxnSpPr>
          <p:nvPr/>
        </p:nvCxnSpPr>
        <p:spPr bwMode="auto">
          <a:xfrm flipV="1">
            <a:off x="7010400" y="3581462"/>
            <a:ext cx="1279663" cy="838138"/>
          </a:xfrm>
          <a:prstGeom prst="line">
            <a:avLst/>
          </a:prstGeom>
          <a:solidFill>
            <a:schemeClr val="accent1"/>
          </a:solidFill>
          <a:ln w="19050" cap="flat" cmpd="sng" algn="ctr">
            <a:solidFill>
              <a:srgbClr val="FF0000"/>
            </a:solidFill>
            <a:prstDash val="sysDash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</p:spTree>
    <p:extLst>
      <p:ext uri="{BB962C8B-B14F-4D97-AF65-F5344CB8AC3E}">
        <p14:creationId xmlns:p14="http://schemas.microsoft.com/office/powerpoint/2010/main" val="70820394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en-US">
                <a:solidFill>
                  <a:srgbClr val="000000"/>
                </a:solidFill>
              </a:rPr>
              <a:t>2014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F28756-B31F-4EB3-9CB3-CC474DFD3A9D}" type="slidenum">
              <a:rPr lang="en-US" altLang="en-US" smtClean="0">
                <a:solidFill>
                  <a:srgbClr val="000000"/>
                </a:solidFill>
              </a:rPr>
              <a:pPr/>
              <a:t>36</a:t>
            </a:fld>
            <a:endParaRPr lang="en-US" altLang="en-US" dirty="0">
              <a:solidFill>
                <a:srgbClr val="000000"/>
              </a:solidFill>
            </a:endParaRPr>
          </a:p>
        </p:txBody>
      </p:sp>
      <p:sp>
        <p:nvSpPr>
          <p:cNvPr id="5" name="AutoShape 2"/>
          <p:cNvSpPr>
            <a:spLocks noChangeArrowheads="1"/>
          </p:cNvSpPr>
          <p:nvPr/>
        </p:nvSpPr>
        <p:spPr bwMode="auto">
          <a:xfrm>
            <a:off x="304800" y="152400"/>
            <a:ext cx="8610600" cy="914400"/>
          </a:xfrm>
          <a:prstGeom prst="roundRect">
            <a:avLst>
              <a:gd name="adj" fmla="val 16667"/>
            </a:avLst>
          </a:prstGeom>
          <a:solidFill>
            <a:srgbClr val="FFCCFF"/>
          </a:solidFill>
          <a:ln w="34925">
            <a:solidFill>
              <a:srgbClr val="FF3300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sz="2400">
              <a:solidFill>
                <a:srgbClr val="000000"/>
              </a:solidFill>
            </a:endParaRPr>
          </a:p>
        </p:txBody>
      </p:sp>
      <p:sp>
        <p:nvSpPr>
          <p:cNvPr id="6" name="AutoShape 3"/>
          <p:cNvSpPr>
            <a:spLocks noChangeArrowheads="1"/>
          </p:cNvSpPr>
          <p:nvPr/>
        </p:nvSpPr>
        <p:spPr bwMode="auto">
          <a:xfrm>
            <a:off x="304800" y="1143000"/>
            <a:ext cx="8610600" cy="4724400"/>
          </a:xfrm>
          <a:prstGeom prst="roundRect">
            <a:avLst>
              <a:gd name="adj" fmla="val 16667"/>
            </a:avLst>
          </a:prstGeom>
          <a:noFill/>
          <a:ln w="34925">
            <a:solidFill>
              <a:srgbClr val="FF33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sz="2400">
              <a:solidFill>
                <a:srgbClr val="000000"/>
              </a:solidFill>
            </a:endParaRPr>
          </a:p>
        </p:txBody>
      </p:sp>
      <p:sp>
        <p:nvSpPr>
          <p:cNvPr id="7" name="Rectangle 4"/>
          <p:cNvSpPr>
            <a:spLocks noChangeArrowheads="1"/>
          </p:cNvSpPr>
          <p:nvPr/>
        </p:nvSpPr>
        <p:spPr bwMode="auto">
          <a:xfrm>
            <a:off x="762000" y="228600"/>
            <a:ext cx="7772400" cy="685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/>
          <a:lstStyle>
            <a:lvl1pPr algn="ctr">
              <a:defRPr sz="4400">
                <a:solidFill>
                  <a:schemeClr val="tx2"/>
                </a:solidFill>
                <a:latin typeface="Times New Roman" pitchFamily="18" charset="0"/>
              </a:defRPr>
            </a:lvl1pPr>
            <a:lvl2pPr algn="ctr">
              <a:defRPr sz="4400">
                <a:solidFill>
                  <a:schemeClr val="tx2"/>
                </a:solidFill>
                <a:latin typeface="Times New Roman" pitchFamily="18" charset="0"/>
              </a:defRPr>
            </a:lvl2pPr>
            <a:lvl3pPr algn="ctr">
              <a:defRPr sz="4400">
                <a:solidFill>
                  <a:schemeClr val="tx2"/>
                </a:solidFill>
                <a:latin typeface="Times New Roman" pitchFamily="18" charset="0"/>
              </a:defRPr>
            </a:lvl3pPr>
            <a:lvl4pPr algn="ctr">
              <a:defRPr sz="4400">
                <a:solidFill>
                  <a:schemeClr val="tx2"/>
                </a:solidFill>
                <a:latin typeface="Times New Roman" pitchFamily="18" charset="0"/>
              </a:defRPr>
            </a:lvl4pPr>
            <a:lvl5pPr algn="ctr">
              <a:defRPr sz="4400">
                <a:solidFill>
                  <a:schemeClr val="tx2"/>
                </a:solidFill>
                <a:latin typeface="Times New Roman" pitchFamily="18" charset="0"/>
              </a:defRPr>
            </a:lvl5pPr>
            <a:lvl6pPr marL="457200" algn="ctr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imes New Roman" pitchFamily="18" charset="0"/>
              </a:defRPr>
            </a:lvl6pPr>
            <a:lvl7pPr marL="914400" algn="ctr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imes New Roman" pitchFamily="18" charset="0"/>
              </a:defRPr>
            </a:lvl7pPr>
            <a:lvl8pPr marL="1371600" algn="ctr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imes New Roman" pitchFamily="18" charset="0"/>
              </a:defRPr>
            </a:lvl8pPr>
            <a:lvl9pPr marL="1828800" algn="ctr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imes New Roman" pitchFamily="18" charset="0"/>
              </a:defRPr>
            </a:lvl9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2800" dirty="0">
                <a:solidFill>
                  <a:srgbClr val="0000FF"/>
                </a:solidFill>
                <a:latin typeface="Arial" charset="0"/>
              </a:rPr>
              <a:t>Feature Reduction / Selection</a:t>
            </a:r>
          </a:p>
        </p:txBody>
      </p:sp>
      <p:sp>
        <p:nvSpPr>
          <p:cNvPr id="8" name="Rectangle 5"/>
          <p:cNvSpPr>
            <a:spLocks noChangeArrowheads="1"/>
          </p:cNvSpPr>
          <p:nvPr/>
        </p:nvSpPr>
        <p:spPr bwMode="auto">
          <a:xfrm>
            <a:off x="685800" y="1130145"/>
            <a:ext cx="8001000" cy="4648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2075" tIns="46038" rIns="92075" bIns="46038"/>
          <a:lstStyle>
            <a:lvl1pPr marL="342900" indent="-34290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itchFamily="18" charset="0"/>
              </a:defRPr>
            </a:lvl2pPr>
            <a:lvl3pPr marL="108585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marL="457200" indent="-457200" eaLnBrk="0" fontAlgn="base" hangingPunct="0">
              <a:spcAft>
                <a:spcPct val="0"/>
              </a:spcAft>
              <a:buClr>
                <a:srgbClr val="000000"/>
              </a:buClr>
            </a:pPr>
            <a:r>
              <a:rPr lang="en-US" altLang="en-US" sz="2400" dirty="0">
                <a:solidFill>
                  <a:srgbClr val="000000"/>
                </a:solidFill>
              </a:rPr>
              <a:t>Fewer features reduces the computational complexity and likelihood of </a:t>
            </a:r>
            <a:r>
              <a:rPr lang="en-US" altLang="en-US" sz="2400" dirty="0" err="1">
                <a:solidFill>
                  <a:srgbClr val="000000"/>
                </a:solidFill>
              </a:rPr>
              <a:t>overfitting</a:t>
            </a:r>
            <a:endParaRPr lang="en-US" altLang="en-US" sz="2400" dirty="0">
              <a:solidFill>
                <a:srgbClr val="000000"/>
              </a:solidFill>
            </a:endParaRPr>
          </a:p>
          <a:p>
            <a:pPr marL="457200" indent="-457200" eaLnBrk="0" fontAlgn="base" hangingPunct="0">
              <a:spcAft>
                <a:spcPct val="0"/>
              </a:spcAft>
              <a:buClr>
                <a:srgbClr val="000000"/>
              </a:buClr>
            </a:pPr>
            <a:r>
              <a:rPr lang="en-US" altLang="en-US" sz="2400" dirty="0">
                <a:solidFill>
                  <a:srgbClr val="000000"/>
                </a:solidFill>
              </a:rPr>
              <a:t>There are three main approaches to reduce the number of features:</a:t>
            </a:r>
          </a:p>
          <a:p>
            <a:pPr marL="857250" lvl="1" indent="-457200" eaLnBrk="0" fontAlgn="base" hangingPunct="0">
              <a:spcAft>
                <a:spcPct val="0"/>
              </a:spcAft>
              <a:buClr>
                <a:srgbClr val="000000"/>
              </a:buClr>
              <a:buFont typeface="+mj-lt"/>
              <a:buAutoNum type="arabicPeriod"/>
            </a:pPr>
            <a:r>
              <a:rPr lang="en-US" altLang="en-US" sz="2000" dirty="0">
                <a:solidFill>
                  <a:srgbClr val="000000"/>
                </a:solidFill>
              </a:rPr>
              <a:t>Using domain knowledge to select some of the most relevant features</a:t>
            </a:r>
          </a:p>
          <a:p>
            <a:pPr marL="857250" lvl="1" indent="-457200" eaLnBrk="0" fontAlgn="base" hangingPunct="0">
              <a:spcAft>
                <a:spcPct val="0"/>
              </a:spcAft>
              <a:buClr>
                <a:srgbClr val="000000"/>
              </a:buClr>
              <a:buFont typeface="+mj-lt"/>
              <a:buAutoNum type="arabicPeriod"/>
            </a:pPr>
            <a:r>
              <a:rPr lang="en-US" altLang="en-US" sz="2000" dirty="0">
                <a:solidFill>
                  <a:srgbClr val="000000"/>
                </a:solidFill>
              </a:rPr>
              <a:t>Computationally mixing all features to generate fewer combined features (such as PCA)</a:t>
            </a:r>
          </a:p>
          <a:p>
            <a:pPr marL="857250" lvl="1" indent="-457200" eaLnBrk="0" fontAlgn="base" hangingPunct="0">
              <a:spcAft>
                <a:spcPct val="0"/>
              </a:spcAft>
              <a:buClr>
                <a:srgbClr val="000000"/>
              </a:buClr>
              <a:buFont typeface="+mj-lt"/>
              <a:buAutoNum type="arabicPeriod"/>
            </a:pPr>
            <a:r>
              <a:rPr lang="en-US" altLang="en-US" sz="2000" dirty="0">
                <a:solidFill>
                  <a:srgbClr val="000000"/>
                </a:solidFill>
              </a:rPr>
              <a:t>Computationally selecting a smaller set using a criterion / ranking system</a:t>
            </a:r>
          </a:p>
          <a:p>
            <a:pPr marL="1200150" lvl="2" indent="-457200" eaLnBrk="0" fontAlgn="base" hangingPunct="0">
              <a:spcAft>
                <a:spcPct val="0"/>
              </a:spcAft>
              <a:buClr>
                <a:srgbClr val="000000"/>
              </a:buClr>
            </a:pPr>
            <a:r>
              <a:rPr lang="en-US" altLang="en-US" sz="1600" dirty="0">
                <a:solidFill>
                  <a:srgbClr val="000000"/>
                </a:solidFill>
              </a:rPr>
              <a:t>These methods in turn divide into filter-based and wrapper-based methods</a:t>
            </a:r>
          </a:p>
          <a:p>
            <a:pPr marL="1200150" lvl="2" indent="-457200" eaLnBrk="0" fontAlgn="base" hangingPunct="0">
              <a:spcAft>
                <a:spcPct val="0"/>
              </a:spcAft>
              <a:buClr>
                <a:srgbClr val="000000"/>
              </a:buClr>
            </a:pPr>
            <a:r>
              <a:rPr lang="en-US" altLang="en-US" sz="1600" dirty="0">
                <a:solidFill>
                  <a:srgbClr val="000000"/>
                </a:solidFill>
              </a:rPr>
              <a:t>Typical measures/criteria used for this process include information gain</a:t>
            </a:r>
          </a:p>
        </p:txBody>
      </p:sp>
    </p:spTree>
    <p:extLst>
      <p:ext uri="{BB962C8B-B14F-4D97-AF65-F5344CB8AC3E}">
        <p14:creationId xmlns:p14="http://schemas.microsoft.com/office/powerpoint/2010/main" val="70820394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en-US">
                <a:solidFill>
                  <a:srgbClr val="000000"/>
                </a:solidFill>
              </a:rPr>
              <a:t>2014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F28756-B31F-4EB3-9CB3-CC474DFD3A9D}" type="slidenum">
              <a:rPr lang="en-US" altLang="en-US" smtClean="0">
                <a:solidFill>
                  <a:srgbClr val="000000"/>
                </a:solidFill>
              </a:rPr>
              <a:pPr/>
              <a:t>37</a:t>
            </a:fld>
            <a:endParaRPr lang="en-US" altLang="en-US">
              <a:solidFill>
                <a:srgbClr val="000000"/>
              </a:solidFill>
            </a:endParaRPr>
          </a:p>
        </p:txBody>
      </p:sp>
      <p:sp>
        <p:nvSpPr>
          <p:cNvPr id="5" name="AutoShape 2"/>
          <p:cNvSpPr>
            <a:spLocks noChangeArrowheads="1"/>
          </p:cNvSpPr>
          <p:nvPr/>
        </p:nvSpPr>
        <p:spPr bwMode="auto">
          <a:xfrm>
            <a:off x="290623" y="166577"/>
            <a:ext cx="8610600" cy="914400"/>
          </a:xfrm>
          <a:prstGeom prst="roundRect">
            <a:avLst>
              <a:gd name="adj" fmla="val 16667"/>
            </a:avLst>
          </a:prstGeom>
          <a:solidFill>
            <a:srgbClr val="FFCCFF"/>
          </a:solidFill>
          <a:ln w="34925">
            <a:solidFill>
              <a:srgbClr val="FF3300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sz="2400">
              <a:solidFill>
                <a:srgbClr val="000000"/>
              </a:solidFill>
            </a:endParaRPr>
          </a:p>
        </p:txBody>
      </p:sp>
      <p:sp>
        <p:nvSpPr>
          <p:cNvPr id="6" name="AutoShape 3"/>
          <p:cNvSpPr>
            <a:spLocks noChangeArrowheads="1"/>
          </p:cNvSpPr>
          <p:nvPr/>
        </p:nvSpPr>
        <p:spPr bwMode="auto">
          <a:xfrm>
            <a:off x="304800" y="1143000"/>
            <a:ext cx="8610600" cy="4724400"/>
          </a:xfrm>
          <a:prstGeom prst="roundRect">
            <a:avLst>
              <a:gd name="adj" fmla="val 16667"/>
            </a:avLst>
          </a:prstGeom>
          <a:noFill/>
          <a:ln w="34925">
            <a:solidFill>
              <a:srgbClr val="FF33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sz="2400">
              <a:solidFill>
                <a:srgbClr val="000000"/>
              </a:solidFill>
            </a:endParaRPr>
          </a:p>
        </p:txBody>
      </p:sp>
      <p:sp>
        <p:nvSpPr>
          <p:cNvPr id="7" name="Rectangle 4"/>
          <p:cNvSpPr>
            <a:spLocks noChangeArrowheads="1"/>
          </p:cNvSpPr>
          <p:nvPr/>
        </p:nvSpPr>
        <p:spPr bwMode="auto">
          <a:xfrm>
            <a:off x="762000" y="228600"/>
            <a:ext cx="7772400" cy="685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/>
          <a:lstStyle>
            <a:lvl1pPr algn="ctr">
              <a:defRPr sz="4400">
                <a:solidFill>
                  <a:schemeClr val="tx2"/>
                </a:solidFill>
                <a:latin typeface="Times New Roman" pitchFamily="18" charset="0"/>
              </a:defRPr>
            </a:lvl1pPr>
            <a:lvl2pPr algn="ctr">
              <a:defRPr sz="4400">
                <a:solidFill>
                  <a:schemeClr val="tx2"/>
                </a:solidFill>
                <a:latin typeface="Times New Roman" pitchFamily="18" charset="0"/>
              </a:defRPr>
            </a:lvl2pPr>
            <a:lvl3pPr algn="ctr">
              <a:defRPr sz="4400">
                <a:solidFill>
                  <a:schemeClr val="tx2"/>
                </a:solidFill>
                <a:latin typeface="Times New Roman" pitchFamily="18" charset="0"/>
              </a:defRPr>
            </a:lvl3pPr>
            <a:lvl4pPr algn="ctr">
              <a:defRPr sz="4400">
                <a:solidFill>
                  <a:schemeClr val="tx2"/>
                </a:solidFill>
                <a:latin typeface="Times New Roman" pitchFamily="18" charset="0"/>
              </a:defRPr>
            </a:lvl4pPr>
            <a:lvl5pPr algn="ctr">
              <a:defRPr sz="4400">
                <a:solidFill>
                  <a:schemeClr val="tx2"/>
                </a:solidFill>
                <a:latin typeface="Times New Roman" pitchFamily="18" charset="0"/>
              </a:defRPr>
            </a:lvl5pPr>
            <a:lvl6pPr marL="457200" algn="ctr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imes New Roman" pitchFamily="18" charset="0"/>
              </a:defRPr>
            </a:lvl6pPr>
            <a:lvl7pPr marL="914400" algn="ctr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imes New Roman" pitchFamily="18" charset="0"/>
              </a:defRPr>
            </a:lvl7pPr>
            <a:lvl8pPr marL="1371600" algn="ctr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imes New Roman" pitchFamily="18" charset="0"/>
              </a:defRPr>
            </a:lvl8pPr>
            <a:lvl9pPr marL="1828800" algn="ctr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imes New Roman" pitchFamily="18" charset="0"/>
              </a:defRPr>
            </a:lvl9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2800" dirty="0">
                <a:solidFill>
                  <a:srgbClr val="0000FF"/>
                </a:solidFill>
                <a:latin typeface="Arial" charset="0"/>
              </a:rPr>
              <a:t>Summary</a:t>
            </a:r>
          </a:p>
        </p:txBody>
      </p:sp>
      <p:sp>
        <p:nvSpPr>
          <p:cNvPr id="8" name="Rectangle 5"/>
          <p:cNvSpPr>
            <a:spLocks noChangeArrowheads="1"/>
          </p:cNvSpPr>
          <p:nvPr/>
        </p:nvSpPr>
        <p:spPr bwMode="auto">
          <a:xfrm>
            <a:off x="685800" y="1295400"/>
            <a:ext cx="7543800" cy="4191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2075" tIns="46038" rIns="92075" bIns="46038"/>
          <a:lstStyle>
            <a:lvl1pPr marL="342900" indent="-34290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itchFamily="18" charset="0"/>
              </a:defRPr>
            </a:lvl2pPr>
            <a:lvl3pPr marL="108585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eaLnBrk="0" fontAlgn="base" hangingPunct="0">
              <a:spcAft>
                <a:spcPct val="0"/>
              </a:spcAft>
              <a:buClr>
                <a:srgbClr val="000000"/>
              </a:buClr>
              <a:buNone/>
            </a:pPr>
            <a:endParaRPr lang="en-US" altLang="en-US" sz="2000" dirty="0">
              <a:solidFill>
                <a:srgbClr val="000000"/>
              </a:solidFill>
            </a:endParaRPr>
          </a:p>
        </p:txBody>
      </p:sp>
      <p:sp>
        <p:nvSpPr>
          <p:cNvPr id="38" name="Rectangle 5"/>
          <p:cNvSpPr>
            <a:spLocks noChangeArrowheads="1"/>
          </p:cNvSpPr>
          <p:nvPr/>
        </p:nvSpPr>
        <p:spPr bwMode="auto">
          <a:xfrm>
            <a:off x="838200" y="1143000"/>
            <a:ext cx="7543800" cy="444071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2075" tIns="46038" rIns="92075" bIns="46038"/>
          <a:lstStyle>
            <a:lvl1pPr marL="342900" indent="-34290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itchFamily="18" charset="0"/>
              </a:defRPr>
            </a:lvl2pPr>
            <a:lvl3pPr marL="108585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eaLnBrk="0" fontAlgn="base" hangingPunct="0">
              <a:spcAft>
                <a:spcPct val="0"/>
              </a:spcAft>
              <a:buClr>
                <a:srgbClr val="000000"/>
              </a:buClr>
            </a:pPr>
            <a:r>
              <a:rPr lang="en-US" altLang="en-US" sz="2400" dirty="0">
                <a:solidFill>
                  <a:srgbClr val="000000"/>
                </a:solidFill>
              </a:rPr>
              <a:t>Machine learning applied on molecular / cellular data, along with other types of data, would allow system biologic study of the system</a:t>
            </a:r>
          </a:p>
          <a:p>
            <a:pPr eaLnBrk="0" fontAlgn="base" hangingPunct="0">
              <a:spcAft>
                <a:spcPct val="0"/>
              </a:spcAft>
              <a:buClr>
                <a:srgbClr val="000000"/>
              </a:buClr>
            </a:pPr>
            <a:r>
              <a:rPr lang="en-US" altLang="en-US" sz="2400" dirty="0">
                <a:solidFill>
                  <a:srgbClr val="000000"/>
                </a:solidFill>
              </a:rPr>
              <a:t>Clustering (unsupervised learning) and classification (supervised learning) are the two main tasks in machine learning</a:t>
            </a:r>
          </a:p>
          <a:p>
            <a:pPr eaLnBrk="0" fontAlgn="base" hangingPunct="0">
              <a:spcAft>
                <a:spcPct val="0"/>
              </a:spcAft>
              <a:buClr>
                <a:srgbClr val="000000"/>
              </a:buClr>
            </a:pPr>
            <a:r>
              <a:rPr lang="en-US" altLang="en-US" sz="2400" dirty="0">
                <a:solidFill>
                  <a:srgbClr val="000000"/>
                </a:solidFill>
              </a:rPr>
              <a:t>Multilayer perceptron neural networks, support vector machines and regression tress are the main techniques used for classification</a:t>
            </a:r>
          </a:p>
          <a:p>
            <a:pPr lvl="1" eaLnBrk="0" fontAlgn="base" hangingPunct="0">
              <a:spcAft>
                <a:spcPct val="0"/>
              </a:spcAft>
              <a:buClr>
                <a:srgbClr val="000000"/>
              </a:buClr>
            </a:pPr>
            <a:r>
              <a:rPr lang="en-US" altLang="en-US" sz="2000" dirty="0">
                <a:solidFill>
                  <a:srgbClr val="000000"/>
                </a:solidFill>
              </a:rPr>
              <a:t>Many techniques are based on these methods, e.g. Random Forest is a method based on collective decision of a number of tress</a:t>
            </a:r>
          </a:p>
        </p:txBody>
      </p:sp>
    </p:spTree>
    <p:extLst>
      <p:ext uri="{BB962C8B-B14F-4D97-AF65-F5344CB8AC3E}">
        <p14:creationId xmlns:p14="http://schemas.microsoft.com/office/powerpoint/2010/main" val="3586684663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en-US">
                <a:solidFill>
                  <a:srgbClr val="000000"/>
                </a:solidFill>
              </a:rPr>
              <a:t>2014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F28756-B31F-4EB3-9CB3-CC474DFD3A9D}" type="slidenum">
              <a:rPr lang="en-US" altLang="en-US" smtClean="0">
                <a:solidFill>
                  <a:srgbClr val="000000"/>
                </a:solidFill>
              </a:rPr>
              <a:pPr/>
              <a:t>38</a:t>
            </a:fld>
            <a:endParaRPr lang="en-US" altLang="en-US">
              <a:solidFill>
                <a:srgbClr val="000000"/>
              </a:solidFill>
            </a:endParaRPr>
          </a:p>
        </p:txBody>
      </p:sp>
      <p:sp>
        <p:nvSpPr>
          <p:cNvPr id="5" name="AutoShape 2"/>
          <p:cNvSpPr>
            <a:spLocks noChangeArrowheads="1"/>
          </p:cNvSpPr>
          <p:nvPr/>
        </p:nvSpPr>
        <p:spPr bwMode="auto">
          <a:xfrm>
            <a:off x="290623" y="166577"/>
            <a:ext cx="8610600" cy="914400"/>
          </a:xfrm>
          <a:prstGeom prst="roundRect">
            <a:avLst>
              <a:gd name="adj" fmla="val 16667"/>
            </a:avLst>
          </a:prstGeom>
          <a:solidFill>
            <a:srgbClr val="FFCCFF"/>
          </a:solidFill>
          <a:ln w="34925">
            <a:solidFill>
              <a:srgbClr val="FF3300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sz="2400">
              <a:solidFill>
                <a:srgbClr val="000000"/>
              </a:solidFill>
            </a:endParaRPr>
          </a:p>
        </p:txBody>
      </p:sp>
      <p:sp>
        <p:nvSpPr>
          <p:cNvPr id="6" name="AutoShape 3"/>
          <p:cNvSpPr>
            <a:spLocks noChangeArrowheads="1"/>
          </p:cNvSpPr>
          <p:nvPr/>
        </p:nvSpPr>
        <p:spPr bwMode="auto">
          <a:xfrm>
            <a:off x="304800" y="1143000"/>
            <a:ext cx="8610600" cy="4724400"/>
          </a:xfrm>
          <a:prstGeom prst="roundRect">
            <a:avLst>
              <a:gd name="adj" fmla="val 16667"/>
            </a:avLst>
          </a:prstGeom>
          <a:noFill/>
          <a:ln w="34925">
            <a:solidFill>
              <a:srgbClr val="FF33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sz="2400">
              <a:solidFill>
                <a:srgbClr val="000000"/>
              </a:solidFill>
            </a:endParaRPr>
          </a:p>
        </p:txBody>
      </p:sp>
      <p:sp>
        <p:nvSpPr>
          <p:cNvPr id="7" name="Rectangle 4"/>
          <p:cNvSpPr>
            <a:spLocks noChangeArrowheads="1"/>
          </p:cNvSpPr>
          <p:nvPr/>
        </p:nvSpPr>
        <p:spPr bwMode="auto">
          <a:xfrm>
            <a:off x="762000" y="228600"/>
            <a:ext cx="7772400" cy="685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/>
          <a:lstStyle>
            <a:lvl1pPr algn="ctr">
              <a:defRPr sz="4400">
                <a:solidFill>
                  <a:schemeClr val="tx2"/>
                </a:solidFill>
                <a:latin typeface="Times New Roman" pitchFamily="18" charset="0"/>
              </a:defRPr>
            </a:lvl1pPr>
            <a:lvl2pPr algn="ctr">
              <a:defRPr sz="4400">
                <a:solidFill>
                  <a:schemeClr val="tx2"/>
                </a:solidFill>
                <a:latin typeface="Times New Roman" pitchFamily="18" charset="0"/>
              </a:defRPr>
            </a:lvl2pPr>
            <a:lvl3pPr algn="ctr">
              <a:defRPr sz="4400">
                <a:solidFill>
                  <a:schemeClr val="tx2"/>
                </a:solidFill>
                <a:latin typeface="Times New Roman" pitchFamily="18" charset="0"/>
              </a:defRPr>
            </a:lvl3pPr>
            <a:lvl4pPr algn="ctr">
              <a:defRPr sz="4400">
                <a:solidFill>
                  <a:schemeClr val="tx2"/>
                </a:solidFill>
                <a:latin typeface="Times New Roman" pitchFamily="18" charset="0"/>
              </a:defRPr>
            </a:lvl4pPr>
            <a:lvl5pPr algn="ctr">
              <a:defRPr sz="4400">
                <a:solidFill>
                  <a:schemeClr val="tx2"/>
                </a:solidFill>
                <a:latin typeface="Times New Roman" pitchFamily="18" charset="0"/>
              </a:defRPr>
            </a:lvl5pPr>
            <a:lvl6pPr marL="457200" algn="ctr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imes New Roman" pitchFamily="18" charset="0"/>
              </a:defRPr>
            </a:lvl6pPr>
            <a:lvl7pPr marL="914400" algn="ctr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imes New Roman" pitchFamily="18" charset="0"/>
              </a:defRPr>
            </a:lvl7pPr>
            <a:lvl8pPr marL="1371600" algn="ctr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imes New Roman" pitchFamily="18" charset="0"/>
              </a:defRPr>
            </a:lvl8pPr>
            <a:lvl9pPr marL="1828800" algn="ctr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imes New Roman" pitchFamily="18" charset="0"/>
              </a:defRPr>
            </a:lvl9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2800" dirty="0">
                <a:solidFill>
                  <a:srgbClr val="0000FF"/>
                </a:solidFill>
                <a:latin typeface="Arial" charset="0"/>
              </a:rPr>
              <a:t>Summary</a:t>
            </a:r>
          </a:p>
        </p:txBody>
      </p:sp>
      <p:sp>
        <p:nvSpPr>
          <p:cNvPr id="8" name="Rectangle 5"/>
          <p:cNvSpPr>
            <a:spLocks noChangeArrowheads="1"/>
          </p:cNvSpPr>
          <p:nvPr/>
        </p:nvSpPr>
        <p:spPr bwMode="auto">
          <a:xfrm>
            <a:off x="685800" y="1295400"/>
            <a:ext cx="7543800" cy="4191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2075" tIns="46038" rIns="92075" bIns="46038"/>
          <a:lstStyle>
            <a:lvl1pPr marL="342900" indent="-34290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itchFamily="18" charset="0"/>
              </a:defRPr>
            </a:lvl2pPr>
            <a:lvl3pPr marL="108585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eaLnBrk="0" fontAlgn="base" hangingPunct="0">
              <a:spcAft>
                <a:spcPct val="0"/>
              </a:spcAft>
              <a:buClr>
                <a:srgbClr val="000000"/>
              </a:buClr>
              <a:buNone/>
            </a:pPr>
            <a:endParaRPr lang="en-US" altLang="en-US" sz="2000" dirty="0">
              <a:solidFill>
                <a:srgbClr val="000000"/>
              </a:solidFill>
            </a:endParaRPr>
          </a:p>
        </p:txBody>
      </p:sp>
      <p:sp>
        <p:nvSpPr>
          <p:cNvPr id="38" name="Rectangle 5"/>
          <p:cNvSpPr>
            <a:spLocks noChangeArrowheads="1"/>
          </p:cNvSpPr>
          <p:nvPr/>
        </p:nvSpPr>
        <p:spPr bwMode="auto">
          <a:xfrm>
            <a:off x="838200" y="1143000"/>
            <a:ext cx="7543800" cy="444071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2075" tIns="46038" rIns="92075" bIns="46038"/>
          <a:lstStyle>
            <a:lvl1pPr marL="342900" indent="-34290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itchFamily="18" charset="0"/>
              </a:defRPr>
            </a:lvl2pPr>
            <a:lvl3pPr marL="108585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eaLnBrk="0" fontAlgn="base" hangingPunct="0">
              <a:spcAft>
                <a:spcPct val="0"/>
              </a:spcAft>
              <a:buClr>
                <a:srgbClr val="000000"/>
              </a:buClr>
            </a:pPr>
            <a:r>
              <a:rPr lang="en-US" altLang="en-US" sz="2400" dirty="0">
                <a:solidFill>
                  <a:srgbClr val="000000"/>
                </a:solidFill>
              </a:rPr>
              <a:t>Machine learning models are susceptible to </a:t>
            </a:r>
            <a:r>
              <a:rPr lang="en-US" altLang="en-US" sz="2400" dirty="0" err="1">
                <a:solidFill>
                  <a:srgbClr val="000000"/>
                </a:solidFill>
              </a:rPr>
              <a:t>overfitting</a:t>
            </a:r>
            <a:r>
              <a:rPr lang="en-US" altLang="en-US" sz="2400" dirty="0">
                <a:solidFill>
                  <a:srgbClr val="000000"/>
                </a:solidFill>
              </a:rPr>
              <a:t> issue</a:t>
            </a:r>
          </a:p>
          <a:p>
            <a:pPr eaLnBrk="0" fontAlgn="base" hangingPunct="0">
              <a:spcAft>
                <a:spcPct val="0"/>
              </a:spcAft>
              <a:buClr>
                <a:srgbClr val="000000"/>
              </a:buClr>
            </a:pPr>
            <a:r>
              <a:rPr lang="en-US" altLang="en-US" sz="2400" dirty="0">
                <a:solidFill>
                  <a:srgbClr val="000000"/>
                </a:solidFill>
              </a:rPr>
              <a:t>Methods such as n-fold cross validation are used for testing and validation of machine learning models</a:t>
            </a:r>
            <a:endParaRPr lang="en-US" altLang="en-US" sz="2000" dirty="0">
              <a:solidFill>
                <a:srgbClr val="000000"/>
              </a:solidFill>
            </a:endParaRPr>
          </a:p>
          <a:p>
            <a:pPr eaLnBrk="0" fontAlgn="base" hangingPunct="0">
              <a:spcAft>
                <a:spcPct val="0"/>
              </a:spcAft>
              <a:buClr>
                <a:srgbClr val="000000"/>
              </a:buClr>
            </a:pPr>
            <a:r>
              <a:rPr lang="en-US" altLang="en-US" sz="2400" dirty="0">
                <a:solidFill>
                  <a:srgbClr val="000000"/>
                </a:solidFill>
              </a:rPr>
              <a:t>There is often need to reduce dimensionality of data</a:t>
            </a:r>
          </a:p>
          <a:p>
            <a:pPr eaLnBrk="0" fontAlgn="base" hangingPunct="0">
              <a:spcAft>
                <a:spcPct val="0"/>
              </a:spcAft>
              <a:buClr>
                <a:srgbClr val="000000"/>
              </a:buClr>
            </a:pPr>
            <a:r>
              <a:rPr lang="en-US" altLang="en-US" sz="2400" dirty="0">
                <a:solidFill>
                  <a:srgbClr val="000000"/>
                </a:solidFill>
              </a:rPr>
              <a:t>A number of measures such as sensitivity and specificity are used to assess the quality of a model</a:t>
            </a:r>
          </a:p>
        </p:txBody>
      </p:sp>
    </p:spTree>
    <p:extLst>
      <p:ext uri="{BB962C8B-B14F-4D97-AF65-F5344CB8AC3E}">
        <p14:creationId xmlns:p14="http://schemas.microsoft.com/office/powerpoint/2010/main" val="426890538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Default Design">
  <a:themeElements>
    <a:clrScheme name="Default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Default Design">
      <a:majorFont>
        <a:latin typeface="Times New Roman"/>
        <a:ea typeface=""/>
        <a:cs typeface=""/>
      </a:majorFont>
      <a:minorFont>
        <a:latin typeface="Times New Roman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alt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itchFamily="18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alt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itchFamily="18" charset="0"/>
          </a:defRPr>
        </a:defPPr>
      </a:lstStyle>
    </a:lnDef>
  </a:objectDefaults>
  <a:extraClrSchemeLst>
    <a:extraClrScheme>
      <a:clrScheme name="Default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3070</TotalTime>
  <Words>3229</Words>
  <Application>Microsoft Office PowerPoint</Application>
  <PresentationFormat>On-screen Show (4:3)</PresentationFormat>
  <Paragraphs>489</Paragraphs>
  <Slides>38</Slides>
  <Notes>0</Notes>
  <HiddenSlides>0</HiddenSlides>
  <MMClips>0</MMClips>
  <ScaleCrop>false</ScaleCrop>
  <HeadingPairs>
    <vt:vector size="8" baseType="variant">
      <vt:variant>
        <vt:lpstr>Fonts Used</vt:lpstr>
      </vt:variant>
      <vt:variant>
        <vt:i4>4</vt:i4>
      </vt:variant>
      <vt:variant>
        <vt:lpstr>Theme</vt:lpstr>
      </vt:variant>
      <vt:variant>
        <vt:i4>2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38</vt:i4>
      </vt:variant>
    </vt:vector>
  </HeadingPairs>
  <TitlesOfParts>
    <vt:vector size="45" baseType="lpstr">
      <vt:lpstr>Arial</vt:lpstr>
      <vt:lpstr>Calibri</vt:lpstr>
      <vt:lpstr>Symbol</vt:lpstr>
      <vt:lpstr>Times New Roman</vt:lpstr>
      <vt:lpstr>Office Theme</vt:lpstr>
      <vt:lpstr>Default Design</vt:lpstr>
      <vt:lpstr>Equation</vt:lpstr>
      <vt:lpstr>BÀI 7 –THUẬT TOÁN MÁY HỌC –  HỌC CÓ/KHÔNG CÓ GIÁM SÁT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kayvan</dc:creator>
  <cp:lastModifiedBy>Ngô Thanh Hùng</cp:lastModifiedBy>
  <cp:revision>49</cp:revision>
  <dcterms:created xsi:type="dcterms:W3CDTF">2014-02-04T16:08:20Z</dcterms:created>
  <dcterms:modified xsi:type="dcterms:W3CDTF">2024-10-20T10:43:44Z</dcterms:modified>
</cp:coreProperties>
</file>