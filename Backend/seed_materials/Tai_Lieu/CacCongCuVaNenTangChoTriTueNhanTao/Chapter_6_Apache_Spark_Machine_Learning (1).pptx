
<file path=[Content_Types].xml><?xml version="1.0" encoding="utf-8"?>
<Types xmlns="http://schemas.openxmlformats.org/package/2006/content-types">
  <Default Extension="png" ContentType="image/png"/>
  <Default Extension="mp3" ContentType="audio/mpe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71" r:id="rId5"/>
  </p:sldMasterIdLst>
  <p:notesMasterIdLst>
    <p:notesMasterId r:id="rId60"/>
  </p:notesMasterIdLst>
  <p:handoutMasterIdLst>
    <p:handoutMasterId r:id="rId61"/>
  </p:handoutMasterIdLst>
  <p:sldIdLst>
    <p:sldId id="285" r:id="rId6"/>
    <p:sldId id="287" r:id="rId7"/>
    <p:sldId id="392" r:id="rId8"/>
    <p:sldId id="394" r:id="rId9"/>
    <p:sldId id="395" r:id="rId10"/>
    <p:sldId id="391" r:id="rId11"/>
    <p:sldId id="396" r:id="rId12"/>
    <p:sldId id="397" r:id="rId13"/>
    <p:sldId id="398" r:id="rId14"/>
    <p:sldId id="399" r:id="rId15"/>
    <p:sldId id="400" r:id="rId16"/>
    <p:sldId id="401" r:id="rId17"/>
    <p:sldId id="402" r:id="rId18"/>
    <p:sldId id="403" r:id="rId19"/>
    <p:sldId id="404" r:id="rId20"/>
    <p:sldId id="405" r:id="rId21"/>
    <p:sldId id="406" r:id="rId22"/>
    <p:sldId id="407" r:id="rId23"/>
    <p:sldId id="408" r:id="rId24"/>
    <p:sldId id="409" r:id="rId25"/>
    <p:sldId id="410" r:id="rId26"/>
    <p:sldId id="412" r:id="rId27"/>
    <p:sldId id="411" r:id="rId28"/>
    <p:sldId id="413" r:id="rId29"/>
    <p:sldId id="414" r:id="rId30"/>
    <p:sldId id="415" r:id="rId31"/>
    <p:sldId id="416" r:id="rId32"/>
    <p:sldId id="417" r:id="rId33"/>
    <p:sldId id="418" r:id="rId34"/>
    <p:sldId id="419" r:id="rId35"/>
    <p:sldId id="420" r:id="rId36"/>
    <p:sldId id="421" r:id="rId37"/>
    <p:sldId id="422" r:id="rId38"/>
    <p:sldId id="446" r:id="rId39"/>
    <p:sldId id="447" r:id="rId40"/>
    <p:sldId id="423" r:id="rId41"/>
    <p:sldId id="431" r:id="rId42"/>
    <p:sldId id="432" r:id="rId43"/>
    <p:sldId id="433" r:id="rId44"/>
    <p:sldId id="424" r:id="rId45"/>
    <p:sldId id="434" r:id="rId46"/>
    <p:sldId id="425" r:id="rId47"/>
    <p:sldId id="435" r:id="rId48"/>
    <p:sldId id="436" r:id="rId49"/>
    <p:sldId id="437" r:id="rId50"/>
    <p:sldId id="438" r:id="rId51"/>
    <p:sldId id="439" r:id="rId52"/>
    <p:sldId id="440" r:id="rId53"/>
    <p:sldId id="441" r:id="rId54"/>
    <p:sldId id="442" r:id="rId55"/>
    <p:sldId id="443" r:id="rId56"/>
    <p:sldId id="444" r:id="rId57"/>
    <p:sldId id="445" r:id="rId58"/>
    <p:sldId id="319" r:id="rId59"/>
  </p:sldIdLst>
  <p:sldSz cx="12192000" cy="6858000"/>
  <p:notesSz cx="6858000" cy="9144000"/>
  <p:custDataLst>
    <p:tags r:id="rId6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E50"/>
    <a:srgbClr val="D51C29"/>
    <a:srgbClr val="D32F2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98" autoAdjust="0"/>
    <p:restoredTop sz="94660"/>
  </p:normalViewPr>
  <p:slideViewPr>
    <p:cSldViewPr snapToGrid="0" showGuides="1">
      <p:cViewPr varScale="1">
        <p:scale>
          <a:sx n="112" d="100"/>
          <a:sy n="112" d="100"/>
        </p:scale>
        <p:origin x="2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63" Type="http://schemas.openxmlformats.org/officeDocument/2006/relationships/presProps" Target="presProp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66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61" Type="http://schemas.openxmlformats.org/officeDocument/2006/relationships/handoutMaster" Target="handoutMasters/handoutMaster1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viewProps" Target="view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notesMaster" Target="notesMasters/notesMaster1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D993D-0790-492C-87BF-BB124A121D30}" type="datetime1">
              <a:rPr lang="en-US" altLang="zh-CN" smtClean="0"/>
              <a:t>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vi-VN" smtClean="0"/>
              <a:t>Phan Hồ Viết Trường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43EEB-4FD0-404B-A559-F9E76DF23D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68809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3AB899-777A-4F11-99B2-F56DCFCA99F9}" type="datetime1">
              <a:rPr lang="en-US" altLang="zh-CN" smtClean="0"/>
              <a:t>2/16/2024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vi-VN" altLang="zh-CN" smtClean="0"/>
              <a:t>Phan Hồ Viết Trường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104242-42E4-462F-B9A6-468AC33D61A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4361665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altLang="zh-CN" smtClean="0"/>
              <a:t>Phan Hồ Viết Trường</a:t>
            </a:r>
            <a:endParaRPr lang="zh-CN" alt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01005183-4B41-425A-8FCE-E3820DEC53EC}" type="datetime1">
              <a:rPr lang="en-US" altLang="zh-CN" smtClean="0"/>
              <a:t>2/16/2024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20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altLang="zh-CN" smtClean="0"/>
              <a:t>Phan Hồ Viết Trường</a:t>
            </a:r>
            <a:endParaRPr lang="zh-CN" alt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067C804E-4F53-429B-A7C2-A8BE1AFE6B34}" type="datetime1">
              <a:rPr lang="en-US" altLang="zh-CN" smtClean="0"/>
              <a:t>2/16/2024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6630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104242-42E4-462F-B9A6-468AC33D61A2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altLang="zh-CN" smtClean="0"/>
              <a:t>Phan Hồ Viết Trường</a:t>
            </a:r>
            <a:endParaRPr lang="zh-CN" altLang="en-US"/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AE63DD3E-3432-486B-9B4D-FE868FB0A3B6}" type="datetime1">
              <a:rPr lang="en-US" altLang="zh-CN" smtClean="0"/>
              <a:t>2/16/2024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3476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microsoft.com/office/2007/relationships/hdphoto" Target="../media/hdphoto2.wdp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microsoft.com/office/2007/relationships/hdphoto" Target="../media/hdphoto3.wdp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5749"/>
          <a:stretch/>
        </p:blipFill>
        <p:spPr>
          <a:xfrm>
            <a:off x="7958798" y="3443288"/>
            <a:ext cx="4233201" cy="341471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0730" y="233160"/>
            <a:ext cx="2708031" cy="835449"/>
          </a:xfrm>
          <a:prstGeom prst="rect">
            <a:avLst/>
          </a:prstGeom>
        </p:spPr>
      </p:pic>
      <p:sp>
        <p:nvSpPr>
          <p:cNvPr id="4" name="文本框 4"/>
          <p:cNvSpPr txBox="1"/>
          <p:nvPr userDrawn="1"/>
        </p:nvSpPr>
        <p:spPr>
          <a:xfrm>
            <a:off x="4760730" y="1103916"/>
            <a:ext cx="2809295" cy="338554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600" b="1" u="sng" dirty="0">
                <a:solidFill>
                  <a:srgbClr val="0070C0"/>
                </a:solidFill>
                <a:latin typeface="Calibri" panose="020F0502020204030204" pitchFamily="34" charset="0"/>
              </a:rPr>
              <a:t>KHOA CÔNG</a:t>
            </a:r>
            <a:r>
              <a:rPr lang="en-US" altLang="zh-CN" sz="1600" b="1" u="sng" baseline="0" dirty="0">
                <a:solidFill>
                  <a:srgbClr val="0070C0"/>
                </a:solidFill>
                <a:latin typeface="Calibri" panose="020F0502020204030204" pitchFamily="34" charset="0"/>
              </a:rPr>
              <a:t> NGHỆ THÔNG TIN</a:t>
            </a:r>
            <a:endParaRPr lang="en-US" altLang="zh-CN" sz="1600" b="1" u="sng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pic>
        <p:nvPicPr>
          <p:cNvPr id="6" name="图片 2"/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1" y="1521978"/>
            <a:ext cx="2213113" cy="2599729"/>
          </a:xfrm>
          <a:prstGeom prst="rect">
            <a:avLst/>
          </a:prstGeom>
        </p:spPr>
      </p:pic>
      <p:pic>
        <p:nvPicPr>
          <p:cNvPr id="7" name="图片 1"/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11313172" y="0"/>
            <a:ext cx="878828" cy="891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5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88415"/>
            <a:ext cx="4463844" cy="6669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606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57925"/>
            <a:ext cx="6096000" cy="5550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169" y="218874"/>
            <a:ext cx="2268720" cy="666951"/>
          </a:xfrm>
          <a:prstGeom prst="rect">
            <a:avLst/>
          </a:prstGeom>
        </p:spPr>
      </p:pic>
      <p:sp>
        <p:nvSpPr>
          <p:cNvPr id="8" name="文本框 4"/>
          <p:cNvSpPr txBox="1"/>
          <p:nvPr userDrawn="1"/>
        </p:nvSpPr>
        <p:spPr>
          <a:xfrm>
            <a:off x="159762" y="885825"/>
            <a:ext cx="2569542" cy="30777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1400" b="1" u="sng" dirty="0">
                <a:solidFill>
                  <a:srgbClr val="0070C0"/>
                </a:solidFill>
                <a:latin typeface="Calibri" panose="020F0502020204030204" pitchFamily="34" charset="0"/>
              </a:rPr>
              <a:t>KHOA CÔNG</a:t>
            </a:r>
            <a:r>
              <a:rPr lang="en-US" altLang="zh-CN" sz="1400" b="1" u="sng" baseline="0" dirty="0">
                <a:solidFill>
                  <a:srgbClr val="0070C0"/>
                </a:solidFill>
                <a:latin typeface="Calibri" panose="020F0502020204030204" pitchFamily="34" charset="0"/>
              </a:rPr>
              <a:t> NGHỆ THÔNG TIN</a:t>
            </a:r>
            <a:endParaRPr lang="en-US" altLang="zh-CN" sz="1400" b="1" u="sng" dirty="0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34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/>
          <p:cNvSpPr>
            <a:spLocks noGrp="1"/>
          </p:cNvSpPr>
          <p:nvPr>
            <p:ph type="title"/>
          </p:nvPr>
        </p:nvSpPr>
        <p:spPr>
          <a:xfrm>
            <a:off x="838200" y="109631"/>
            <a:ext cx="10515600" cy="11140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4400" b="1">
                <a:solidFill>
                  <a:srgbClr val="D32F2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38200" y="1385047"/>
            <a:ext cx="10515600" cy="4791916"/>
          </a:xfrm>
        </p:spPr>
        <p:txBody>
          <a:bodyPr/>
          <a:lstStyle>
            <a:lvl1pPr algn="just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002060"/>
                </a:solidFill>
              </a:defRPr>
            </a:lvl1pPr>
            <a:lvl2pPr algn="just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002060"/>
                </a:solidFill>
              </a:defRPr>
            </a:lvl2pPr>
            <a:lvl3pPr algn="just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002060"/>
                </a:solidFill>
              </a:defRPr>
            </a:lvl3pPr>
            <a:lvl4pPr algn="just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002060"/>
                </a:solidFill>
              </a:defRPr>
            </a:lvl4pPr>
            <a:lvl5pPr algn="just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8983134" y="6519446"/>
            <a:ext cx="27685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smtClean="0">
                <a:solidFill>
                  <a:srgbClr val="002060"/>
                </a:solidFill>
              </a:rPr>
              <a:t>Phan </a:t>
            </a:r>
            <a:r>
              <a:rPr lang="en-US" sz="1600" dirty="0" err="1" smtClean="0">
                <a:solidFill>
                  <a:srgbClr val="002060"/>
                </a:solidFill>
              </a:rPr>
              <a:t>Hồ</a:t>
            </a:r>
            <a:r>
              <a:rPr lang="en-US" sz="1600" baseline="0" dirty="0" smtClean="0">
                <a:solidFill>
                  <a:srgbClr val="002060"/>
                </a:solidFill>
              </a:rPr>
              <a:t> </a:t>
            </a:r>
            <a:r>
              <a:rPr lang="en-US" sz="1600" baseline="0" dirty="0" err="1" smtClean="0">
                <a:solidFill>
                  <a:srgbClr val="002060"/>
                </a:solidFill>
              </a:rPr>
              <a:t>Viết</a:t>
            </a:r>
            <a:r>
              <a:rPr lang="en-US" sz="1600" baseline="0" dirty="0" smtClean="0">
                <a:solidFill>
                  <a:srgbClr val="002060"/>
                </a:solidFill>
              </a:rPr>
              <a:t> </a:t>
            </a:r>
            <a:r>
              <a:rPr lang="en-US" sz="1600" baseline="0" dirty="0" err="1" smtClean="0">
                <a:solidFill>
                  <a:srgbClr val="002060"/>
                </a:solidFill>
              </a:rPr>
              <a:t>Trường</a:t>
            </a:r>
            <a:r>
              <a:rPr lang="en-US" sz="1600" dirty="0" smtClean="0">
                <a:solidFill>
                  <a:srgbClr val="002060"/>
                </a:solidFill>
              </a:rPr>
              <a:t> </a:t>
            </a:r>
            <a:endParaRPr lang="en-US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581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1698623" y="2746373"/>
            <a:ext cx="2187580" cy="2187580"/>
          </a:xfrm>
          <a:custGeom>
            <a:avLst/>
            <a:gdLst>
              <a:gd name="connsiteX0" fmla="*/ 1093790 w 2187580"/>
              <a:gd name="connsiteY0" fmla="*/ 0 h 2187580"/>
              <a:gd name="connsiteX1" fmla="*/ 2187580 w 2187580"/>
              <a:gd name="connsiteY1" fmla="*/ 1093790 h 2187580"/>
              <a:gd name="connsiteX2" fmla="*/ 1093790 w 2187580"/>
              <a:gd name="connsiteY2" fmla="*/ 2187580 h 2187580"/>
              <a:gd name="connsiteX3" fmla="*/ 0 w 2187580"/>
              <a:gd name="connsiteY3" fmla="*/ 1093790 h 2187580"/>
              <a:gd name="connsiteX4" fmla="*/ 1093790 w 2187580"/>
              <a:gd name="connsiteY4" fmla="*/ 0 h 2187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7580" h="2187580">
                <a:moveTo>
                  <a:pt x="1093790" y="0"/>
                </a:moveTo>
                <a:cubicBezTo>
                  <a:pt x="1697874" y="0"/>
                  <a:pt x="2187580" y="489706"/>
                  <a:pt x="2187580" y="1093790"/>
                </a:cubicBezTo>
                <a:cubicBezTo>
                  <a:pt x="2187580" y="1697874"/>
                  <a:pt x="1697874" y="2187580"/>
                  <a:pt x="1093790" y="2187580"/>
                </a:cubicBezTo>
                <a:cubicBezTo>
                  <a:pt x="489706" y="2187580"/>
                  <a:pt x="0" y="1697874"/>
                  <a:pt x="0" y="1093790"/>
                </a:cubicBezTo>
                <a:cubicBezTo>
                  <a:pt x="0" y="489706"/>
                  <a:pt x="489706" y="0"/>
                  <a:pt x="109379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456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D259C-DC23-44C0-9168-74EED2A8E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457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D259C-DC23-44C0-9168-74EED2A8E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028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D259C-DC23-44C0-9168-74EED2A8E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60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D259C-DC23-44C0-9168-74EED2A8E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481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D259C-DC23-44C0-9168-74EED2A8E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22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D259C-DC23-44C0-9168-74EED2A8E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622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D259C-DC23-44C0-9168-74EED2A8E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0796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D259C-DC23-44C0-9168-74EED2A8E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009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D259C-DC23-44C0-9168-74EED2A8E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493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D259C-DC23-44C0-9168-74EED2A8E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360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D259C-DC23-44C0-9168-74EED2A8E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449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557766" cy="1418446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4318000" y="2971800"/>
            <a:ext cx="3556000" cy="229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感谢您下载包图网平台上提供的</a:t>
            </a:r>
            <a:r>
              <a:rPr lang="en-US" altLang="zh-CN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3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作品，为了您和包图网以及原创作者的利益，请勿复制、传播、销售，否则将承担法律责任！包图网将对作品进行维权，按照传播下载次数进行十倍的索取赔偿！</a:t>
            </a:r>
          </a:p>
          <a:p>
            <a:r>
              <a:rPr lang="en-US" altLang="zh-CN" sz="600" dirty="0">
                <a:solidFill>
                  <a:schemeClr val="bg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ibaotu.com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1602899" y="6287572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32052700-9C14-40BB-AC4A-3575FEFBB826}" type="slidenum">
              <a:rPr lang="en-US" b="1" smtClean="0">
                <a:latin typeface="Cambria" panose="02040503050406030204" pitchFamily="18" charset="0"/>
              </a:rPr>
              <a:t>‹#›</a:t>
            </a:fld>
            <a:endParaRPr lang="en-US" b="1" dirty="0">
              <a:latin typeface="Cambria" panose="02040503050406030204" pitchFamily="18" charset="0"/>
            </a:endParaRPr>
          </a:p>
        </p:txBody>
      </p:sp>
      <p:cxnSp>
        <p:nvCxnSpPr>
          <p:cNvPr id="5" name="Straight Connector 4"/>
          <p:cNvCxnSpPr/>
          <p:nvPr userDrawn="1"/>
        </p:nvCxnSpPr>
        <p:spPr>
          <a:xfrm flipV="1">
            <a:off x="0" y="6457950"/>
            <a:ext cx="11458575" cy="14288"/>
          </a:xfrm>
          <a:prstGeom prst="line">
            <a:avLst/>
          </a:prstGeom>
          <a:ln w="28575">
            <a:solidFill>
              <a:srgbClr val="D32F2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" y="6517929"/>
            <a:ext cx="1003300" cy="294229"/>
          </a:xfrm>
          <a:prstGeom prst="rect">
            <a:avLst/>
          </a:prstGeom>
        </p:spPr>
      </p:pic>
      <p:sp>
        <p:nvSpPr>
          <p:cNvPr id="8" name="TextBox 7"/>
          <p:cNvSpPr txBox="1"/>
          <p:nvPr userDrawn="1"/>
        </p:nvSpPr>
        <p:spPr>
          <a:xfrm>
            <a:off x="1025524" y="6517929"/>
            <a:ext cx="231191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 dirty="0">
                <a:solidFill>
                  <a:srgbClr val="0070C0"/>
                </a:solidFill>
                <a:latin typeface="Cambria" panose="02040503050406030204" pitchFamily="18" charset="0"/>
              </a:rPr>
              <a:t>KHOA</a:t>
            </a:r>
            <a:r>
              <a:rPr lang="en-US" sz="1200" b="1" baseline="0" dirty="0">
                <a:solidFill>
                  <a:srgbClr val="0070C0"/>
                </a:solidFill>
                <a:latin typeface="Cambria" panose="02040503050406030204" pitchFamily="18" charset="0"/>
              </a:rPr>
              <a:t> CÔNG NGHỆ THÔNG TIN</a:t>
            </a:r>
            <a:endParaRPr lang="en-US" sz="1200" b="1" dirty="0">
              <a:solidFill>
                <a:srgbClr val="0070C0"/>
              </a:solidFill>
              <a:latin typeface="Cambria" panose="02040503050406030204" pitchFamily="18" charset="0"/>
            </a:endParaRP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64241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2" r:id="rId4"/>
    <p:sldLayoutId id="2147483670" r:id="rId5"/>
  </p:sldLayoutIdLst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D259C-DC23-44C0-9168-74EED2A8E6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84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EF99411-4709-4D85-A7C3-945C4791A054}"/>
              </a:ext>
            </a:extLst>
          </p:cNvPr>
          <p:cNvSpPr txBox="1"/>
          <p:nvPr/>
        </p:nvSpPr>
        <p:spPr>
          <a:xfrm>
            <a:off x="944457" y="1625116"/>
            <a:ext cx="10900100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4000" b="1" dirty="0" smtClean="0">
                <a:solidFill>
                  <a:srgbClr val="2C3E50"/>
                </a:solidFill>
                <a:latin typeface="Cambria" panose="0204050305040603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CÁC CÔNG CỤ &amp; NỀN TẢNG TRÍ TUỆ NHÂN TẠO</a:t>
            </a:r>
            <a:endParaRPr lang="en-US" altLang="zh-CN" sz="4000" b="1" dirty="0">
              <a:solidFill>
                <a:srgbClr val="2C3E50"/>
              </a:solidFill>
              <a:latin typeface="Cambria" panose="0204050305040603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97D9BB3D-6037-4984-B1C9-6EA6F0733901}"/>
              </a:ext>
            </a:extLst>
          </p:cNvPr>
          <p:cNvGrpSpPr/>
          <p:nvPr/>
        </p:nvGrpSpPr>
        <p:grpSpPr>
          <a:xfrm>
            <a:off x="4520692" y="4328846"/>
            <a:ext cx="416937" cy="416934"/>
            <a:chOff x="891974" y="4415843"/>
            <a:chExt cx="450443" cy="450443"/>
          </a:xfrm>
        </p:grpSpPr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9C9DB4BA-54F7-4C0E-AE0C-B1C46DE8FD76}"/>
                </a:ext>
              </a:extLst>
            </p:cNvPr>
            <p:cNvSpPr/>
            <p:nvPr/>
          </p:nvSpPr>
          <p:spPr>
            <a:xfrm>
              <a:off x="891974" y="4415843"/>
              <a:ext cx="450443" cy="450443"/>
            </a:xfrm>
            <a:prstGeom prst="ellipse">
              <a:avLst/>
            </a:pr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1" name="椭圆 39">
              <a:extLst>
                <a:ext uri="{FF2B5EF4-FFF2-40B4-BE49-F238E27FC236}">
                  <a16:creationId xmlns:a16="http://schemas.microsoft.com/office/drawing/2014/main" id="{A2EF981A-E8A3-4B9C-9705-339D975A808A}"/>
                </a:ext>
              </a:extLst>
            </p:cNvPr>
            <p:cNvSpPr/>
            <p:nvPr/>
          </p:nvSpPr>
          <p:spPr>
            <a:xfrm>
              <a:off x="993275" y="4502064"/>
              <a:ext cx="247839" cy="278000"/>
            </a:xfrm>
            <a:custGeom>
              <a:avLst/>
              <a:gdLst>
                <a:gd name="connsiteX0" fmla="*/ 199932 w 300038"/>
                <a:gd name="connsiteY0" fmla="*/ 273051 h 336551"/>
                <a:gd name="connsiteX1" fmla="*/ 192088 w 300038"/>
                <a:gd name="connsiteY1" fmla="*/ 280989 h 336551"/>
                <a:gd name="connsiteX2" fmla="*/ 192088 w 300038"/>
                <a:gd name="connsiteY2" fmla="*/ 306124 h 336551"/>
                <a:gd name="connsiteX3" fmla="*/ 199932 w 300038"/>
                <a:gd name="connsiteY3" fmla="*/ 312739 h 336551"/>
                <a:gd name="connsiteX4" fmla="*/ 250919 w 300038"/>
                <a:gd name="connsiteY4" fmla="*/ 312739 h 336551"/>
                <a:gd name="connsiteX5" fmla="*/ 258763 w 300038"/>
                <a:gd name="connsiteY5" fmla="*/ 306124 h 336551"/>
                <a:gd name="connsiteX6" fmla="*/ 258763 w 300038"/>
                <a:gd name="connsiteY6" fmla="*/ 280989 h 336551"/>
                <a:gd name="connsiteX7" fmla="*/ 250919 w 300038"/>
                <a:gd name="connsiteY7" fmla="*/ 273051 h 336551"/>
                <a:gd name="connsiteX8" fmla="*/ 199932 w 300038"/>
                <a:gd name="connsiteY8" fmla="*/ 273051 h 336551"/>
                <a:gd name="connsiteX9" fmla="*/ 101328 w 300038"/>
                <a:gd name="connsiteY9" fmla="*/ 196851 h 336551"/>
                <a:gd name="connsiteX10" fmla="*/ 107908 w 300038"/>
                <a:gd name="connsiteY10" fmla="*/ 196851 h 336551"/>
                <a:gd name="connsiteX11" fmla="*/ 111856 w 300038"/>
                <a:gd name="connsiteY11" fmla="*/ 202123 h 336551"/>
                <a:gd name="connsiteX12" fmla="*/ 128964 w 300038"/>
                <a:gd name="connsiteY12" fmla="*/ 248250 h 336551"/>
                <a:gd name="connsiteX13" fmla="*/ 131595 w 300038"/>
                <a:gd name="connsiteY13" fmla="*/ 239025 h 336551"/>
                <a:gd name="connsiteX14" fmla="*/ 126332 w 300038"/>
                <a:gd name="connsiteY14" fmla="*/ 225845 h 336551"/>
                <a:gd name="connsiteX15" fmla="*/ 127648 w 300038"/>
                <a:gd name="connsiteY15" fmla="*/ 217938 h 336551"/>
                <a:gd name="connsiteX16" fmla="*/ 132911 w 300038"/>
                <a:gd name="connsiteY16" fmla="*/ 215302 h 336551"/>
                <a:gd name="connsiteX17" fmla="*/ 167126 w 300038"/>
                <a:gd name="connsiteY17" fmla="*/ 215302 h 336551"/>
                <a:gd name="connsiteX18" fmla="*/ 172390 w 300038"/>
                <a:gd name="connsiteY18" fmla="*/ 217938 h 336551"/>
                <a:gd name="connsiteX19" fmla="*/ 173706 w 300038"/>
                <a:gd name="connsiteY19" fmla="*/ 225845 h 336551"/>
                <a:gd name="connsiteX20" fmla="*/ 168442 w 300038"/>
                <a:gd name="connsiteY20" fmla="*/ 239025 h 336551"/>
                <a:gd name="connsiteX21" fmla="*/ 171074 w 300038"/>
                <a:gd name="connsiteY21" fmla="*/ 248250 h 336551"/>
                <a:gd name="connsiteX22" fmla="*/ 188182 w 300038"/>
                <a:gd name="connsiteY22" fmla="*/ 202123 h 336551"/>
                <a:gd name="connsiteX23" fmla="*/ 192130 w 300038"/>
                <a:gd name="connsiteY23" fmla="*/ 196851 h 336551"/>
                <a:gd name="connsiteX24" fmla="*/ 198710 w 300038"/>
                <a:gd name="connsiteY24" fmla="*/ 196851 h 336551"/>
                <a:gd name="connsiteX25" fmla="*/ 265823 w 300038"/>
                <a:gd name="connsiteY25" fmla="*/ 224527 h 336551"/>
                <a:gd name="connsiteX26" fmla="*/ 300038 w 300038"/>
                <a:gd name="connsiteY26" fmla="*/ 274609 h 336551"/>
                <a:gd name="connsiteX27" fmla="*/ 300038 w 300038"/>
                <a:gd name="connsiteY27" fmla="*/ 328643 h 336551"/>
                <a:gd name="connsiteX28" fmla="*/ 292142 w 300038"/>
                <a:gd name="connsiteY28" fmla="*/ 336551 h 336551"/>
                <a:gd name="connsiteX29" fmla="*/ 7896 w 300038"/>
                <a:gd name="connsiteY29" fmla="*/ 336551 h 336551"/>
                <a:gd name="connsiteX30" fmla="*/ 0 w 300038"/>
                <a:gd name="connsiteY30" fmla="*/ 328643 h 336551"/>
                <a:gd name="connsiteX31" fmla="*/ 0 w 300038"/>
                <a:gd name="connsiteY31" fmla="*/ 274609 h 336551"/>
                <a:gd name="connsiteX32" fmla="*/ 34215 w 300038"/>
                <a:gd name="connsiteY32" fmla="*/ 224527 h 336551"/>
                <a:gd name="connsiteX33" fmla="*/ 101328 w 300038"/>
                <a:gd name="connsiteY33" fmla="*/ 196851 h 336551"/>
                <a:gd name="connsiteX34" fmla="*/ 155328 w 300038"/>
                <a:gd name="connsiteY34" fmla="*/ 0 h 336551"/>
                <a:gd name="connsiteX35" fmla="*/ 201775 w 300038"/>
                <a:gd name="connsiteY35" fmla="*/ 15854 h 336551"/>
                <a:gd name="connsiteX36" fmla="*/ 223008 w 300038"/>
                <a:gd name="connsiteY36" fmla="*/ 79268 h 336551"/>
                <a:gd name="connsiteX37" fmla="*/ 224335 w 300038"/>
                <a:gd name="connsiteY37" fmla="*/ 93801 h 336551"/>
                <a:gd name="connsiteX38" fmla="*/ 229643 w 300038"/>
                <a:gd name="connsiteY38" fmla="*/ 100407 h 336551"/>
                <a:gd name="connsiteX39" fmla="*/ 232297 w 300038"/>
                <a:gd name="connsiteY39" fmla="*/ 125508 h 336551"/>
                <a:gd name="connsiteX40" fmla="*/ 208410 w 300038"/>
                <a:gd name="connsiteY40" fmla="*/ 151931 h 336551"/>
                <a:gd name="connsiteX41" fmla="*/ 185850 w 300038"/>
                <a:gd name="connsiteY41" fmla="*/ 183639 h 336551"/>
                <a:gd name="connsiteX42" fmla="*/ 172579 w 300038"/>
                <a:gd name="connsiteY42" fmla="*/ 192887 h 336551"/>
                <a:gd name="connsiteX43" fmla="*/ 150019 w 300038"/>
                <a:gd name="connsiteY43" fmla="*/ 196850 h 336551"/>
                <a:gd name="connsiteX44" fmla="*/ 127459 w 300038"/>
                <a:gd name="connsiteY44" fmla="*/ 192887 h 336551"/>
                <a:gd name="connsiteX45" fmla="*/ 114189 w 300038"/>
                <a:gd name="connsiteY45" fmla="*/ 183639 h 336551"/>
                <a:gd name="connsiteX46" fmla="*/ 91629 w 300038"/>
                <a:gd name="connsiteY46" fmla="*/ 151931 h 336551"/>
                <a:gd name="connsiteX47" fmla="*/ 67742 w 300038"/>
                <a:gd name="connsiteY47" fmla="*/ 125508 h 336551"/>
                <a:gd name="connsiteX48" fmla="*/ 70396 w 300038"/>
                <a:gd name="connsiteY48" fmla="*/ 100407 h 336551"/>
                <a:gd name="connsiteX49" fmla="*/ 75704 w 300038"/>
                <a:gd name="connsiteY49" fmla="*/ 93801 h 336551"/>
                <a:gd name="connsiteX50" fmla="*/ 77031 w 300038"/>
                <a:gd name="connsiteY50" fmla="*/ 85874 h 336551"/>
                <a:gd name="connsiteX51" fmla="*/ 74377 w 300038"/>
                <a:gd name="connsiteY51" fmla="*/ 50203 h 336551"/>
                <a:gd name="connsiteX52" fmla="*/ 103572 w 300038"/>
                <a:gd name="connsiteY52" fmla="*/ 27744 h 336551"/>
                <a:gd name="connsiteX53" fmla="*/ 119497 w 300038"/>
                <a:gd name="connsiteY53" fmla="*/ 10569 h 336551"/>
                <a:gd name="connsiteX54" fmla="*/ 155328 w 300038"/>
                <a:gd name="connsiteY54" fmla="*/ 0 h 3365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300038" h="336551">
                  <a:moveTo>
                    <a:pt x="199932" y="273051"/>
                  </a:moveTo>
                  <a:cubicBezTo>
                    <a:pt x="194703" y="273051"/>
                    <a:pt x="192088" y="277020"/>
                    <a:pt x="192088" y="280989"/>
                  </a:cubicBezTo>
                  <a:cubicBezTo>
                    <a:pt x="192088" y="306124"/>
                    <a:pt x="192088" y="306124"/>
                    <a:pt x="192088" y="306124"/>
                  </a:cubicBezTo>
                  <a:cubicBezTo>
                    <a:pt x="192088" y="310093"/>
                    <a:pt x="194703" y="312739"/>
                    <a:pt x="199932" y="312739"/>
                  </a:cubicBezTo>
                  <a:cubicBezTo>
                    <a:pt x="250919" y="312739"/>
                    <a:pt x="250919" y="312739"/>
                    <a:pt x="250919" y="312739"/>
                  </a:cubicBezTo>
                  <a:cubicBezTo>
                    <a:pt x="254841" y="312739"/>
                    <a:pt x="258763" y="310093"/>
                    <a:pt x="258763" y="306124"/>
                  </a:cubicBezTo>
                  <a:lnTo>
                    <a:pt x="258763" y="280989"/>
                  </a:lnTo>
                  <a:cubicBezTo>
                    <a:pt x="258763" y="277020"/>
                    <a:pt x="254841" y="273051"/>
                    <a:pt x="250919" y="273051"/>
                  </a:cubicBezTo>
                  <a:cubicBezTo>
                    <a:pt x="199932" y="273051"/>
                    <a:pt x="199932" y="273051"/>
                    <a:pt x="199932" y="273051"/>
                  </a:cubicBezTo>
                  <a:close/>
                  <a:moveTo>
                    <a:pt x="101328" y="196851"/>
                  </a:moveTo>
                  <a:cubicBezTo>
                    <a:pt x="103960" y="196851"/>
                    <a:pt x="105276" y="196851"/>
                    <a:pt x="107908" y="196851"/>
                  </a:cubicBezTo>
                  <a:cubicBezTo>
                    <a:pt x="109224" y="198169"/>
                    <a:pt x="110540" y="199487"/>
                    <a:pt x="111856" y="202123"/>
                  </a:cubicBezTo>
                  <a:cubicBezTo>
                    <a:pt x="128964" y="248250"/>
                    <a:pt x="128964" y="248250"/>
                    <a:pt x="128964" y="248250"/>
                  </a:cubicBezTo>
                  <a:cubicBezTo>
                    <a:pt x="131595" y="239025"/>
                    <a:pt x="131595" y="239025"/>
                    <a:pt x="131595" y="239025"/>
                  </a:cubicBezTo>
                  <a:cubicBezTo>
                    <a:pt x="126332" y="225845"/>
                    <a:pt x="126332" y="225845"/>
                    <a:pt x="126332" y="225845"/>
                  </a:cubicBezTo>
                  <a:cubicBezTo>
                    <a:pt x="125016" y="223209"/>
                    <a:pt x="126332" y="220574"/>
                    <a:pt x="127648" y="217938"/>
                  </a:cubicBezTo>
                  <a:cubicBezTo>
                    <a:pt x="128964" y="216620"/>
                    <a:pt x="131595" y="215302"/>
                    <a:pt x="132911" y="215302"/>
                  </a:cubicBezTo>
                  <a:cubicBezTo>
                    <a:pt x="167126" y="215302"/>
                    <a:pt x="167126" y="215302"/>
                    <a:pt x="167126" y="215302"/>
                  </a:cubicBezTo>
                  <a:cubicBezTo>
                    <a:pt x="168442" y="215302"/>
                    <a:pt x="171074" y="216620"/>
                    <a:pt x="172390" y="217938"/>
                  </a:cubicBezTo>
                  <a:cubicBezTo>
                    <a:pt x="173706" y="220574"/>
                    <a:pt x="175022" y="223209"/>
                    <a:pt x="173706" y="225845"/>
                  </a:cubicBezTo>
                  <a:cubicBezTo>
                    <a:pt x="168442" y="239025"/>
                    <a:pt x="168442" y="239025"/>
                    <a:pt x="168442" y="239025"/>
                  </a:cubicBezTo>
                  <a:cubicBezTo>
                    <a:pt x="171074" y="248250"/>
                    <a:pt x="171074" y="248250"/>
                    <a:pt x="171074" y="248250"/>
                  </a:cubicBezTo>
                  <a:cubicBezTo>
                    <a:pt x="188182" y="202123"/>
                    <a:pt x="188182" y="202123"/>
                    <a:pt x="188182" y="202123"/>
                  </a:cubicBezTo>
                  <a:cubicBezTo>
                    <a:pt x="189498" y="199487"/>
                    <a:pt x="190814" y="198169"/>
                    <a:pt x="192130" y="196851"/>
                  </a:cubicBezTo>
                  <a:cubicBezTo>
                    <a:pt x="194762" y="196851"/>
                    <a:pt x="196078" y="196851"/>
                    <a:pt x="198710" y="196851"/>
                  </a:cubicBezTo>
                  <a:cubicBezTo>
                    <a:pt x="265823" y="224527"/>
                    <a:pt x="265823" y="224527"/>
                    <a:pt x="265823" y="224527"/>
                  </a:cubicBezTo>
                  <a:cubicBezTo>
                    <a:pt x="286879" y="232435"/>
                    <a:pt x="300038" y="252204"/>
                    <a:pt x="300038" y="274609"/>
                  </a:cubicBezTo>
                  <a:cubicBezTo>
                    <a:pt x="300038" y="328643"/>
                    <a:pt x="300038" y="328643"/>
                    <a:pt x="300038" y="328643"/>
                  </a:cubicBezTo>
                  <a:cubicBezTo>
                    <a:pt x="300038" y="332597"/>
                    <a:pt x="296090" y="336551"/>
                    <a:pt x="292142" y="336551"/>
                  </a:cubicBezTo>
                  <a:cubicBezTo>
                    <a:pt x="7896" y="336551"/>
                    <a:pt x="7896" y="336551"/>
                    <a:pt x="7896" y="336551"/>
                  </a:cubicBezTo>
                  <a:cubicBezTo>
                    <a:pt x="3948" y="336551"/>
                    <a:pt x="0" y="332597"/>
                    <a:pt x="0" y="328643"/>
                  </a:cubicBezTo>
                  <a:cubicBezTo>
                    <a:pt x="0" y="274609"/>
                    <a:pt x="0" y="274609"/>
                    <a:pt x="0" y="274609"/>
                  </a:cubicBezTo>
                  <a:cubicBezTo>
                    <a:pt x="0" y="252204"/>
                    <a:pt x="13159" y="232435"/>
                    <a:pt x="34215" y="224527"/>
                  </a:cubicBezTo>
                  <a:cubicBezTo>
                    <a:pt x="101328" y="196851"/>
                    <a:pt x="101328" y="196851"/>
                    <a:pt x="101328" y="196851"/>
                  </a:cubicBezTo>
                  <a:close/>
                  <a:moveTo>
                    <a:pt x="155328" y="0"/>
                  </a:moveTo>
                  <a:cubicBezTo>
                    <a:pt x="171252" y="0"/>
                    <a:pt x="187177" y="5285"/>
                    <a:pt x="201775" y="15854"/>
                  </a:cubicBezTo>
                  <a:cubicBezTo>
                    <a:pt x="225662" y="34350"/>
                    <a:pt x="223008" y="72663"/>
                    <a:pt x="223008" y="79268"/>
                  </a:cubicBezTo>
                  <a:cubicBezTo>
                    <a:pt x="223008" y="84553"/>
                    <a:pt x="224335" y="89838"/>
                    <a:pt x="224335" y="93801"/>
                  </a:cubicBezTo>
                  <a:cubicBezTo>
                    <a:pt x="225662" y="95122"/>
                    <a:pt x="228316" y="96443"/>
                    <a:pt x="229643" y="100407"/>
                  </a:cubicBezTo>
                  <a:cubicBezTo>
                    <a:pt x="234951" y="107012"/>
                    <a:pt x="234951" y="114939"/>
                    <a:pt x="232297" y="125508"/>
                  </a:cubicBezTo>
                  <a:cubicBezTo>
                    <a:pt x="226989" y="146647"/>
                    <a:pt x="215045" y="150610"/>
                    <a:pt x="208410" y="151931"/>
                  </a:cubicBezTo>
                  <a:cubicBezTo>
                    <a:pt x="204429" y="159858"/>
                    <a:pt x="195139" y="175712"/>
                    <a:pt x="185850" y="183639"/>
                  </a:cubicBezTo>
                  <a:cubicBezTo>
                    <a:pt x="183196" y="187602"/>
                    <a:pt x="177888" y="190244"/>
                    <a:pt x="172579" y="192887"/>
                  </a:cubicBezTo>
                  <a:cubicBezTo>
                    <a:pt x="164617" y="195529"/>
                    <a:pt x="157982" y="196850"/>
                    <a:pt x="150019" y="196850"/>
                  </a:cubicBezTo>
                  <a:cubicBezTo>
                    <a:pt x="142057" y="196850"/>
                    <a:pt x="135422" y="195529"/>
                    <a:pt x="127459" y="192887"/>
                  </a:cubicBezTo>
                  <a:cubicBezTo>
                    <a:pt x="122151" y="190244"/>
                    <a:pt x="116843" y="187602"/>
                    <a:pt x="114189" y="183639"/>
                  </a:cubicBezTo>
                  <a:cubicBezTo>
                    <a:pt x="104900" y="175712"/>
                    <a:pt x="95610" y="159858"/>
                    <a:pt x="91629" y="151931"/>
                  </a:cubicBezTo>
                  <a:cubicBezTo>
                    <a:pt x="84994" y="150610"/>
                    <a:pt x="73050" y="146647"/>
                    <a:pt x="67742" y="125508"/>
                  </a:cubicBezTo>
                  <a:cubicBezTo>
                    <a:pt x="65088" y="114939"/>
                    <a:pt x="65088" y="107012"/>
                    <a:pt x="70396" y="100407"/>
                  </a:cubicBezTo>
                  <a:cubicBezTo>
                    <a:pt x="71723" y="96443"/>
                    <a:pt x="74377" y="95122"/>
                    <a:pt x="75704" y="93801"/>
                  </a:cubicBezTo>
                  <a:cubicBezTo>
                    <a:pt x="75704" y="91159"/>
                    <a:pt x="75704" y="88516"/>
                    <a:pt x="77031" y="85874"/>
                  </a:cubicBezTo>
                  <a:cubicBezTo>
                    <a:pt x="73050" y="80590"/>
                    <a:pt x="67742" y="68699"/>
                    <a:pt x="74377" y="50203"/>
                  </a:cubicBezTo>
                  <a:cubicBezTo>
                    <a:pt x="81013" y="30386"/>
                    <a:pt x="95610" y="27744"/>
                    <a:pt x="103572" y="27744"/>
                  </a:cubicBezTo>
                  <a:cubicBezTo>
                    <a:pt x="106227" y="22459"/>
                    <a:pt x="111535" y="17175"/>
                    <a:pt x="119497" y="10569"/>
                  </a:cubicBezTo>
                  <a:cubicBezTo>
                    <a:pt x="128786" y="3963"/>
                    <a:pt x="142057" y="0"/>
                    <a:pt x="1553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C9BD2F7B-3F77-4C00-A03B-0C17F27D1349}"/>
              </a:ext>
            </a:extLst>
          </p:cNvPr>
          <p:cNvSpPr txBox="1"/>
          <p:nvPr/>
        </p:nvSpPr>
        <p:spPr>
          <a:xfrm>
            <a:off x="5088019" y="4276226"/>
            <a:ext cx="3698795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b="1" dirty="0">
                <a:solidFill>
                  <a:srgbClr val="002060"/>
                </a:solidFill>
                <a:latin typeface="Cambria" panose="02040503050406030204" pitchFamily="18" charset="0"/>
                <a:ea typeface="+mj-ea"/>
              </a:rPr>
              <a:t>GVGD: PHAN HỒ VIẾT TRƯỜNG</a:t>
            </a:r>
            <a:endParaRPr lang="en-US" altLang="zh-CN" b="1" dirty="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pic>
        <p:nvPicPr>
          <p:cNvPr id="18" name="William Joseph - Radioactive">
            <a:hlinkClick r:id="" action="ppaction://media"/>
            <a:extLst>
              <a:ext uri="{FF2B5EF4-FFF2-40B4-BE49-F238E27FC236}">
                <a16:creationId xmlns:a16="http://schemas.microsoft.com/office/drawing/2014/main" id="{74606A9D-B362-448E-BAAC-A60B438E8DB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-733425"/>
            <a:ext cx="609600" cy="609600"/>
          </a:xfrm>
          <a:prstGeom prst="rect">
            <a:avLst/>
          </a:prstGeom>
        </p:spPr>
      </p:pic>
      <p:sp>
        <p:nvSpPr>
          <p:cNvPr id="13" name="文本框 6">
            <a:extLst>
              <a:ext uri="{FF2B5EF4-FFF2-40B4-BE49-F238E27FC236}">
                <a16:creationId xmlns:a16="http://schemas.microsoft.com/office/drawing/2014/main" id="{CEF99411-4709-4D85-A7C3-945C4791A054}"/>
              </a:ext>
            </a:extLst>
          </p:cNvPr>
          <p:cNvSpPr txBox="1"/>
          <p:nvPr/>
        </p:nvSpPr>
        <p:spPr>
          <a:xfrm>
            <a:off x="2004704" y="2306177"/>
            <a:ext cx="8779570" cy="5232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2800" b="1" dirty="0" smtClean="0">
                <a:solidFill>
                  <a:srgbClr val="2C3E50"/>
                </a:solidFill>
                <a:latin typeface="Cambria" panose="0204050305040603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GB" altLang="zh-CN" sz="2800" b="1" dirty="0">
                <a:solidFill>
                  <a:srgbClr val="2C3E50"/>
                </a:solidFill>
                <a:latin typeface="Cambria" panose="0204050305040603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Tools and Platforms for Artificial </a:t>
            </a:r>
            <a:r>
              <a:rPr lang="en-GB" altLang="zh-CN" sz="2800" b="1" dirty="0" smtClean="0">
                <a:solidFill>
                  <a:srgbClr val="2C3E50"/>
                </a:solidFill>
                <a:latin typeface="Cambria" panose="0204050305040603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Intelligence</a:t>
            </a:r>
            <a:r>
              <a:rPr lang="en-US" altLang="zh-CN" sz="2800" b="1" dirty="0" smtClean="0">
                <a:solidFill>
                  <a:srgbClr val="2C3E50"/>
                </a:solidFill>
                <a:latin typeface="Cambria" panose="0204050305040603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US" altLang="zh-CN" sz="2800" b="1" dirty="0">
              <a:solidFill>
                <a:srgbClr val="2C3E50"/>
              </a:solidFill>
              <a:latin typeface="Cambria" panose="0204050305040603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文本框 6">
            <a:extLst>
              <a:ext uri="{FF2B5EF4-FFF2-40B4-BE49-F238E27FC236}">
                <a16:creationId xmlns:a16="http://schemas.microsoft.com/office/drawing/2014/main" id="{CEF99411-4709-4D85-A7C3-945C4791A054}"/>
              </a:ext>
            </a:extLst>
          </p:cNvPr>
          <p:cNvSpPr txBox="1"/>
          <p:nvPr/>
        </p:nvSpPr>
        <p:spPr>
          <a:xfrm>
            <a:off x="1228299" y="3076744"/>
            <a:ext cx="9555975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b="1" dirty="0">
                <a:solidFill>
                  <a:srgbClr val="0070C0"/>
                </a:solidFill>
                <a:latin typeface="Cambria" panose="0204050305040603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CHƯƠNG  </a:t>
            </a:r>
            <a:r>
              <a:rPr lang="en-US" altLang="zh-CN" sz="3200" b="1" dirty="0" smtClean="0">
                <a:solidFill>
                  <a:srgbClr val="0070C0"/>
                </a:solidFill>
                <a:latin typeface="Cambria" panose="02040503050406030204" pitchFamily="18" charset="0"/>
                <a:ea typeface="Tahoma" panose="020B0604030504040204" pitchFamily="34" charset="0"/>
                <a:cs typeface="Tahoma" panose="020B0604030504040204" pitchFamily="34" charset="0"/>
              </a:rPr>
              <a:t>5: APACHE SPARK – MACHINE LEARNING</a:t>
            </a:r>
            <a:endParaRPr lang="en-US" altLang="zh-CN" sz="3200" b="1" dirty="0">
              <a:solidFill>
                <a:srgbClr val="0070C0"/>
              </a:solidFill>
              <a:latin typeface="Cambria" panose="02040503050406030204" pitchFamily="18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1363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>
          <p:childTnLst>
            <p:audio>
              <p:cMediaNode vol="80000" numSld="999">
                <p:cTn id="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49641" y="2732526"/>
            <a:ext cx="3049233" cy="830997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4800" b="1" dirty="0">
                <a:solidFill>
                  <a:schemeClr val="accent1"/>
                </a:solidFill>
                <a:latin typeface="Cambria" panose="02040503050406030204" pitchFamily="18" charset="0"/>
                <a:ea typeface="+mj-ea"/>
                <a:cs typeface="经典综艺体简" panose="02010609000101010101" pitchFamily="49" charset="-122"/>
              </a:rPr>
              <a:t>NỘI DUNG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95488" y="1099228"/>
            <a:ext cx="480343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Cambria" panose="02040503050406030204" pitchFamily="18" charset="0"/>
              </a:rPr>
              <a:t>GIỚI THIỆU DATAFRAME</a:t>
            </a:r>
            <a:endParaRPr lang="en-US" altLang="zh-CN" sz="3200" b="1" dirty="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17300" y="1934457"/>
            <a:ext cx="4688784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Cambria" panose="02040503050406030204" pitchFamily="18" charset="0"/>
              </a:rPr>
              <a:t>DATAFRAME - COLUMNS</a:t>
            </a:r>
            <a:endParaRPr lang="en-US" altLang="zh-CN" sz="3200" b="1" dirty="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795488" y="2748357"/>
            <a:ext cx="2087751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3200" b="1" dirty="0" smtClean="0">
                <a:solidFill>
                  <a:srgbClr val="002060"/>
                </a:solidFill>
                <a:latin typeface="Cambria" panose="02040503050406030204" pitchFamily="18" charset="0"/>
              </a:rPr>
              <a:t>DATASETS</a:t>
            </a:r>
            <a:endParaRPr lang="en-US" altLang="zh-CN" sz="3200" b="1" dirty="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770814" y="3535324"/>
            <a:ext cx="3596434" cy="58477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GB" altLang="zh-CN" sz="3200" b="1" dirty="0" smtClean="0">
                <a:solidFill>
                  <a:srgbClr val="002060"/>
                </a:solidFill>
                <a:latin typeface="Cambria" panose="02040503050406030204" pitchFamily="18" charset="0"/>
              </a:rPr>
              <a:t>ỨNG DỤNG SPARK</a:t>
            </a:r>
            <a:endParaRPr lang="zh-CN" altLang="en-US" sz="3200" b="1" dirty="0">
              <a:solidFill>
                <a:srgbClr val="002060"/>
              </a:solidFill>
              <a:latin typeface="Cambria" panose="020405030504060302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930519" y="1033270"/>
            <a:ext cx="886781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000" b="1" i="1" dirty="0">
                <a:solidFill>
                  <a:schemeClr val="accent1"/>
                </a:solidFill>
                <a:latin typeface="Cambria" panose="02040503050406030204" pitchFamily="18" charset="0"/>
              </a:rPr>
              <a:t>01.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930519" y="1863018"/>
            <a:ext cx="886781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000" b="1" i="1" dirty="0">
                <a:solidFill>
                  <a:schemeClr val="accent1"/>
                </a:solidFill>
                <a:latin typeface="Cambria" panose="02040503050406030204" pitchFamily="18" charset="0"/>
              </a:rPr>
              <a:t>02.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4930519" y="2675374"/>
            <a:ext cx="886781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000" b="1" i="1" dirty="0">
                <a:solidFill>
                  <a:schemeClr val="accent1"/>
                </a:solidFill>
                <a:latin typeface="Cambria" panose="02040503050406030204" pitchFamily="18" charset="0"/>
              </a:rPr>
              <a:t>03.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4930519" y="3446401"/>
            <a:ext cx="886781" cy="707886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r>
              <a:rPr lang="en-US" altLang="zh-CN" sz="4000" b="1" i="1" dirty="0">
                <a:solidFill>
                  <a:schemeClr val="accent1"/>
                </a:solidFill>
                <a:latin typeface="Cambria" panose="02040503050406030204" pitchFamily="18" charset="0"/>
              </a:rPr>
              <a:t>04.</a:t>
            </a:r>
          </a:p>
        </p:txBody>
      </p:sp>
    </p:spTree>
    <p:extLst>
      <p:ext uri="{BB962C8B-B14F-4D97-AF65-F5344CB8AC3E}">
        <p14:creationId xmlns:p14="http://schemas.microsoft.com/office/powerpoint/2010/main" val="133809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thiệu</a:t>
            </a:r>
            <a:r>
              <a:rPr lang="en-US" dirty="0" smtClean="0"/>
              <a:t> SPARK </a:t>
            </a:r>
            <a:r>
              <a:rPr lang="en-US" dirty="0" err="1" smtClean="0"/>
              <a:t>MLLib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491" y="1385047"/>
            <a:ext cx="7033395" cy="477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972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thiệu</a:t>
            </a:r>
            <a:r>
              <a:rPr lang="en-US" dirty="0" smtClean="0"/>
              <a:t> SPARK </a:t>
            </a:r>
            <a:r>
              <a:rPr lang="en-US" dirty="0" err="1" smtClean="0"/>
              <a:t>MLLib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637" y="1319212"/>
            <a:ext cx="7324725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674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thiệu</a:t>
            </a:r>
            <a:r>
              <a:rPr lang="en-US" dirty="0" smtClean="0"/>
              <a:t> SPARK </a:t>
            </a:r>
            <a:r>
              <a:rPr lang="en-US" dirty="0" err="1" smtClean="0"/>
              <a:t>MLLib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675" y="1381125"/>
            <a:ext cx="7486650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479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thiệu</a:t>
            </a:r>
            <a:r>
              <a:rPr lang="en-US" dirty="0" smtClean="0"/>
              <a:t> SPARK </a:t>
            </a:r>
            <a:r>
              <a:rPr lang="en-US" dirty="0" err="1" smtClean="0"/>
              <a:t>MLLib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Observation : </a:t>
            </a:r>
            <a:r>
              <a:rPr lang="en-GB" sz="2400" dirty="0" err="1" smtClean="0"/>
              <a:t>là</a:t>
            </a:r>
            <a:r>
              <a:rPr lang="en-GB" sz="2400" dirty="0" smtClean="0"/>
              <a:t> </a:t>
            </a:r>
            <a:r>
              <a:rPr lang="en-GB" sz="2400" dirty="0" err="1" smtClean="0"/>
              <a:t>một</a:t>
            </a:r>
            <a:r>
              <a:rPr lang="en-GB" sz="2400" dirty="0" smtClean="0"/>
              <a:t> </a:t>
            </a:r>
            <a:r>
              <a:rPr lang="en-GB" sz="2400" dirty="0" err="1" smtClean="0"/>
              <a:t>đối</a:t>
            </a:r>
            <a:r>
              <a:rPr lang="en-GB" sz="2400" dirty="0" smtClean="0"/>
              <a:t> </a:t>
            </a:r>
            <a:r>
              <a:rPr lang="en-GB" sz="2400" dirty="0" err="1" smtClean="0"/>
              <a:t>tượng</a:t>
            </a:r>
            <a:r>
              <a:rPr lang="en-GB" sz="2400" dirty="0" smtClean="0"/>
              <a:t> </a:t>
            </a:r>
            <a:r>
              <a:rPr lang="en-GB" sz="2400" dirty="0" err="1" smtClean="0"/>
              <a:t>cụ</a:t>
            </a:r>
            <a:r>
              <a:rPr lang="en-GB" sz="2400" dirty="0" smtClean="0"/>
              <a:t> </a:t>
            </a:r>
            <a:r>
              <a:rPr lang="en-GB" sz="2400" dirty="0" err="1" smtClean="0"/>
              <a:t>thể</a:t>
            </a:r>
            <a:r>
              <a:rPr lang="en-GB" sz="2400" dirty="0" smtClean="0"/>
              <a:t> </a:t>
            </a:r>
            <a:r>
              <a:rPr lang="en-GB" sz="2400" dirty="0" err="1" smtClean="0"/>
              <a:t>dùng</a:t>
            </a:r>
            <a:r>
              <a:rPr lang="en-GB" sz="2400" dirty="0" smtClean="0"/>
              <a:t> </a:t>
            </a:r>
            <a:r>
              <a:rPr lang="en-GB" sz="2400" dirty="0" err="1" smtClean="0"/>
              <a:t>cho</a:t>
            </a:r>
            <a:r>
              <a:rPr lang="en-GB" sz="2400" dirty="0" smtClean="0"/>
              <a:t> </a:t>
            </a:r>
            <a:r>
              <a:rPr lang="en-GB" sz="2400" dirty="0" err="1" smtClean="0"/>
              <a:t>việc</a:t>
            </a:r>
            <a:r>
              <a:rPr lang="en-GB" sz="2400" dirty="0" smtClean="0"/>
              <a:t> </a:t>
            </a:r>
            <a:r>
              <a:rPr lang="en-GB" sz="2400" dirty="0" err="1" smtClean="0"/>
              <a:t>học</a:t>
            </a:r>
            <a:endParaRPr lang="en-GB" sz="2400" dirty="0" smtClean="0"/>
          </a:p>
          <a:p>
            <a:r>
              <a:rPr lang="en-GB" sz="2400" dirty="0" smtClean="0"/>
              <a:t>Label : </a:t>
            </a:r>
            <a:r>
              <a:rPr lang="en-GB" sz="2400" dirty="0" err="1" smtClean="0"/>
              <a:t>Dùng</a:t>
            </a:r>
            <a:r>
              <a:rPr lang="en-GB" sz="2400" dirty="0" smtClean="0"/>
              <a:t> </a:t>
            </a:r>
            <a:r>
              <a:rPr lang="en-GB" sz="2400" dirty="0" err="1" smtClean="0"/>
              <a:t>để</a:t>
            </a:r>
            <a:r>
              <a:rPr lang="en-GB" sz="2400" dirty="0" smtClean="0"/>
              <a:t> </a:t>
            </a:r>
            <a:r>
              <a:rPr lang="en-GB" sz="2400" dirty="0" err="1" smtClean="0"/>
              <a:t>gán</a:t>
            </a:r>
            <a:r>
              <a:rPr lang="en-GB" sz="2400" dirty="0" smtClean="0"/>
              <a:t> </a:t>
            </a:r>
            <a:r>
              <a:rPr lang="en-GB" sz="2400" dirty="0" err="1" smtClean="0"/>
              <a:t>nhãn</a:t>
            </a:r>
            <a:r>
              <a:rPr lang="en-GB" sz="2400" dirty="0" smtClean="0"/>
              <a:t> </a:t>
            </a:r>
            <a:r>
              <a:rPr lang="en-GB" sz="2400" dirty="0" err="1" smtClean="0"/>
              <a:t>cho</a:t>
            </a:r>
            <a:r>
              <a:rPr lang="en-GB" sz="2400" dirty="0" smtClean="0"/>
              <a:t> </a:t>
            </a:r>
            <a:r>
              <a:rPr lang="en-GB" sz="2400" dirty="0" err="1" smtClean="0"/>
              <a:t>một</a:t>
            </a:r>
            <a:r>
              <a:rPr lang="en-GB" sz="2400" dirty="0" smtClean="0"/>
              <a:t> </a:t>
            </a:r>
            <a:r>
              <a:rPr lang="en-GB" sz="2400" dirty="0" err="1" smtClean="0"/>
              <a:t>đối</a:t>
            </a:r>
            <a:r>
              <a:rPr lang="en-GB" sz="2400" dirty="0" smtClean="0"/>
              <a:t> </a:t>
            </a:r>
            <a:r>
              <a:rPr lang="en-GB" sz="2400" dirty="0" err="1" smtClean="0"/>
              <a:t>tượng</a:t>
            </a:r>
            <a:r>
              <a:rPr lang="en-GB" sz="2400" dirty="0" smtClean="0"/>
              <a:t> </a:t>
            </a:r>
            <a:r>
              <a:rPr lang="en-GB" sz="2400" dirty="0" err="1" smtClean="0"/>
              <a:t>quan</a:t>
            </a:r>
            <a:r>
              <a:rPr lang="en-GB" sz="2400" dirty="0" smtClean="0"/>
              <a:t> </a:t>
            </a:r>
            <a:r>
              <a:rPr lang="en-GB" sz="2400" dirty="0" err="1" smtClean="0"/>
              <a:t>sát</a:t>
            </a:r>
            <a:r>
              <a:rPr lang="en-GB" sz="2400" dirty="0" smtClean="0"/>
              <a:t>.</a:t>
            </a:r>
          </a:p>
          <a:p>
            <a:r>
              <a:rPr lang="en-GB" sz="2400" dirty="0" smtClean="0"/>
              <a:t>Features: </a:t>
            </a:r>
            <a:r>
              <a:rPr lang="en-GB" sz="2400" dirty="0" err="1" smtClean="0"/>
              <a:t>những</a:t>
            </a:r>
            <a:r>
              <a:rPr lang="en-GB" sz="2400" dirty="0" smtClean="0"/>
              <a:t> </a:t>
            </a:r>
            <a:r>
              <a:rPr lang="en-GB" sz="2400" dirty="0" err="1" smtClean="0"/>
              <a:t>thuộc</a:t>
            </a:r>
            <a:r>
              <a:rPr lang="en-GB" sz="2400" dirty="0" smtClean="0"/>
              <a:t> </a:t>
            </a:r>
            <a:r>
              <a:rPr lang="en-GB" sz="2400" dirty="0" err="1" smtClean="0"/>
              <a:t>tính</a:t>
            </a:r>
            <a:r>
              <a:rPr lang="en-GB" sz="2400" dirty="0" smtClean="0"/>
              <a:t> </a:t>
            </a:r>
            <a:r>
              <a:rPr lang="en-GB" sz="2400" dirty="0" err="1" smtClean="0"/>
              <a:t>quan</a:t>
            </a:r>
            <a:r>
              <a:rPr lang="en-GB" sz="2400" dirty="0" smtClean="0"/>
              <a:t> </a:t>
            </a:r>
            <a:r>
              <a:rPr lang="en-GB" sz="2400" dirty="0" err="1" smtClean="0"/>
              <a:t>trọng</a:t>
            </a:r>
            <a:r>
              <a:rPr lang="en-GB" sz="2400" dirty="0" smtClean="0"/>
              <a:t> </a:t>
            </a:r>
            <a:r>
              <a:rPr lang="en-GB" sz="2400" dirty="0" err="1" smtClean="0"/>
              <a:t>mô</a:t>
            </a:r>
            <a:r>
              <a:rPr lang="en-GB" sz="2400" dirty="0" smtClean="0"/>
              <a:t> </a:t>
            </a:r>
            <a:r>
              <a:rPr lang="en-GB" sz="2400" dirty="0" err="1" smtClean="0"/>
              <a:t>tả</a:t>
            </a:r>
            <a:r>
              <a:rPr lang="en-GB" sz="2400" dirty="0" smtClean="0"/>
              <a:t> </a:t>
            </a:r>
            <a:r>
              <a:rPr lang="en-GB" sz="2400" dirty="0" err="1" smtClean="0"/>
              <a:t>cho</a:t>
            </a:r>
            <a:r>
              <a:rPr lang="en-GB" sz="2400" dirty="0" smtClean="0"/>
              <a:t> </a:t>
            </a:r>
            <a:r>
              <a:rPr lang="en-GB" sz="2400" dirty="0" err="1" smtClean="0"/>
              <a:t>đối</a:t>
            </a:r>
            <a:r>
              <a:rPr lang="en-GB" sz="2400" dirty="0" smtClean="0"/>
              <a:t> </a:t>
            </a:r>
            <a:r>
              <a:rPr lang="en-GB" sz="2400" dirty="0" err="1" smtClean="0"/>
              <a:t>tượng</a:t>
            </a:r>
            <a:r>
              <a:rPr lang="en-GB" sz="2400" dirty="0" smtClean="0"/>
              <a:t> </a:t>
            </a:r>
            <a:r>
              <a:rPr lang="en-GB" sz="2400" dirty="0" err="1" smtClean="0"/>
              <a:t>quan</a:t>
            </a:r>
            <a:r>
              <a:rPr lang="en-GB" sz="2400" dirty="0" smtClean="0"/>
              <a:t> </a:t>
            </a:r>
            <a:r>
              <a:rPr lang="en-GB" sz="2400" dirty="0" err="1" smtClean="0"/>
              <a:t>sát</a:t>
            </a:r>
            <a:endParaRPr lang="en-GB" sz="2400" dirty="0" smtClean="0"/>
          </a:p>
          <a:p>
            <a:r>
              <a:rPr lang="en-GB" sz="2400" dirty="0" smtClean="0"/>
              <a:t>Training data: </a:t>
            </a:r>
            <a:r>
              <a:rPr lang="en-GB" sz="2400" dirty="0" err="1" smtClean="0"/>
              <a:t>Một</a:t>
            </a:r>
            <a:r>
              <a:rPr lang="en-GB" sz="2400" dirty="0" smtClean="0"/>
              <a:t> </a:t>
            </a:r>
            <a:r>
              <a:rPr lang="en-GB" sz="2400" dirty="0" err="1" smtClean="0"/>
              <a:t>phần</a:t>
            </a:r>
            <a:r>
              <a:rPr lang="en-GB" sz="2400" dirty="0" smtClean="0"/>
              <a:t> </a:t>
            </a:r>
            <a:r>
              <a:rPr lang="en-GB" sz="2400" dirty="0" err="1" smtClean="0"/>
              <a:t>dữ</a:t>
            </a:r>
            <a:r>
              <a:rPr lang="en-GB" sz="2400" dirty="0" smtClean="0"/>
              <a:t> </a:t>
            </a:r>
            <a:r>
              <a:rPr lang="en-GB" sz="2400" dirty="0" err="1" smtClean="0"/>
              <a:t>liệu</a:t>
            </a:r>
            <a:r>
              <a:rPr lang="en-GB" sz="2400" dirty="0" smtClean="0"/>
              <a:t> </a:t>
            </a:r>
            <a:r>
              <a:rPr lang="en-GB" sz="2400" dirty="0" err="1" smtClean="0"/>
              <a:t>quan</a:t>
            </a:r>
            <a:r>
              <a:rPr lang="en-GB" sz="2400" dirty="0" smtClean="0"/>
              <a:t> </a:t>
            </a:r>
            <a:r>
              <a:rPr lang="en-GB" sz="2400" dirty="0" err="1" smtClean="0"/>
              <a:t>sát</a:t>
            </a:r>
            <a:r>
              <a:rPr lang="en-GB" sz="2400" dirty="0" smtClean="0"/>
              <a:t> </a:t>
            </a:r>
            <a:r>
              <a:rPr lang="en-GB" sz="2400" dirty="0" err="1" smtClean="0"/>
              <a:t>để</a:t>
            </a:r>
            <a:r>
              <a:rPr lang="en-GB" sz="2400" dirty="0" smtClean="0"/>
              <a:t> </a:t>
            </a:r>
            <a:r>
              <a:rPr lang="en-GB" sz="2400" dirty="0" err="1" smtClean="0"/>
              <a:t>huấn</a:t>
            </a:r>
            <a:r>
              <a:rPr lang="en-GB" sz="2400" dirty="0" smtClean="0"/>
              <a:t> </a:t>
            </a:r>
            <a:r>
              <a:rPr lang="en-GB" sz="2400" dirty="0" err="1" smtClean="0"/>
              <a:t>luyện</a:t>
            </a:r>
            <a:r>
              <a:rPr lang="en-GB" sz="2400" dirty="0" smtClean="0"/>
              <a:t> </a:t>
            </a:r>
            <a:r>
              <a:rPr lang="en-GB" sz="2400" dirty="0" err="1" smtClean="0"/>
              <a:t>mô</a:t>
            </a:r>
            <a:r>
              <a:rPr lang="en-GB" sz="2400" dirty="0" smtClean="0"/>
              <a:t> </a:t>
            </a:r>
            <a:r>
              <a:rPr lang="en-GB" sz="2400" dirty="0" err="1" smtClean="0"/>
              <a:t>hình</a:t>
            </a:r>
            <a:r>
              <a:rPr lang="en-GB" sz="2400" dirty="0" smtClean="0"/>
              <a:t> </a:t>
            </a:r>
            <a:r>
              <a:rPr lang="en-GB" sz="2400" dirty="0" err="1" smtClean="0"/>
              <a:t>học</a:t>
            </a:r>
            <a:endParaRPr lang="en-GB" sz="2400" dirty="0" smtClean="0"/>
          </a:p>
          <a:p>
            <a:r>
              <a:rPr lang="en-GB" sz="2400" dirty="0" smtClean="0"/>
              <a:t>Validation data: </a:t>
            </a:r>
            <a:r>
              <a:rPr lang="en-GB" sz="2400" dirty="0" err="1" smtClean="0"/>
              <a:t>Một</a:t>
            </a:r>
            <a:r>
              <a:rPr lang="en-GB" sz="2400" dirty="0" smtClean="0"/>
              <a:t> </a:t>
            </a:r>
            <a:r>
              <a:rPr lang="en-GB" sz="2400" dirty="0" err="1" smtClean="0"/>
              <a:t>phần</a:t>
            </a:r>
            <a:r>
              <a:rPr lang="en-GB" sz="2400" dirty="0" smtClean="0"/>
              <a:t> </a:t>
            </a:r>
            <a:r>
              <a:rPr lang="en-GB" sz="2400" dirty="0" err="1" smtClean="0"/>
              <a:t>dữ</a:t>
            </a:r>
            <a:r>
              <a:rPr lang="en-GB" sz="2400" dirty="0" smtClean="0"/>
              <a:t> </a:t>
            </a:r>
            <a:r>
              <a:rPr lang="en-GB" sz="2400" dirty="0" err="1" smtClean="0"/>
              <a:t>liệu</a:t>
            </a:r>
            <a:r>
              <a:rPr lang="en-GB" sz="2400" dirty="0" smtClean="0"/>
              <a:t> </a:t>
            </a:r>
            <a:r>
              <a:rPr lang="en-GB" sz="2400" dirty="0" err="1" smtClean="0"/>
              <a:t>quan</a:t>
            </a:r>
            <a:r>
              <a:rPr lang="en-GB" sz="2400" dirty="0" smtClean="0"/>
              <a:t> </a:t>
            </a:r>
            <a:r>
              <a:rPr lang="en-GB" sz="2400" dirty="0" err="1" smtClean="0"/>
              <a:t>sát</a:t>
            </a:r>
            <a:r>
              <a:rPr lang="en-GB" sz="2400" dirty="0" smtClean="0"/>
              <a:t> </a:t>
            </a:r>
            <a:r>
              <a:rPr lang="en-GB" sz="2400" dirty="0" err="1" smtClean="0"/>
              <a:t>đánh</a:t>
            </a:r>
            <a:r>
              <a:rPr lang="en-GB" sz="2400" dirty="0" smtClean="0"/>
              <a:t> </a:t>
            </a:r>
            <a:r>
              <a:rPr lang="en-GB" sz="2400" dirty="0" err="1" smtClean="0"/>
              <a:t>giá</a:t>
            </a:r>
            <a:r>
              <a:rPr lang="en-GB" sz="2400" dirty="0" smtClean="0"/>
              <a:t> </a:t>
            </a:r>
            <a:r>
              <a:rPr lang="en-GB" sz="2400" dirty="0" err="1" smtClean="0"/>
              <a:t>quá</a:t>
            </a:r>
            <a:r>
              <a:rPr lang="en-GB" sz="2400" dirty="0" smtClean="0"/>
              <a:t> </a:t>
            </a:r>
            <a:r>
              <a:rPr lang="en-GB" sz="2400" dirty="0" err="1" smtClean="0"/>
              <a:t>trình</a:t>
            </a:r>
            <a:r>
              <a:rPr lang="en-GB" sz="2400" dirty="0" smtClean="0"/>
              <a:t> </a:t>
            </a:r>
            <a:r>
              <a:rPr lang="en-GB" sz="2400" dirty="0" err="1" smtClean="0"/>
              <a:t>học</a:t>
            </a:r>
            <a:endParaRPr lang="en-GB" sz="2400" dirty="0" smtClean="0"/>
          </a:p>
          <a:p>
            <a:r>
              <a:rPr lang="en-GB" sz="2400" dirty="0" smtClean="0"/>
              <a:t>Test data: </a:t>
            </a:r>
            <a:r>
              <a:rPr lang="en-GB" sz="2400" dirty="0" err="1" smtClean="0"/>
              <a:t>Một</a:t>
            </a:r>
            <a:r>
              <a:rPr lang="en-GB" sz="2400" dirty="0" smtClean="0"/>
              <a:t> </a:t>
            </a:r>
            <a:r>
              <a:rPr lang="en-GB" sz="2400" dirty="0" err="1" smtClean="0"/>
              <a:t>phần</a:t>
            </a:r>
            <a:r>
              <a:rPr lang="en-GB" sz="2400" dirty="0" smtClean="0"/>
              <a:t> </a:t>
            </a:r>
            <a:r>
              <a:rPr lang="en-GB" sz="2400" dirty="0" err="1" smtClean="0"/>
              <a:t>dữ</a:t>
            </a:r>
            <a:r>
              <a:rPr lang="en-GB" sz="2400" dirty="0" smtClean="0"/>
              <a:t> </a:t>
            </a:r>
            <a:r>
              <a:rPr lang="en-GB" sz="2400" dirty="0" err="1" smtClean="0"/>
              <a:t>liệu</a:t>
            </a:r>
            <a:r>
              <a:rPr lang="en-GB" sz="2400" dirty="0" smtClean="0"/>
              <a:t> </a:t>
            </a:r>
            <a:r>
              <a:rPr lang="en-GB" sz="2400" dirty="0" err="1" smtClean="0"/>
              <a:t>quan</a:t>
            </a:r>
            <a:r>
              <a:rPr lang="en-GB" sz="2400" dirty="0" smtClean="0"/>
              <a:t> </a:t>
            </a:r>
            <a:r>
              <a:rPr lang="en-GB" sz="2400" dirty="0" err="1" smtClean="0"/>
              <a:t>sát</a:t>
            </a:r>
            <a:r>
              <a:rPr lang="en-GB" sz="2400" dirty="0" smtClean="0"/>
              <a:t> </a:t>
            </a:r>
            <a:r>
              <a:rPr lang="en-GB" sz="2400" dirty="0" err="1" smtClean="0"/>
              <a:t>đánh</a:t>
            </a:r>
            <a:r>
              <a:rPr lang="en-GB" sz="2400" dirty="0" smtClean="0"/>
              <a:t> </a:t>
            </a:r>
            <a:r>
              <a:rPr lang="en-GB" sz="2400" dirty="0" err="1" smtClean="0"/>
              <a:t>giá</a:t>
            </a:r>
            <a:r>
              <a:rPr lang="en-GB" sz="2400" dirty="0" smtClean="0"/>
              <a:t> </a:t>
            </a:r>
            <a:r>
              <a:rPr lang="en-GB" sz="2400" dirty="0" err="1" smtClean="0"/>
              <a:t>hiệu</a:t>
            </a:r>
            <a:r>
              <a:rPr lang="en-GB" sz="2400" dirty="0" smtClean="0"/>
              <a:t> </a:t>
            </a:r>
            <a:r>
              <a:rPr lang="en-GB" sz="2400" dirty="0" err="1" smtClean="0"/>
              <a:t>quả</a:t>
            </a:r>
            <a:r>
              <a:rPr lang="en-GB" sz="2400" dirty="0" smtClean="0"/>
              <a:t> </a:t>
            </a:r>
            <a:r>
              <a:rPr lang="en-GB" sz="2400" dirty="0" err="1" smtClean="0"/>
              <a:t>mô</a:t>
            </a:r>
            <a:r>
              <a:rPr lang="en-GB" sz="2400" dirty="0" smtClean="0"/>
              <a:t> </a:t>
            </a:r>
            <a:r>
              <a:rPr lang="en-GB" sz="2400" dirty="0" err="1" smtClean="0"/>
              <a:t>hình</a:t>
            </a:r>
            <a:r>
              <a:rPr lang="en-GB" sz="2400" dirty="0" smtClean="0"/>
              <a:t> </a:t>
            </a:r>
            <a:r>
              <a:rPr lang="en-GB" sz="2400" dirty="0" err="1" smtClean="0"/>
              <a:t>học</a:t>
            </a:r>
            <a:r>
              <a:rPr lang="en-GB" sz="2400" dirty="0" smtClean="0"/>
              <a:t> </a:t>
            </a:r>
            <a:r>
              <a:rPr lang="en-GB" sz="2400" dirty="0" err="1" smtClean="0"/>
              <a:t>sau</a:t>
            </a:r>
            <a:r>
              <a:rPr lang="en-GB" sz="2400" dirty="0" smtClean="0"/>
              <a:t> </a:t>
            </a:r>
            <a:r>
              <a:rPr lang="en-GB" sz="2400" dirty="0" err="1" smtClean="0"/>
              <a:t>khi</a:t>
            </a:r>
            <a:r>
              <a:rPr lang="en-GB" sz="2400" dirty="0" smtClean="0"/>
              <a:t> </a:t>
            </a:r>
            <a:r>
              <a:rPr lang="en-GB" sz="2400" dirty="0" err="1" smtClean="0"/>
              <a:t>hoàn</a:t>
            </a:r>
            <a:r>
              <a:rPr lang="en-GB" sz="2400" dirty="0" smtClean="0"/>
              <a:t> </a:t>
            </a:r>
            <a:r>
              <a:rPr lang="en-GB" sz="2400" dirty="0" err="1" smtClean="0"/>
              <a:t>thành</a:t>
            </a:r>
            <a:r>
              <a:rPr lang="en-GB" sz="2400" dirty="0" smtClean="0"/>
              <a:t> </a:t>
            </a:r>
            <a:r>
              <a:rPr lang="en-GB" sz="2400" dirty="0" err="1" smtClean="0"/>
              <a:t>việc</a:t>
            </a:r>
            <a:r>
              <a:rPr lang="en-GB" sz="2400" dirty="0" smtClean="0"/>
              <a:t> </a:t>
            </a:r>
            <a:r>
              <a:rPr lang="en-GB" sz="2400" dirty="0" err="1" smtClean="0"/>
              <a:t>huấn</a:t>
            </a:r>
            <a:r>
              <a:rPr lang="en-GB" sz="2400" dirty="0" smtClean="0"/>
              <a:t> </a:t>
            </a:r>
            <a:r>
              <a:rPr lang="en-GB" sz="2400" dirty="0" err="1" smtClean="0"/>
              <a:t>luyện</a:t>
            </a:r>
            <a:endParaRPr lang="en-US" sz="2400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371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thiệu</a:t>
            </a:r>
            <a:r>
              <a:rPr lang="en-US" dirty="0" smtClean="0"/>
              <a:t> SPARK </a:t>
            </a:r>
            <a:r>
              <a:rPr lang="en-US" dirty="0" err="1" smtClean="0"/>
              <a:t>MLLib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err="1" smtClean="0"/>
              <a:t>Giải</a:t>
            </a:r>
            <a:r>
              <a:rPr lang="en-GB" sz="2400" dirty="0" smtClean="0"/>
              <a:t> </a:t>
            </a:r>
            <a:r>
              <a:rPr lang="en-GB" sz="2400" dirty="0" err="1" smtClean="0"/>
              <a:t>thuật</a:t>
            </a:r>
            <a:r>
              <a:rPr lang="en-GB" sz="2400" dirty="0" smtClean="0"/>
              <a:t> </a:t>
            </a:r>
            <a:r>
              <a:rPr lang="en-GB" sz="2400" dirty="0" err="1" smtClean="0"/>
              <a:t>học</a:t>
            </a:r>
            <a:r>
              <a:rPr lang="en-GB" sz="2400" dirty="0" smtClean="0"/>
              <a:t> </a:t>
            </a:r>
            <a:r>
              <a:rPr lang="en-GB" sz="2400" dirty="0" err="1" smtClean="0"/>
              <a:t>máy</a:t>
            </a:r>
            <a:endParaRPr lang="en-GB" sz="2400" dirty="0" smtClean="0"/>
          </a:p>
          <a:p>
            <a:pPr lvl="1"/>
            <a:r>
              <a:rPr lang="en-GB" sz="2000" dirty="0" err="1" smtClean="0"/>
              <a:t>Tập</a:t>
            </a:r>
            <a:r>
              <a:rPr lang="en-GB" sz="2000" dirty="0" smtClean="0"/>
              <a:t> </a:t>
            </a:r>
            <a:r>
              <a:rPr lang="en-GB" sz="2000" dirty="0" err="1" smtClean="0"/>
              <a:t>hợp</a:t>
            </a:r>
            <a:r>
              <a:rPr lang="en-GB" sz="2000" dirty="0" smtClean="0"/>
              <a:t> </a:t>
            </a:r>
            <a:r>
              <a:rPr lang="en-GB" sz="2000" dirty="0" err="1" smtClean="0"/>
              <a:t>các</a:t>
            </a:r>
            <a:r>
              <a:rPr lang="en-GB" sz="2000" dirty="0" smtClean="0"/>
              <a:t> </a:t>
            </a:r>
            <a:r>
              <a:rPr lang="en-GB" sz="2000" dirty="0" err="1" smtClean="0"/>
              <a:t>bước</a:t>
            </a:r>
            <a:r>
              <a:rPr lang="en-GB" sz="2000" dirty="0" smtClean="0"/>
              <a:t> </a:t>
            </a:r>
            <a:r>
              <a:rPr lang="en-GB" sz="2000" dirty="0" err="1" smtClean="0"/>
              <a:t>thực</a:t>
            </a:r>
            <a:r>
              <a:rPr lang="en-GB" sz="2000" dirty="0" smtClean="0"/>
              <a:t> </a:t>
            </a:r>
            <a:r>
              <a:rPr lang="en-GB" sz="2000" dirty="0" err="1" smtClean="0"/>
              <a:t>hiện</a:t>
            </a:r>
            <a:r>
              <a:rPr lang="en-GB" sz="2000" dirty="0" smtClean="0"/>
              <a:t> </a:t>
            </a:r>
            <a:r>
              <a:rPr lang="en-GB" sz="2000" dirty="0" err="1" smtClean="0"/>
              <a:t>quá</a:t>
            </a:r>
            <a:r>
              <a:rPr lang="en-GB" sz="2000" dirty="0" smtClean="0"/>
              <a:t> </a:t>
            </a:r>
            <a:r>
              <a:rPr lang="en-GB" sz="2000" dirty="0" err="1" smtClean="0"/>
              <a:t>trình</a:t>
            </a:r>
            <a:r>
              <a:rPr lang="en-GB" sz="2000" dirty="0" smtClean="0"/>
              <a:t> </a:t>
            </a:r>
            <a:r>
              <a:rPr lang="en-GB" sz="2000" dirty="0" err="1" smtClean="0"/>
              <a:t>lặp</a:t>
            </a:r>
            <a:r>
              <a:rPr lang="en-GB" sz="2000" dirty="0" smtClean="0"/>
              <a:t> </a:t>
            </a:r>
            <a:r>
              <a:rPr lang="en-GB" sz="2000" dirty="0" err="1" smtClean="0"/>
              <a:t>để</a:t>
            </a:r>
            <a:r>
              <a:rPr lang="en-GB" sz="2000" dirty="0" smtClean="0"/>
              <a:t> </a:t>
            </a:r>
            <a:r>
              <a:rPr lang="en-GB" sz="2000" dirty="0" err="1" smtClean="0"/>
              <a:t>trích</a:t>
            </a:r>
            <a:r>
              <a:rPr lang="en-GB" sz="2000" dirty="0" smtClean="0"/>
              <a:t> </a:t>
            </a:r>
            <a:r>
              <a:rPr lang="en-GB" sz="2000" dirty="0" err="1" smtClean="0"/>
              <a:t>được</a:t>
            </a:r>
            <a:r>
              <a:rPr lang="en-GB" sz="2000" dirty="0" smtClean="0"/>
              <a:t> </a:t>
            </a:r>
            <a:r>
              <a:rPr lang="en-GB" sz="2000" dirty="0" err="1" smtClean="0"/>
              <a:t>các</a:t>
            </a:r>
            <a:r>
              <a:rPr lang="en-GB" sz="2000" dirty="0" smtClean="0"/>
              <a:t> </a:t>
            </a:r>
            <a:r>
              <a:rPr lang="en-GB" sz="2000" dirty="0" err="1" smtClean="0"/>
              <a:t>mẫu</a:t>
            </a:r>
            <a:r>
              <a:rPr lang="en-GB" sz="2000" dirty="0" smtClean="0"/>
              <a:t> </a:t>
            </a:r>
            <a:r>
              <a:rPr lang="en-GB" sz="2000" dirty="0" err="1" smtClean="0"/>
              <a:t>từ</a:t>
            </a:r>
            <a:r>
              <a:rPr lang="en-GB" sz="2000" dirty="0" smtClean="0"/>
              <a:t> </a:t>
            </a:r>
            <a:r>
              <a:rPr lang="en-GB" sz="2000" dirty="0" err="1" smtClean="0"/>
              <a:t>tập</a:t>
            </a:r>
            <a:r>
              <a:rPr lang="en-GB" sz="2000" dirty="0" smtClean="0"/>
              <a:t> data </a:t>
            </a:r>
            <a:r>
              <a:rPr lang="en-GB" sz="2000" dirty="0" err="1" smtClean="0"/>
              <a:t>cho</a:t>
            </a:r>
            <a:r>
              <a:rPr lang="en-GB" sz="2000" dirty="0" smtClean="0"/>
              <a:t> </a:t>
            </a:r>
            <a:r>
              <a:rPr lang="en-GB" sz="2000" dirty="0" err="1" smtClean="0"/>
              <a:t>trước</a:t>
            </a:r>
            <a:endParaRPr lang="en-GB" sz="2000" dirty="0" smtClean="0"/>
          </a:p>
          <a:p>
            <a:pPr lvl="1"/>
            <a:r>
              <a:rPr lang="en-GB" sz="2000" dirty="0" err="1" smtClean="0"/>
              <a:t>Mục</a:t>
            </a:r>
            <a:r>
              <a:rPr lang="en-GB" sz="2000" dirty="0" smtClean="0"/>
              <a:t> </a:t>
            </a:r>
            <a:r>
              <a:rPr lang="en-GB" sz="2000" dirty="0" err="1" smtClean="0"/>
              <a:t>đích</a:t>
            </a:r>
            <a:r>
              <a:rPr lang="en-GB" sz="2000" dirty="0" smtClean="0"/>
              <a:t> </a:t>
            </a:r>
            <a:r>
              <a:rPr lang="en-GB" sz="2000" dirty="0" err="1" smtClean="0"/>
              <a:t>là</a:t>
            </a:r>
            <a:r>
              <a:rPr lang="en-GB" sz="2000" dirty="0" smtClean="0"/>
              <a:t> </a:t>
            </a:r>
            <a:r>
              <a:rPr lang="en-GB" sz="2000" dirty="0" err="1" smtClean="0"/>
              <a:t>ánh</a:t>
            </a:r>
            <a:r>
              <a:rPr lang="en-GB" sz="2000" dirty="0" smtClean="0"/>
              <a:t> </a:t>
            </a:r>
            <a:r>
              <a:rPr lang="en-GB" sz="2000" dirty="0" err="1" smtClean="0"/>
              <a:t>xạ</a:t>
            </a:r>
            <a:r>
              <a:rPr lang="en-GB" sz="2000" dirty="0" smtClean="0"/>
              <a:t> </a:t>
            </a:r>
            <a:r>
              <a:rPr lang="en-GB" sz="2000" dirty="0" err="1" smtClean="0"/>
              <a:t>từ</a:t>
            </a:r>
            <a:r>
              <a:rPr lang="en-GB" sz="2000" dirty="0" smtClean="0"/>
              <a:t> input data </a:t>
            </a:r>
            <a:r>
              <a:rPr lang="en-GB" sz="2000" dirty="0" smtClean="0">
                <a:sym typeface="Wingdings" panose="05000000000000000000" pitchFamily="2" charset="2"/>
              </a:rPr>
              <a:t> output data</a:t>
            </a:r>
          </a:p>
          <a:p>
            <a:r>
              <a:rPr lang="en-GB" sz="2400" dirty="0" err="1" smtClean="0">
                <a:sym typeface="Wingdings" panose="05000000000000000000" pitchFamily="2" charset="2"/>
              </a:rPr>
              <a:t>Mô</a:t>
            </a:r>
            <a:r>
              <a:rPr lang="en-GB" sz="2400" dirty="0" smtClean="0">
                <a:sym typeface="Wingdings" panose="05000000000000000000" pitchFamily="2" charset="2"/>
              </a:rPr>
              <a:t> </a:t>
            </a:r>
            <a:r>
              <a:rPr lang="en-GB" sz="2400" dirty="0" err="1" smtClean="0">
                <a:sym typeface="Wingdings" panose="05000000000000000000" pitchFamily="2" charset="2"/>
              </a:rPr>
              <a:t>hình</a:t>
            </a:r>
            <a:r>
              <a:rPr lang="en-GB" sz="2400" dirty="0" smtClean="0">
                <a:sym typeface="Wingdings" panose="05000000000000000000" pitchFamily="2" charset="2"/>
              </a:rPr>
              <a:t> </a:t>
            </a:r>
            <a:r>
              <a:rPr lang="en-GB" sz="2400" dirty="0" err="1" smtClean="0">
                <a:sym typeface="Wingdings" panose="05000000000000000000" pitchFamily="2" charset="2"/>
              </a:rPr>
              <a:t>học</a:t>
            </a:r>
            <a:r>
              <a:rPr lang="en-GB" sz="2400" dirty="0" smtClean="0">
                <a:sym typeface="Wingdings" panose="05000000000000000000" pitchFamily="2" charset="2"/>
              </a:rPr>
              <a:t> </a:t>
            </a:r>
            <a:r>
              <a:rPr lang="en-GB" sz="2400" dirty="0" err="1" smtClean="0">
                <a:sym typeface="Wingdings" panose="05000000000000000000" pitchFamily="2" charset="2"/>
              </a:rPr>
              <a:t>máy</a:t>
            </a:r>
            <a:endParaRPr lang="en-GB" sz="2400" dirty="0" smtClean="0">
              <a:sym typeface="Wingdings" panose="05000000000000000000" pitchFamily="2" charset="2"/>
            </a:endParaRPr>
          </a:p>
          <a:p>
            <a:pPr lvl="1"/>
            <a:r>
              <a:rPr lang="en-GB" sz="2000" dirty="0" err="1" smtClean="0">
                <a:sym typeface="Wingdings" panose="05000000000000000000" pitchFamily="2" charset="2"/>
              </a:rPr>
              <a:t>Sau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khi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học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xong</a:t>
            </a:r>
            <a:r>
              <a:rPr lang="en-GB" sz="2000" dirty="0" smtClean="0">
                <a:sym typeface="Wingdings" panose="05000000000000000000" pitchFamily="2" charset="2"/>
              </a:rPr>
              <a:t>, </a:t>
            </a:r>
            <a:r>
              <a:rPr lang="en-GB" sz="2000" dirty="0" err="1" smtClean="0">
                <a:sym typeface="Wingdings" panose="05000000000000000000" pitchFamily="2" charset="2"/>
              </a:rPr>
              <a:t>giải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thuật</a:t>
            </a:r>
            <a:r>
              <a:rPr lang="en-GB" sz="2000" dirty="0" smtClean="0">
                <a:sym typeface="Wingdings" panose="05000000000000000000" pitchFamily="2" charset="2"/>
              </a:rPr>
              <a:t> ML </a:t>
            </a:r>
            <a:r>
              <a:rPr lang="en-GB" sz="2000" dirty="0" err="1" smtClean="0">
                <a:sym typeface="Wingdings" panose="05000000000000000000" pitchFamily="2" charset="2"/>
              </a:rPr>
              <a:t>sản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sinh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một</a:t>
            </a:r>
            <a:r>
              <a:rPr lang="en-GB" sz="2000" dirty="0" smtClean="0">
                <a:sym typeface="Wingdings" panose="05000000000000000000" pitchFamily="2" charset="2"/>
              </a:rPr>
              <a:t> model</a:t>
            </a:r>
          </a:p>
          <a:p>
            <a:pPr lvl="1"/>
            <a:r>
              <a:rPr lang="en-GB" sz="2000" dirty="0" smtClean="0">
                <a:sym typeface="Wingdings" panose="05000000000000000000" pitchFamily="2" charset="2"/>
              </a:rPr>
              <a:t>Model </a:t>
            </a:r>
            <a:r>
              <a:rPr lang="en-GB" sz="2000" dirty="0" err="1" smtClean="0">
                <a:sym typeface="Wingdings" panose="05000000000000000000" pitchFamily="2" charset="2"/>
              </a:rPr>
              <a:t>biểu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diễn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bằng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công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thức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toán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học</a:t>
            </a:r>
            <a:endParaRPr lang="en-GB" sz="2000" dirty="0" smtClean="0">
              <a:sym typeface="Wingdings" panose="05000000000000000000" pitchFamily="2" charset="2"/>
            </a:endParaRPr>
          </a:p>
          <a:p>
            <a:pPr lvl="1"/>
            <a:r>
              <a:rPr lang="en-GB" sz="2000" dirty="0" err="1" smtClean="0">
                <a:sym typeface="Wingdings" panose="05000000000000000000" pitchFamily="2" charset="2"/>
              </a:rPr>
              <a:t>Dùng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để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dự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báo</a:t>
            </a:r>
            <a:r>
              <a:rPr lang="en-GB" sz="2000" dirty="0" smtClean="0">
                <a:sym typeface="Wingdings" panose="05000000000000000000" pitchFamily="2" charset="2"/>
              </a:rPr>
              <a:t> data </a:t>
            </a:r>
            <a:r>
              <a:rPr lang="en-GB" sz="2000" dirty="0" err="1" smtClean="0">
                <a:sym typeface="Wingdings" panose="05000000000000000000" pitchFamily="2" charset="2"/>
              </a:rPr>
              <a:t>mới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mà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nó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chưa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được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học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endParaRPr lang="en-GB" sz="2000" dirty="0">
              <a:sym typeface="Wingdings" panose="05000000000000000000" pitchFamily="2" charset="2"/>
            </a:endParaRPr>
          </a:p>
          <a:p>
            <a:pPr lvl="1"/>
            <a:endParaRPr lang="en-US" sz="2000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296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Giới</a:t>
            </a:r>
            <a:r>
              <a:rPr lang="en-US" dirty="0" smtClean="0"/>
              <a:t> </a:t>
            </a:r>
            <a:r>
              <a:rPr lang="en-US" dirty="0" err="1" smtClean="0"/>
              <a:t>thiệu</a:t>
            </a:r>
            <a:r>
              <a:rPr lang="en-US" dirty="0" smtClean="0"/>
              <a:t> SPARK </a:t>
            </a:r>
            <a:r>
              <a:rPr lang="en-US" dirty="0" err="1" smtClean="0"/>
              <a:t>MLLib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sz="2000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575" y="3005137"/>
            <a:ext cx="5276850" cy="847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114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Machine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smtClean="0">
                <a:sym typeface="Wingdings" panose="05000000000000000000" pitchFamily="2" charset="2"/>
              </a:rPr>
              <a:t> </a:t>
            </a:r>
            <a:endParaRPr lang="en-GB" sz="2000" dirty="0">
              <a:sym typeface="Wingdings" panose="05000000000000000000" pitchFamily="2" charset="2"/>
            </a:endParaRPr>
          </a:p>
          <a:p>
            <a:pPr lvl="1"/>
            <a:endParaRPr lang="en-US" sz="2000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" y="1385047"/>
            <a:ext cx="1163955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196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Machine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Học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giám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sát</a:t>
            </a:r>
            <a:endParaRPr lang="en-GB" sz="2000" dirty="0">
              <a:sym typeface="Wingdings" panose="05000000000000000000" pitchFamily="2" charset="2"/>
            </a:endParaRPr>
          </a:p>
          <a:p>
            <a:pPr lvl="1"/>
            <a:endParaRPr lang="en-US" sz="2000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317" y="2018814"/>
            <a:ext cx="6849365" cy="4158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607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Machine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Học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giám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sát</a:t>
            </a:r>
            <a:endParaRPr lang="en-GB" sz="2000" dirty="0">
              <a:sym typeface="Wingdings" panose="05000000000000000000" pitchFamily="2" charset="2"/>
            </a:endParaRPr>
          </a:p>
          <a:p>
            <a:pPr lvl="1"/>
            <a:endParaRPr lang="en-US" sz="2000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417" y="1796440"/>
            <a:ext cx="4846756" cy="4612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784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Machine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Học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không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giám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sát</a:t>
            </a:r>
            <a:endParaRPr lang="en-GB" sz="2000" dirty="0">
              <a:sym typeface="Wingdings" panose="05000000000000000000" pitchFamily="2" charset="2"/>
            </a:endParaRPr>
          </a:p>
          <a:p>
            <a:pPr lvl="1"/>
            <a:endParaRPr lang="en-US" sz="2000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5410" y="1736372"/>
            <a:ext cx="5688116" cy="4702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229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Các</a:t>
            </a:r>
            <a:r>
              <a:rPr lang="en-US" dirty="0" smtClean="0"/>
              <a:t> </a:t>
            </a:r>
            <a:r>
              <a:rPr lang="en-US" dirty="0" err="1" smtClean="0"/>
              <a:t>loại</a:t>
            </a:r>
            <a:r>
              <a:rPr lang="en-US" dirty="0" smtClean="0"/>
              <a:t> Machine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Học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không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giám</a:t>
            </a:r>
            <a:r>
              <a:rPr lang="en-GB" sz="2000" dirty="0" smtClean="0">
                <a:sym typeface="Wingdings" panose="05000000000000000000" pitchFamily="2" charset="2"/>
              </a:rPr>
              <a:t> </a:t>
            </a:r>
            <a:r>
              <a:rPr lang="en-GB" sz="2000" dirty="0" err="1" smtClean="0">
                <a:sym typeface="Wingdings" panose="05000000000000000000" pitchFamily="2" charset="2"/>
              </a:rPr>
              <a:t>sát</a:t>
            </a:r>
            <a:endParaRPr lang="en-GB" sz="2000" dirty="0">
              <a:sym typeface="Wingdings" panose="05000000000000000000" pitchFamily="2" charset="2"/>
            </a:endParaRPr>
          </a:p>
          <a:p>
            <a:pPr lvl="1"/>
            <a:endParaRPr lang="en-US" sz="2000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752" y="2116775"/>
            <a:ext cx="6076163" cy="2967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539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Quá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Machine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sz="2000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151" y="1563881"/>
            <a:ext cx="5588919" cy="4160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59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Machine Learning Library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smtClean="0"/>
              <a:t>Spark </a:t>
            </a:r>
            <a:r>
              <a:rPr lang="en-GB" sz="2400" dirty="0" err="1" smtClean="0"/>
              <a:t>MLLib</a:t>
            </a:r>
            <a:r>
              <a:rPr lang="en-GB" sz="2400" dirty="0" smtClean="0"/>
              <a:t> </a:t>
            </a:r>
            <a:r>
              <a:rPr lang="en-GB" sz="2400" dirty="0" err="1" smtClean="0"/>
              <a:t>cung</a:t>
            </a:r>
            <a:r>
              <a:rPr lang="en-GB" sz="2400" dirty="0" smtClean="0"/>
              <a:t> </a:t>
            </a:r>
            <a:r>
              <a:rPr lang="en-GB" sz="2400" dirty="0" err="1" smtClean="0"/>
              <a:t>cấp</a:t>
            </a:r>
            <a:r>
              <a:rPr lang="en-GB" sz="2400" dirty="0" smtClean="0"/>
              <a:t> </a:t>
            </a:r>
            <a:r>
              <a:rPr lang="en-GB" sz="2400" dirty="0" err="1" smtClean="0"/>
              <a:t>các</a:t>
            </a:r>
            <a:r>
              <a:rPr lang="en-GB" sz="2400" dirty="0" smtClean="0"/>
              <a:t> </a:t>
            </a:r>
            <a:r>
              <a:rPr lang="en-GB" sz="2400" dirty="0" err="1" smtClean="0"/>
              <a:t>giải</a:t>
            </a:r>
            <a:r>
              <a:rPr lang="en-GB" sz="2400" dirty="0" smtClean="0"/>
              <a:t> </a:t>
            </a:r>
            <a:r>
              <a:rPr lang="en-GB" sz="2400" dirty="0" err="1" smtClean="0"/>
              <a:t>thuật</a:t>
            </a:r>
            <a:r>
              <a:rPr lang="en-GB" sz="2400" dirty="0" smtClean="0"/>
              <a:t> ML </a:t>
            </a:r>
            <a:r>
              <a:rPr lang="en-GB" sz="2400" dirty="0" err="1" smtClean="0"/>
              <a:t>cho</a:t>
            </a:r>
            <a:r>
              <a:rPr lang="en-GB" sz="2400" dirty="0" smtClean="0"/>
              <a:t> 4 </a:t>
            </a:r>
            <a:r>
              <a:rPr lang="en-GB" sz="2400" dirty="0" err="1" smtClean="0"/>
              <a:t>loại</a:t>
            </a:r>
            <a:endParaRPr lang="en-GB" sz="2400" dirty="0" smtClean="0"/>
          </a:p>
          <a:p>
            <a:r>
              <a:rPr lang="en-GB" sz="2400" dirty="0" err="1" smtClean="0"/>
              <a:t>Phân</a:t>
            </a:r>
            <a:r>
              <a:rPr lang="en-GB" sz="2400" dirty="0" smtClean="0"/>
              <a:t> </a:t>
            </a:r>
            <a:r>
              <a:rPr lang="en-GB" sz="2400" dirty="0" err="1" smtClean="0"/>
              <a:t>lớp</a:t>
            </a:r>
            <a:endParaRPr lang="en-GB" sz="2400" dirty="0" smtClean="0"/>
          </a:p>
          <a:p>
            <a:r>
              <a:rPr lang="en-GB" sz="2400" dirty="0" err="1" smtClean="0"/>
              <a:t>Hồi</a:t>
            </a:r>
            <a:r>
              <a:rPr lang="en-GB" sz="2400" dirty="0" smtClean="0"/>
              <a:t> qui</a:t>
            </a:r>
          </a:p>
          <a:p>
            <a:r>
              <a:rPr lang="en-GB" sz="2400" dirty="0" err="1" smtClean="0"/>
              <a:t>Gom</a:t>
            </a:r>
            <a:r>
              <a:rPr lang="en-GB" sz="2400" dirty="0" smtClean="0"/>
              <a:t> </a:t>
            </a:r>
            <a:r>
              <a:rPr lang="en-GB" sz="2400" dirty="0" err="1" smtClean="0"/>
              <a:t>cụm</a:t>
            </a:r>
            <a:endParaRPr lang="en-GB" sz="2400" dirty="0" smtClean="0"/>
          </a:p>
          <a:p>
            <a:r>
              <a:rPr lang="en-GB" sz="2400" dirty="0" err="1" smtClean="0"/>
              <a:t>Khuyến</a:t>
            </a:r>
            <a:r>
              <a:rPr lang="en-GB" sz="2400" dirty="0" smtClean="0"/>
              <a:t> </a:t>
            </a:r>
            <a:r>
              <a:rPr lang="en-GB" sz="2400" dirty="0" err="1" smtClean="0"/>
              <a:t>nghị</a:t>
            </a:r>
            <a:endParaRPr lang="en-US" sz="2400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000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Machine Learning Library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114" y="1425998"/>
            <a:ext cx="10687539" cy="4750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56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Machine Learning Transformer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 err="1" smtClean="0"/>
              <a:t>Dùng</a:t>
            </a:r>
            <a:r>
              <a:rPr lang="en-GB" dirty="0" smtClean="0"/>
              <a:t> </a:t>
            </a:r>
            <a:r>
              <a:rPr lang="en-GB" dirty="0" err="1" smtClean="0"/>
              <a:t>chuyển</a:t>
            </a:r>
            <a:r>
              <a:rPr lang="en-GB" dirty="0" smtClean="0"/>
              <a:t> </a:t>
            </a:r>
            <a:r>
              <a:rPr lang="en-GB" dirty="0" err="1" smtClean="0"/>
              <a:t>đổi</a:t>
            </a:r>
            <a:r>
              <a:rPr lang="en-GB" dirty="0" smtClean="0"/>
              <a:t> data </a:t>
            </a:r>
            <a:r>
              <a:rPr lang="en-GB" dirty="0" err="1" smtClean="0"/>
              <a:t>vào</a:t>
            </a:r>
            <a:r>
              <a:rPr lang="en-GB" dirty="0" smtClean="0"/>
              <a:t> </a:t>
            </a:r>
            <a:r>
              <a:rPr lang="en-GB" dirty="0" err="1" smtClean="0"/>
              <a:t>DataFrame</a:t>
            </a:r>
            <a:endParaRPr lang="en-GB" dirty="0" smtClean="0"/>
          </a:p>
          <a:p>
            <a:r>
              <a:rPr lang="en-GB" dirty="0" err="1" smtClean="0"/>
              <a:t>Thêm</a:t>
            </a:r>
            <a:r>
              <a:rPr lang="en-GB" dirty="0" smtClean="0"/>
              <a:t> </a:t>
            </a:r>
            <a:r>
              <a:rPr lang="en-GB" dirty="0" err="1" smtClean="0"/>
              <a:t>hoặc</a:t>
            </a:r>
            <a:r>
              <a:rPr lang="en-GB" dirty="0" smtClean="0"/>
              <a:t> </a:t>
            </a:r>
            <a:r>
              <a:rPr lang="en-GB" dirty="0" err="1" smtClean="0"/>
              <a:t>xóa</a:t>
            </a:r>
            <a:r>
              <a:rPr lang="en-GB" dirty="0" smtClean="0"/>
              <a:t> </a:t>
            </a:r>
            <a:r>
              <a:rPr lang="en-GB" dirty="0" err="1" smtClean="0"/>
              <a:t>nhiều</a:t>
            </a:r>
            <a:r>
              <a:rPr lang="en-GB" dirty="0" smtClean="0"/>
              <a:t> </a:t>
            </a:r>
            <a:r>
              <a:rPr lang="en-GB" dirty="0" err="1" smtClean="0"/>
              <a:t>cột</a:t>
            </a:r>
            <a:r>
              <a:rPr lang="en-GB" dirty="0" smtClean="0"/>
              <a:t> (</a:t>
            </a:r>
            <a:r>
              <a:rPr lang="en-GB" dirty="0" err="1" smtClean="0"/>
              <a:t>tạo</a:t>
            </a:r>
            <a:r>
              <a:rPr lang="en-GB" dirty="0" smtClean="0"/>
              <a:t> features)</a:t>
            </a:r>
          </a:p>
          <a:p>
            <a:r>
              <a:rPr lang="en-GB" dirty="0" err="1" smtClean="0"/>
              <a:t>Chuyển</a:t>
            </a:r>
            <a:r>
              <a:rPr lang="en-GB" dirty="0" smtClean="0"/>
              <a:t> </a:t>
            </a:r>
            <a:r>
              <a:rPr lang="en-GB" dirty="0" err="1" smtClean="0"/>
              <a:t>cột</a:t>
            </a:r>
            <a:r>
              <a:rPr lang="en-GB" dirty="0" smtClean="0"/>
              <a:t> </a:t>
            </a:r>
            <a:r>
              <a:rPr lang="en-GB" dirty="0" err="1" smtClean="0"/>
              <a:t>chứa</a:t>
            </a:r>
            <a:r>
              <a:rPr lang="en-GB" dirty="0" smtClean="0"/>
              <a:t> </a:t>
            </a:r>
            <a:r>
              <a:rPr lang="en-GB" dirty="0" err="1" smtClean="0"/>
              <a:t>giá</a:t>
            </a:r>
            <a:r>
              <a:rPr lang="en-GB" dirty="0" smtClean="0"/>
              <a:t> </a:t>
            </a:r>
            <a:r>
              <a:rPr lang="en-GB" dirty="0" err="1" smtClean="0"/>
              <a:t>trị</a:t>
            </a:r>
            <a:r>
              <a:rPr lang="en-GB" dirty="0" smtClean="0"/>
              <a:t> text </a:t>
            </a:r>
            <a:r>
              <a:rPr lang="en-GB" dirty="0" err="1" smtClean="0"/>
              <a:t>thành</a:t>
            </a:r>
            <a:r>
              <a:rPr lang="en-GB" dirty="0" smtClean="0"/>
              <a:t> number</a:t>
            </a:r>
          </a:p>
          <a:p>
            <a:r>
              <a:rPr lang="en-GB" dirty="0" err="1" smtClean="0"/>
              <a:t>Yêu</a:t>
            </a:r>
            <a:r>
              <a:rPr lang="en-GB" dirty="0" smtClean="0"/>
              <a:t> </a:t>
            </a:r>
            <a:r>
              <a:rPr lang="en-GB" dirty="0" err="1" smtClean="0"/>
              <a:t>cầu</a:t>
            </a:r>
            <a:r>
              <a:rPr lang="en-GB" dirty="0" smtClean="0"/>
              <a:t> </a:t>
            </a:r>
            <a:r>
              <a:rPr lang="en-GB" dirty="0" err="1" smtClean="0"/>
              <a:t>các</a:t>
            </a:r>
            <a:r>
              <a:rPr lang="en-GB" dirty="0" smtClean="0"/>
              <a:t> feature </a:t>
            </a:r>
            <a:r>
              <a:rPr lang="en-GB" dirty="0" err="1" smtClean="0"/>
              <a:t>phải</a:t>
            </a:r>
            <a:r>
              <a:rPr lang="en-GB" dirty="0" smtClean="0"/>
              <a:t> </a:t>
            </a:r>
            <a:r>
              <a:rPr lang="en-GB" dirty="0" err="1" smtClean="0"/>
              <a:t>được</a:t>
            </a:r>
            <a:r>
              <a:rPr lang="en-GB" dirty="0" smtClean="0"/>
              <a:t> </a:t>
            </a:r>
            <a:r>
              <a:rPr lang="en-GB" dirty="0" err="1" smtClean="0"/>
              <a:t>chuyển</a:t>
            </a:r>
            <a:r>
              <a:rPr lang="en-GB" dirty="0" smtClean="0"/>
              <a:t> </a:t>
            </a:r>
            <a:r>
              <a:rPr lang="en-GB" dirty="0" err="1" smtClean="0"/>
              <a:t>thành</a:t>
            </a:r>
            <a:r>
              <a:rPr lang="en-GB" dirty="0" smtClean="0"/>
              <a:t> Double </a:t>
            </a:r>
            <a:r>
              <a:rPr lang="en-GB" dirty="0" err="1" smtClean="0"/>
              <a:t>trước</a:t>
            </a:r>
            <a:r>
              <a:rPr lang="en-GB" dirty="0" smtClean="0"/>
              <a:t> </a:t>
            </a:r>
            <a:r>
              <a:rPr lang="en-GB" dirty="0" err="1" smtClean="0"/>
              <a:t>ki</a:t>
            </a:r>
            <a:r>
              <a:rPr lang="en-GB" dirty="0" smtClean="0"/>
              <a:t> </a:t>
            </a:r>
            <a:r>
              <a:rPr lang="en-GB" dirty="0" err="1" smtClean="0"/>
              <a:t>đưa</a:t>
            </a:r>
            <a:r>
              <a:rPr lang="en-GB" dirty="0" smtClean="0"/>
              <a:t> </a:t>
            </a:r>
            <a:r>
              <a:rPr lang="en-GB" dirty="0" err="1" smtClean="0"/>
              <a:t>vào</a:t>
            </a:r>
            <a:r>
              <a:rPr lang="en-GB" dirty="0" smtClean="0"/>
              <a:t> </a:t>
            </a:r>
            <a:r>
              <a:rPr lang="en-GB" dirty="0" err="1" smtClean="0"/>
              <a:t>giải</a:t>
            </a:r>
            <a:r>
              <a:rPr lang="en-GB" dirty="0" smtClean="0"/>
              <a:t> </a:t>
            </a:r>
            <a:r>
              <a:rPr lang="en-GB" dirty="0" err="1" smtClean="0"/>
              <a:t>thuật</a:t>
            </a:r>
            <a:r>
              <a:rPr lang="en-GB" dirty="0" smtClean="0"/>
              <a:t> ML</a:t>
            </a: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934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Machine Learning Transformer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950" y="1735598"/>
            <a:ext cx="6134100" cy="451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4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Machine Learning Transformer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287" y="1724025"/>
            <a:ext cx="6067425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73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Machine Learning Transformer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err="1" smtClean="0"/>
              <a:t>Binarizer</a:t>
            </a:r>
            <a:r>
              <a:rPr lang="en-GB" sz="2400" dirty="0" smtClean="0"/>
              <a:t> transformer </a:t>
            </a:r>
            <a:r>
              <a:rPr lang="en-GB" sz="2400" dirty="0" err="1" smtClean="0"/>
              <a:t>chuyển</a:t>
            </a:r>
            <a:r>
              <a:rPr lang="en-GB" sz="2400" dirty="0" smtClean="0"/>
              <a:t> </a:t>
            </a:r>
            <a:r>
              <a:rPr lang="en-GB" sz="2400" dirty="0" err="1" smtClean="0"/>
              <a:t>các</a:t>
            </a:r>
            <a:r>
              <a:rPr lang="en-GB" sz="2400" dirty="0" smtClean="0"/>
              <a:t> </a:t>
            </a:r>
            <a:r>
              <a:rPr lang="en-GB" sz="2400" dirty="0" err="1" smtClean="0"/>
              <a:t>giá</a:t>
            </a:r>
            <a:r>
              <a:rPr lang="en-GB" sz="2400" dirty="0" smtClean="0"/>
              <a:t> </a:t>
            </a:r>
            <a:r>
              <a:rPr lang="en-GB" sz="2400" dirty="0" err="1" smtClean="0"/>
              <a:t>trị</a:t>
            </a:r>
            <a:r>
              <a:rPr lang="en-GB" sz="2400" dirty="0" smtClean="0"/>
              <a:t> </a:t>
            </a:r>
            <a:r>
              <a:rPr lang="en-GB" sz="2400" dirty="0" err="1" smtClean="0"/>
              <a:t>của</a:t>
            </a:r>
            <a:r>
              <a:rPr lang="en-GB" sz="2400" dirty="0" smtClean="0"/>
              <a:t> </a:t>
            </a:r>
            <a:r>
              <a:rPr lang="en-GB" sz="2400" dirty="0" err="1" smtClean="0"/>
              <a:t>cột</a:t>
            </a:r>
            <a:r>
              <a:rPr lang="en-GB" sz="2400" dirty="0" smtClean="0"/>
              <a:t> input </a:t>
            </a:r>
            <a:r>
              <a:rPr lang="en-GB" sz="2400" dirty="0" err="1" smtClean="0"/>
              <a:t>thành</a:t>
            </a:r>
            <a:r>
              <a:rPr lang="en-GB" sz="2400" dirty="0" smtClean="0"/>
              <a:t> 2 </a:t>
            </a:r>
            <a:r>
              <a:rPr lang="en-GB" sz="2400" dirty="0" err="1" smtClean="0"/>
              <a:t>nhóm</a:t>
            </a:r>
            <a:r>
              <a:rPr lang="en-GB" sz="2400" dirty="0" smtClean="0"/>
              <a:t>.</a:t>
            </a:r>
          </a:p>
          <a:p>
            <a:r>
              <a:rPr lang="en-GB" sz="2400" dirty="0" err="1" smtClean="0"/>
              <a:t>Nhóm</a:t>
            </a:r>
            <a:r>
              <a:rPr lang="en-GB" sz="2400" dirty="0" smtClean="0"/>
              <a:t> 1 </a:t>
            </a:r>
            <a:r>
              <a:rPr lang="en-GB" sz="2400" dirty="0" err="1" smtClean="0"/>
              <a:t>là</a:t>
            </a:r>
            <a:r>
              <a:rPr lang="en-GB" sz="2400" dirty="0" smtClean="0"/>
              <a:t> </a:t>
            </a:r>
            <a:r>
              <a:rPr lang="en-GB" sz="2400" dirty="0" err="1" smtClean="0"/>
              <a:t>những</a:t>
            </a:r>
            <a:r>
              <a:rPr lang="en-GB" sz="2400" dirty="0" smtClean="0"/>
              <a:t> </a:t>
            </a:r>
            <a:r>
              <a:rPr lang="en-GB" sz="2400" dirty="0" err="1" smtClean="0"/>
              <a:t>giá</a:t>
            </a:r>
            <a:r>
              <a:rPr lang="en-GB" sz="2400" dirty="0" smtClean="0"/>
              <a:t> </a:t>
            </a:r>
            <a:r>
              <a:rPr lang="en-GB" sz="2400" dirty="0" err="1" smtClean="0"/>
              <a:t>trị</a:t>
            </a:r>
            <a:r>
              <a:rPr lang="en-GB" sz="2400" dirty="0" smtClean="0"/>
              <a:t> &gt;= threshold</a:t>
            </a:r>
          </a:p>
          <a:p>
            <a:r>
              <a:rPr lang="en-GB" sz="2400" dirty="0" err="1" smtClean="0"/>
              <a:t>Nhóm</a:t>
            </a:r>
            <a:r>
              <a:rPr lang="en-GB" sz="2400" dirty="0" smtClean="0"/>
              <a:t> 2 </a:t>
            </a:r>
            <a:r>
              <a:rPr lang="en-GB" sz="2400" dirty="0" err="1" smtClean="0"/>
              <a:t>là</a:t>
            </a:r>
            <a:r>
              <a:rPr lang="en-GB" sz="2400" dirty="0" smtClean="0"/>
              <a:t> </a:t>
            </a:r>
            <a:r>
              <a:rPr lang="en-GB" sz="2400" dirty="0" err="1" smtClean="0"/>
              <a:t>những</a:t>
            </a:r>
            <a:r>
              <a:rPr lang="en-GB" sz="2400" dirty="0" smtClean="0"/>
              <a:t> </a:t>
            </a:r>
            <a:r>
              <a:rPr lang="en-GB" sz="2400" dirty="0" err="1" smtClean="0"/>
              <a:t>giá</a:t>
            </a:r>
            <a:r>
              <a:rPr lang="en-GB" sz="2400" dirty="0" smtClean="0"/>
              <a:t> </a:t>
            </a:r>
            <a:r>
              <a:rPr lang="en-GB" sz="2400" dirty="0" err="1" smtClean="0"/>
              <a:t>trị</a:t>
            </a:r>
            <a:r>
              <a:rPr lang="en-GB" sz="2400" dirty="0" smtClean="0"/>
              <a:t> &lt; threshold</a:t>
            </a:r>
          </a:p>
          <a:p>
            <a:r>
              <a:rPr lang="en-GB" sz="2400" dirty="0" err="1" smtClean="0"/>
              <a:t>Kiểu</a:t>
            </a:r>
            <a:r>
              <a:rPr lang="en-GB" sz="2400" dirty="0" smtClean="0"/>
              <a:t> </a:t>
            </a:r>
            <a:r>
              <a:rPr lang="en-GB" sz="2400" dirty="0" err="1" smtClean="0"/>
              <a:t>dữ</a:t>
            </a:r>
            <a:r>
              <a:rPr lang="en-GB" sz="2400" dirty="0" smtClean="0"/>
              <a:t> </a:t>
            </a:r>
            <a:r>
              <a:rPr lang="en-GB" sz="2400" dirty="0" err="1" smtClean="0"/>
              <a:t>liệu</a:t>
            </a:r>
            <a:r>
              <a:rPr lang="en-GB" sz="2400" dirty="0" smtClean="0"/>
              <a:t> </a:t>
            </a:r>
            <a:r>
              <a:rPr lang="en-GB" sz="2400" dirty="0" err="1" smtClean="0"/>
              <a:t>cột</a:t>
            </a:r>
            <a:r>
              <a:rPr lang="en-GB" sz="2400" dirty="0" smtClean="0"/>
              <a:t> input </a:t>
            </a:r>
            <a:r>
              <a:rPr lang="en-GB" sz="2400" dirty="0" err="1" smtClean="0"/>
              <a:t>phải</a:t>
            </a:r>
            <a:r>
              <a:rPr lang="en-GB" sz="2400" dirty="0" smtClean="0"/>
              <a:t> </a:t>
            </a:r>
            <a:r>
              <a:rPr lang="en-GB" sz="2400" dirty="0" err="1" smtClean="0"/>
              <a:t>là</a:t>
            </a:r>
            <a:r>
              <a:rPr lang="en-GB" sz="2400" dirty="0" smtClean="0"/>
              <a:t> double </a:t>
            </a:r>
            <a:r>
              <a:rPr lang="en-GB" sz="2400" dirty="0" err="1" smtClean="0"/>
              <a:t>hoặc</a:t>
            </a:r>
            <a:r>
              <a:rPr lang="en-GB" sz="2400" dirty="0" smtClean="0"/>
              <a:t> UDT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011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Machine Learning Transformer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144" y="1302813"/>
            <a:ext cx="8166264" cy="28576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490904"/>
            <a:ext cx="3683981" cy="184742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275" y="4410074"/>
            <a:ext cx="4506479" cy="192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499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Machine Learning Transformer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err="1" smtClean="0"/>
              <a:t>Bucketizer</a:t>
            </a:r>
            <a:r>
              <a:rPr lang="en-GB" sz="2400" dirty="0" smtClean="0"/>
              <a:t> transformer </a:t>
            </a:r>
            <a:r>
              <a:rPr lang="en-GB" sz="2400" dirty="0" err="1" smtClean="0"/>
              <a:t>chuyển</a:t>
            </a:r>
            <a:r>
              <a:rPr lang="en-GB" sz="2400" dirty="0" smtClean="0"/>
              <a:t> </a:t>
            </a:r>
            <a:r>
              <a:rPr lang="en-GB" sz="2400" dirty="0" err="1" smtClean="0"/>
              <a:t>các</a:t>
            </a:r>
            <a:r>
              <a:rPr lang="en-GB" sz="2400" dirty="0" smtClean="0"/>
              <a:t> </a:t>
            </a:r>
            <a:r>
              <a:rPr lang="en-GB" sz="2400" dirty="0" err="1" smtClean="0"/>
              <a:t>giá</a:t>
            </a:r>
            <a:r>
              <a:rPr lang="en-GB" sz="2400" dirty="0" smtClean="0"/>
              <a:t> </a:t>
            </a:r>
            <a:r>
              <a:rPr lang="en-GB" sz="2400" dirty="0" err="1" smtClean="0"/>
              <a:t>trị</a:t>
            </a:r>
            <a:r>
              <a:rPr lang="en-GB" sz="2400" dirty="0" smtClean="0"/>
              <a:t> </a:t>
            </a:r>
            <a:r>
              <a:rPr lang="en-GB" sz="2400" dirty="0" err="1" smtClean="0"/>
              <a:t>của</a:t>
            </a:r>
            <a:r>
              <a:rPr lang="en-GB" sz="2400" dirty="0" smtClean="0"/>
              <a:t> </a:t>
            </a:r>
            <a:r>
              <a:rPr lang="en-GB" sz="2400" dirty="0" err="1" smtClean="0"/>
              <a:t>cột</a:t>
            </a:r>
            <a:r>
              <a:rPr lang="en-GB" sz="2400" dirty="0" smtClean="0"/>
              <a:t> input </a:t>
            </a:r>
            <a:r>
              <a:rPr lang="en-GB" sz="2400" dirty="0" err="1" smtClean="0"/>
              <a:t>thành</a:t>
            </a:r>
            <a:r>
              <a:rPr lang="en-GB" sz="2400" dirty="0" smtClean="0"/>
              <a:t> </a:t>
            </a:r>
            <a:r>
              <a:rPr lang="en-GB" sz="2400" i="1" dirty="0" smtClean="0"/>
              <a:t>n</a:t>
            </a:r>
            <a:r>
              <a:rPr lang="en-GB" sz="2400" dirty="0" smtClean="0"/>
              <a:t> </a:t>
            </a:r>
            <a:r>
              <a:rPr lang="en-GB" sz="2400" dirty="0" err="1" smtClean="0"/>
              <a:t>nhóm</a:t>
            </a:r>
            <a:r>
              <a:rPr lang="en-GB" sz="2400" dirty="0" smtClean="0"/>
              <a:t>.</a:t>
            </a:r>
          </a:p>
          <a:p>
            <a:r>
              <a:rPr lang="en-GB" sz="2400" dirty="0" err="1" smtClean="0"/>
              <a:t>Kiểu</a:t>
            </a:r>
            <a:r>
              <a:rPr lang="en-GB" sz="2400" dirty="0" smtClean="0"/>
              <a:t> </a:t>
            </a:r>
            <a:r>
              <a:rPr lang="en-GB" sz="2400" dirty="0" err="1" smtClean="0"/>
              <a:t>dữ</a:t>
            </a:r>
            <a:r>
              <a:rPr lang="en-GB" sz="2400" dirty="0" smtClean="0"/>
              <a:t> </a:t>
            </a:r>
            <a:r>
              <a:rPr lang="en-GB" sz="2400" dirty="0" err="1" smtClean="0"/>
              <a:t>liệu</a:t>
            </a:r>
            <a:r>
              <a:rPr lang="en-GB" sz="2400" dirty="0" smtClean="0"/>
              <a:t> </a:t>
            </a:r>
            <a:r>
              <a:rPr lang="en-GB" sz="2400" dirty="0" err="1" smtClean="0"/>
              <a:t>cột</a:t>
            </a:r>
            <a:r>
              <a:rPr lang="en-GB" sz="2400" dirty="0" smtClean="0"/>
              <a:t> input </a:t>
            </a:r>
            <a:r>
              <a:rPr lang="en-GB" sz="2400" dirty="0" err="1" smtClean="0"/>
              <a:t>phải</a:t>
            </a:r>
            <a:r>
              <a:rPr lang="en-GB" sz="2400" dirty="0" smtClean="0"/>
              <a:t> </a:t>
            </a:r>
            <a:r>
              <a:rPr lang="en-GB" sz="2400" dirty="0" err="1" smtClean="0"/>
              <a:t>là</a:t>
            </a:r>
            <a:r>
              <a:rPr lang="en-GB" sz="2400" dirty="0" smtClean="0"/>
              <a:t> double</a:t>
            </a:r>
          </a:p>
          <a:p>
            <a:r>
              <a:rPr lang="en-GB" sz="2400" dirty="0" err="1" smtClean="0"/>
              <a:t>Giá</a:t>
            </a:r>
            <a:r>
              <a:rPr lang="en-GB" sz="2400" dirty="0" smtClean="0"/>
              <a:t> </a:t>
            </a:r>
            <a:r>
              <a:rPr lang="en-GB" sz="2400" dirty="0" err="1" smtClean="0"/>
              <a:t>trị</a:t>
            </a:r>
            <a:r>
              <a:rPr lang="en-GB" sz="2400" dirty="0" smtClean="0"/>
              <a:t> </a:t>
            </a:r>
            <a:r>
              <a:rPr lang="en-GB" sz="2400" dirty="0" err="1" smtClean="0"/>
              <a:t>mảng</a:t>
            </a:r>
            <a:r>
              <a:rPr lang="en-GB" sz="2400" dirty="0" smtClean="0"/>
              <a:t> </a:t>
            </a:r>
            <a:r>
              <a:rPr lang="en-GB" sz="2400" i="1" dirty="0" smtClean="0"/>
              <a:t>n</a:t>
            </a:r>
            <a:r>
              <a:rPr lang="en-GB" sz="2400" dirty="0" smtClean="0"/>
              <a:t> </a:t>
            </a:r>
            <a:r>
              <a:rPr lang="en-GB" sz="2400" dirty="0" err="1" smtClean="0"/>
              <a:t>nhóm</a:t>
            </a:r>
            <a:r>
              <a:rPr lang="en-GB" sz="2400" dirty="0" smtClean="0"/>
              <a:t> </a:t>
            </a:r>
            <a:r>
              <a:rPr lang="en-GB" sz="2400" dirty="0" err="1" smtClean="0"/>
              <a:t>phải</a:t>
            </a:r>
            <a:r>
              <a:rPr lang="en-GB" sz="2400" dirty="0" smtClean="0"/>
              <a:t> </a:t>
            </a:r>
            <a:r>
              <a:rPr lang="en-GB" sz="2400" dirty="0" err="1" smtClean="0"/>
              <a:t>là</a:t>
            </a:r>
            <a:r>
              <a:rPr lang="en-GB" sz="2400" dirty="0" smtClean="0"/>
              <a:t> double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697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Machine Learning Transformer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27" y="1144112"/>
            <a:ext cx="8535782" cy="398336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943" y="3930090"/>
            <a:ext cx="4950330" cy="224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077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Machine Learning Transformer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err="1" smtClean="0"/>
              <a:t>OneHotEncoder</a:t>
            </a:r>
            <a:r>
              <a:rPr lang="en-GB" sz="2400" dirty="0" smtClean="0"/>
              <a:t> transformer </a:t>
            </a:r>
            <a:r>
              <a:rPr lang="en-GB" sz="2400" dirty="0" err="1" smtClean="0"/>
              <a:t>chuyển</a:t>
            </a:r>
            <a:r>
              <a:rPr lang="en-GB" sz="2400" dirty="0" smtClean="0"/>
              <a:t> </a:t>
            </a:r>
            <a:r>
              <a:rPr lang="en-GB" sz="2400" dirty="0" err="1" smtClean="0"/>
              <a:t>các</a:t>
            </a:r>
            <a:r>
              <a:rPr lang="en-GB" sz="2400" dirty="0" smtClean="0"/>
              <a:t> </a:t>
            </a:r>
            <a:r>
              <a:rPr lang="en-GB" sz="2400" dirty="0" err="1" smtClean="0"/>
              <a:t>giá</a:t>
            </a:r>
            <a:r>
              <a:rPr lang="en-GB" sz="2400" dirty="0" smtClean="0"/>
              <a:t> </a:t>
            </a:r>
            <a:r>
              <a:rPr lang="en-GB" sz="2400" dirty="0" err="1" smtClean="0"/>
              <a:t>trị</a:t>
            </a:r>
            <a:r>
              <a:rPr lang="en-GB" sz="2400" dirty="0" smtClean="0"/>
              <a:t> </a:t>
            </a:r>
            <a:r>
              <a:rPr lang="en-GB" sz="2400" dirty="0" err="1" smtClean="0"/>
              <a:t>của</a:t>
            </a:r>
            <a:r>
              <a:rPr lang="en-GB" sz="2400" dirty="0" smtClean="0"/>
              <a:t> </a:t>
            </a:r>
            <a:r>
              <a:rPr lang="en-GB" sz="2400" dirty="0" err="1" smtClean="0"/>
              <a:t>cột</a:t>
            </a:r>
            <a:r>
              <a:rPr lang="en-GB" sz="2400" dirty="0" smtClean="0"/>
              <a:t> input </a:t>
            </a:r>
            <a:r>
              <a:rPr lang="en-GB" sz="2400" dirty="0" err="1" smtClean="0"/>
              <a:t>thành</a:t>
            </a:r>
            <a:r>
              <a:rPr lang="en-GB" sz="2400" dirty="0" smtClean="0"/>
              <a:t> </a:t>
            </a:r>
            <a:r>
              <a:rPr lang="en-GB" sz="2400" i="1" dirty="0" smtClean="0"/>
              <a:t>n</a:t>
            </a:r>
            <a:r>
              <a:rPr lang="en-GB" sz="2400" dirty="0" smtClean="0"/>
              <a:t> </a:t>
            </a:r>
            <a:r>
              <a:rPr lang="en-GB" sz="2400" dirty="0" err="1" smtClean="0"/>
              <a:t>nhóm</a:t>
            </a:r>
            <a:r>
              <a:rPr lang="en-GB" sz="2400" dirty="0" smtClean="0"/>
              <a:t>.</a:t>
            </a:r>
          </a:p>
          <a:p>
            <a:r>
              <a:rPr lang="en-GB" sz="2400" dirty="0" err="1" smtClean="0"/>
              <a:t>Kiểu</a:t>
            </a:r>
            <a:r>
              <a:rPr lang="en-GB" sz="2400" dirty="0" smtClean="0"/>
              <a:t> </a:t>
            </a:r>
            <a:r>
              <a:rPr lang="en-GB" sz="2400" dirty="0" err="1" smtClean="0"/>
              <a:t>dữ</a:t>
            </a:r>
            <a:r>
              <a:rPr lang="en-GB" sz="2400" dirty="0" smtClean="0"/>
              <a:t> </a:t>
            </a:r>
            <a:r>
              <a:rPr lang="en-GB" sz="2400" dirty="0" err="1" smtClean="0"/>
              <a:t>liệu</a:t>
            </a:r>
            <a:r>
              <a:rPr lang="en-GB" sz="2400" dirty="0" smtClean="0"/>
              <a:t> </a:t>
            </a:r>
            <a:r>
              <a:rPr lang="en-GB" sz="2400" dirty="0" err="1" smtClean="0"/>
              <a:t>cột</a:t>
            </a:r>
            <a:r>
              <a:rPr lang="en-GB" sz="2400" dirty="0" smtClean="0"/>
              <a:t> input </a:t>
            </a:r>
            <a:r>
              <a:rPr lang="en-GB" sz="2400" dirty="0" err="1" smtClean="0"/>
              <a:t>phải</a:t>
            </a:r>
            <a:r>
              <a:rPr lang="en-GB" sz="2400" dirty="0" smtClean="0"/>
              <a:t> </a:t>
            </a:r>
            <a:r>
              <a:rPr lang="en-GB" sz="2400" dirty="0" err="1" smtClean="0"/>
              <a:t>là</a:t>
            </a:r>
            <a:r>
              <a:rPr lang="en-GB" sz="2400" dirty="0" smtClean="0"/>
              <a:t> double</a:t>
            </a:r>
          </a:p>
          <a:p>
            <a:r>
              <a:rPr lang="en-GB" sz="2400" dirty="0" err="1" smtClean="0"/>
              <a:t>Nếu</a:t>
            </a:r>
            <a:r>
              <a:rPr lang="en-GB" sz="2400" dirty="0" smtClean="0"/>
              <a:t> </a:t>
            </a:r>
            <a:r>
              <a:rPr lang="en-GB" sz="2400" dirty="0" err="1" smtClean="0"/>
              <a:t>giá</a:t>
            </a:r>
            <a:r>
              <a:rPr lang="en-GB" sz="2400" dirty="0" smtClean="0"/>
              <a:t> </a:t>
            </a:r>
            <a:r>
              <a:rPr lang="en-GB" sz="2400" dirty="0" err="1" smtClean="0"/>
              <a:t>trị</a:t>
            </a:r>
            <a:r>
              <a:rPr lang="en-GB" sz="2400" dirty="0" smtClean="0"/>
              <a:t> </a:t>
            </a:r>
            <a:r>
              <a:rPr lang="en-GB" sz="2400" dirty="0" err="1" smtClean="0"/>
              <a:t>cột</a:t>
            </a:r>
            <a:r>
              <a:rPr lang="en-GB" sz="2400" dirty="0" smtClean="0"/>
              <a:t> input </a:t>
            </a:r>
            <a:r>
              <a:rPr lang="en-GB" sz="2400" dirty="0" err="1" smtClean="0"/>
              <a:t>là</a:t>
            </a:r>
            <a:r>
              <a:rPr lang="en-GB" sz="2400" dirty="0" smtClean="0"/>
              <a:t> </a:t>
            </a:r>
            <a:r>
              <a:rPr lang="en-GB" sz="2400" dirty="0" err="1" smtClean="0"/>
              <a:t>chuỗi</a:t>
            </a:r>
            <a:r>
              <a:rPr lang="en-GB" sz="2400" dirty="0" smtClean="0"/>
              <a:t> </a:t>
            </a:r>
            <a:r>
              <a:rPr lang="en-GB" sz="2400" dirty="0" err="1" smtClean="0"/>
              <a:t>thì</a:t>
            </a:r>
            <a:r>
              <a:rPr lang="en-GB" sz="2400" dirty="0" smtClean="0"/>
              <a:t> </a:t>
            </a:r>
            <a:r>
              <a:rPr lang="en-GB" sz="2400" dirty="0" err="1" smtClean="0"/>
              <a:t>dùng</a:t>
            </a:r>
            <a:r>
              <a:rPr lang="en-GB" sz="2400" dirty="0" smtClean="0"/>
              <a:t> </a:t>
            </a:r>
            <a:r>
              <a:rPr lang="en-GB" sz="2400" dirty="0" err="1" smtClean="0">
                <a:solidFill>
                  <a:srgbClr val="00B050"/>
                </a:solidFill>
              </a:rPr>
              <a:t>StringIndexer</a:t>
            </a:r>
            <a:r>
              <a:rPr lang="en-GB" sz="2400" dirty="0" smtClean="0"/>
              <a:t> </a:t>
            </a:r>
            <a:r>
              <a:rPr lang="en-GB" sz="2400" dirty="0" err="1" smtClean="0"/>
              <a:t>để</a:t>
            </a:r>
            <a:r>
              <a:rPr lang="en-GB" sz="2400" dirty="0" smtClean="0"/>
              <a:t> </a:t>
            </a:r>
            <a:r>
              <a:rPr lang="en-GB" sz="2400" dirty="0" err="1" smtClean="0"/>
              <a:t>chuyển</a:t>
            </a:r>
            <a:r>
              <a:rPr lang="en-GB" sz="2400" dirty="0" smtClean="0"/>
              <a:t> </a:t>
            </a:r>
            <a:r>
              <a:rPr lang="en-GB" sz="2400" dirty="0" err="1" smtClean="0"/>
              <a:t>thành</a:t>
            </a:r>
            <a:r>
              <a:rPr lang="en-GB" sz="2400" dirty="0" smtClean="0"/>
              <a:t> </a:t>
            </a:r>
            <a:r>
              <a:rPr lang="en-GB" sz="2400" dirty="0" err="1" smtClean="0"/>
              <a:t>số</a:t>
            </a:r>
            <a:endParaRPr lang="en-GB" sz="2400" dirty="0" smtClean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021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Machine Learning Transformer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900" y="1194860"/>
            <a:ext cx="8009027" cy="35651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6392" y="3572141"/>
            <a:ext cx="4316562" cy="2604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12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Machine Learning Transformer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102" y="1124929"/>
            <a:ext cx="8903628" cy="37205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781004"/>
            <a:ext cx="5064807" cy="225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907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Machine Learning Transformer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245" y="1385047"/>
            <a:ext cx="6573292" cy="22345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245" y="3781005"/>
            <a:ext cx="7455579" cy="239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271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Machine Learning Transformer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244" y="1259050"/>
            <a:ext cx="5434042" cy="25010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129" y="4035217"/>
            <a:ext cx="8555151" cy="214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627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Machine Learning Transformer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err="1" smtClean="0"/>
              <a:t>VectorAssembler</a:t>
            </a:r>
            <a:r>
              <a:rPr lang="en-GB" sz="2400" dirty="0" smtClean="0"/>
              <a:t> transformer </a:t>
            </a:r>
            <a:r>
              <a:rPr lang="en-GB" sz="2400" dirty="0" err="1" smtClean="0"/>
              <a:t>kết</a:t>
            </a:r>
            <a:r>
              <a:rPr lang="en-GB" sz="2400" dirty="0" smtClean="0"/>
              <a:t> </a:t>
            </a:r>
            <a:r>
              <a:rPr lang="en-GB" sz="2400" dirty="0" err="1" smtClean="0"/>
              <a:t>hợp</a:t>
            </a:r>
            <a:r>
              <a:rPr lang="en-GB" sz="2400" dirty="0" smtClean="0"/>
              <a:t> </a:t>
            </a:r>
            <a:r>
              <a:rPr lang="en-GB" sz="2400" dirty="0" err="1" smtClean="0"/>
              <a:t>các</a:t>
            </a:r>
            <a:r>
              <a:rPr lang="en-GB" sz="2400" dirty="0" smtClean="0"/>
              <a:t> </a:t>
            </a:r>
            <a:r>
              <a:rPr lang="en-GB" sz="2400" dirty="0" err="1" smtClean="0"/>
              <a:t>giá</a:t>
            </a:r>
            <a:r>
              <a:rPr lang="en-GB" sz="2400" dirty="0" smtClean="0"/>
              <a:t> </a:t>
            </a:r>
            <a:r>
              <a:rPr lang="en-GB" sz="2400" dirty="0" err="1" smtClean="0"/>
              <a:t>trị</a:t>
            </a:r>
            <a:r>
              <a:rPr lang="en-GB" sz="2400" dirty="0" smtClean="0"/>
              <a:t> </a:t>
            </a:r>
            <a:r>
              <a:rPr lang="en-GB" sz="2400" dirty="0" err="1" smtClean="0"/>
              <a:t>của</a:t>
            </a:r>
            <a:r>
              <a:rPr lang="en-GB" sz="2400" dirty="0" smtClean="0"/>
              <a:t> </a:t>
            </a:r>
            <a:r>
              <a:rPr lang="en-GB" sz="2400" dirty="0" err="1" smtClean="0"/>
              <a:t>các</a:t>
            </a:r>
            <a:r>
              <a:rPr lang="en-GB" sz="2400" dirty="0" smtClean="0"/>
              <a:t> </a:t>
            </a:r>
            <a:r>
              <a:rPr lang="en-GB" sz="2400" dirty="0" err="1" smtClean="0"/>
              <a:t>cột</a:t>
            </a:r>
            <a:r>
              <a:rPr lang="en-GB" sz="2400" dirty="0" smtClean="0"/>
              <a:t> input </a:t>
            </a:r>
            <a:r>
              <a:rPr lang="en-GB" sz="2400" dirty="0" err="1" smtClean="0"/>
              <a:t>thành</a:t>
            </a:r>
            <a:r>
              <a:rPr lang="en-GB" sz="2400" dirty="0" smtClean="0"/>
              <a:t> 1 </a:t>
            </a:r>
            <a:r>
              <a:rPr lang="en-GB" sz="2400" dirty="0" err="1" smtClean="0"/>
              <a:t>cột</a:t>
            </a:r>
            <a:r>
              <a:rPr lang="en-GB" sz="2400" dirty="0" smtClean="0"/>
              <a:t> </a:t>
            </a:r>
            <a:r>
              <a:rPr lang="en-GB" sz="2400" dirty="0" err="1" smtClean="0"/>
              <a:t>duy</a:t>
            </a:r>
            <a:r>
              <a:rPr lang="en-GB" sz="2400" dirty="0" smtClean="0"/>
              <a:t> </a:t>
            </a:r>
            <a:r>
              <a:rPr lang="en-GB" sz="2400" dirty="0" err="1" smtClean="0"/>
              <a:t>nhất</a:t>
            </a:r>
            <a:r>
              <a:rPr lang="en-GB" sz="2400" dirty="0" smtClean="0"/>
              <a:t>.</a:t>
            </a:r>
          </a:p>
          <a:p>
            <a:r>
              <a:rPr lang="en-GB" sz="2400" dirty="0" err="1" smtClean="0"/>
              <a:t>Kiểu</a:t>
            </a:r>
            <a:r>
              <a:rPr lang="en-GB" sz="2400" dirty="0" smtClean="0"/>
              <a:t> </a:t>
            </a:r>
            <a:r>
              <a:rPr lang="en-GB" sz="2400" dirty="0" err="1" smtClean="0"/>
              <a:t>dữ</a:t>
            </a:r>
            <a:r>
              <a:rPr lang="en-GB" sz="2400" dirty="0" smtClean="0"/>
              <a:t> </a:t>
            </a:r>
            <a:r>
              <a:rPr lang="en-GB" sz="2400" dirty="0" err="1" smtClean="0"/>
              <a:t>liệu</a:t>
            </a:r>
            <a:r>
              <a:rPr lang="en-GB" sz="2400" dirty="0" smtClean="0"/>
              <a:t> </a:t>
            </a:r>
            <a:r>
              <a:rPr lang="en-GB" sz="2400" dirty="0" err="1" smtClean="0"/>
              <a:t>mỗi</a:t>
            </a:r>
            <a:r>
              <a:rPr lang="en-GB" sz="2400" dirty="0" smtClean="0"/>
              <a:t> </a:t>
            </a:r>
            <a:r>
              <a:rPr lang="en-GB" sz="2400" dirty="0" err="1" smtClean="0"/>
              <a:t>cột</a:t>
            </a:r>
            <a:r>
              <a:rPr lang="en-GB" sz="2400" dirty="0" smtClean="0"/>
              <a:t> </a:t>
            </a:r>
            <a:r>
              <a:rPr lang="en-GB" sz="2400" dirty="0" err="1" smtClean="0"/>
              <a:t>tham</a:t>
            </a:r>
            <a:r>
              <a:rPr lang="en-GB" sz="2400" dirty="0" smtClean="0"/>
              <a:t> </a:t>
            </a:r>
            <a:r>
              <a:rPr lang="en-GB" sz="2400" dirty="0" err="1" smtClean="0"/>
              <a:t>gia</a:t>
            </a:r>
            <a:r>
              <a:rPr lang="en-GB" sz="2400" dirty="0" smtClean="0"/>
              <a:t> input </a:t>
            </a:r>
            <a:r>
              <a:rPr lang="en-GB" sz="2400" dirty="0" err="1" smtClean="0"/>
              <a:t>phải</a:t>
            </a:r>
            <a:r>
              <a:rPr lang="en-GB" sz="2400" dirty="0" smtClean="0"/>
              <a:t> </a:t>
            </a:r>
            <a:r>
              <a:rPr lang="en-GB" sz="2400" dirty="0" err="1" smtClean="0"/>
              <a:t>là</a:t>
            </a:r>
            <a:r>
              <a:rPr lang="en-GB" sz="2400" dirty="0" smtClean="0"/>
              <a:t> numeric, Boolean, vector</a:t>
            </a:r>
          </a:p>
          <a:p>
            <a:endParaRPr lang="en-GB" sz="2400" dirty="0" smtClean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180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Machine Learning Transformer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sz="2400" dirty="0" smtClean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614" y="1464935"/>
            <a:ext cx="9173885" cy="361126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676" y="3833723"/>
            <a:ext cx="5228578" cy="198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983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Machine Learning Estimator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err="1" smtClean="0"/>
              <a:t>Là</a:t>
            </a:r>
            <a:r>
              <a:rPr lang="en-GB" sz="2400" dirty="0" smtClean="0"/>
              <a:t> </a:t>
            </a:r>
            <a:r>
              <a:rPr lang="en-GB" sz="2400" dirty="0" err="1" smtClean="0"/>
              <a:t>bước</a:t>
            </a:r>
            <a:r>
              <a:rPr lang="en-GB" sz="2400" dirty="0" smtClean="0"/>
              <a:t> </a:t>
            </a:r>
            <a:r>
              <a:rPr lang="en-GB" sz="2400" dirty="0" err="1" smtClean="0"/>
              <a:t>áp</a:t>
            </a:r>
            <a:r>
              <a:rPr lang="en-GB" sz="2400" dirty="0" smtClean="0"/>
              <a:t> </a:t>
            </a:r>
            <a:r>
              <a:rPr lang="en-GB" sz="2400" dirty="0" err="1" smtClean="0"/>
              <a:t>dụng</a:t>
            </a:r>
            <a:r>
              <a:rPr lang="en-GB" sz="2400" dirty="0" smtClean="0"/>
              <a:t> </a:t>
            </a:r>
            <a:r>
              <a:rPr lang="en-GB" sz="2400" dirty="0" err="1" smtClean="0"/>
              <a:t>các</a:t>
            </a:r>
            <a:r>
              <a:rPr lang="en-GB" sz="2400" dirty="0" smtClean="0"/>
              <a:t> </a:t>
            </a:r>
            <a:r>
              <a:rPr lang="en-GB" sz="2400" dirty="0" err="1" smtClean="0"/>
              <a:t>giải</a:t>
            </a:r>
            <a:r>
              <a:rPr lang="en-GB" sz="2400" dirty="0" smtClean="0"/>
              <a:t> </a:t>
            </a:r>
            <a:r>
              <a:rPr lang="en-GB" sz="2400" dirty="0" err="1" smtClean="0"/>
              <a:t>thuật</a:t>
            </a:r>
            <a:r>
              <a:rPr lang="en-GB" sz="2400" dirty="0" smtClean="0"/>
              <a:t> ML </a:t>
            </a:r>
            <a:r>
              <a:rPr lang="en-GB" sz="2400" dirty="0" err="1" smtClean="0"/>
              <a:t>hoặc</a:t>
            </a:r>
            <a:r>
              <a:rPr lang="en-GB" sz="2400" dirty="0" smtClean="0"/>
              <a:t> </a:t>
            </a:r>
            <a:r>
              <a:rPr lang="en-GB" sz="2400" dirty="0" err="1" smtClean="0"/>
              <a:t>các</a:t>
            </a:r>
            <a:r>
              <a:rPr lang="en-GB" sz="2400" dirty="0" smtClean="0"/>
              <a:t> </a:t>
            </a:r>
            <a:r>
              <a:rPr lang="en-GB" sz="2400" dirty="0" err="1" smtClean="0"/>
              <a:t>giải</a:t>
            </a:r>
            <a:r>
              <a:rPr lang="en-GB" sz="2400" dirty="0" smtClean="0"/>
              <a:t> </a:t>
            </a:r>
            <a:r>
              <a:rPr lang="en-GB" sz="2400" dirty="0" err="1" smtClean="0"/>
              <a:t>thuật</a:t>
            </a:r>
            <a:r>
              <a:rPr lang="en-GB" sz="2400" dirty="0" smtClean="0"/>
              <a:t> </a:t>
            </a:r>
            <a:r>
              <a:rPr lang="en-GB" sz="2400" dirty="0" err="1" smtClean="0"/>
              <a:t>khác</a:t>
            </a:r>
            <a:r>
              <a:rPr lang="en-GB" sz="2400" dirty="0" smtClean="0"/>
              <a:t> </a:t>
            </a:r>
            <a:r>
              <a:rPr lang="en-GB" sz="2400" dirty="0" err="1" smtClean="0"/>
              <a:t>thao</a:t>
            </a:r>
            <a:r>
              <a:rPr lang="en-GB" sz="2400" dirty="0" smtClean="0"/>
              <a:t> </a:t>
            </a:r>
            <a:r>
              <a:rPr lang="en-GB" sz="2400" dirty="0" err="1" smtClean="0"/>
              <a:t>tác</a:t>
            </a:r>
            <a:r>
              <a:rPr lang="en-GB" sz="2400" dirty="0" smtClean="0"/>
              <a:t> </a:t>
            </a:r>
            <a:r>
              <a:rPr lang="en-GB" sz="2400" dirty="0" err="1" smtClean="0"/>
              <a:t>trên</a:t>
            </a:r>
            <a:r>
              <a:rPr lang="en-GB" sz="2400" dirty="0" smtClean="0"/>
              <a:t> data.</a:t>
            </a:r>
          </a:p>
          <a:p>
            <a:r>
              <a:rPr lang="en-GB" sz="2400" dirty="0" smtClean="0"/>
              <a:t>VD: </a:t>
            </a:r>
            <a:r>
              <a:rPr lang="en-GB" sz="2400" dirty="0" err="1" smtClean="0"/>
              <a:t>LinearRegression</a:t>
            </a:r>
            <a:r>
              <a:rPr lang="en-GB" sz="2400" dirty="0" smtClean="0"/>
              <a:t> </a:t>
            </a:r>
            <a:r>
              <a:rPr lang="en-GB" sz="2400" dirty="0" err="1" smtClean="0"/>
              <a:t>và</a:t>
            </a:r>
            <a:r>
              <a:rPr lang="en-GB" sz="2400" dirty="0" smtClean="0"/>
              <a:t> </a:t>
            </a:r>
            <a:r>
              <a:rPr lang="en-GB" sz="2400" dirty="0" err="1" smtClean="0"/>
              <a:t>StringIndexer</a:t>
            </a:r>
            <a:endParaRPr lang="en-GB" sz="2400" dirty="0" smtClean="0"/>
          </a:p>
          <a:p>
            <a:r>
              <a:rPr lang="en-GB" sz="2400" dirty="0" err="1" smtClean="0"/>
              <a:t>Dùng</a:t>
            </a:r>
            <a:r>
              <a:rPr lang="en-GB" sz="2400" dirty="0" smtClean="0"/>
              <a:t> </a:t>
            </a:r>
            <a:r>
              <a:rPr lang="en-GB" sz="2400" dirty="0" err="1" smtClean="0"/>
              <a:t>hàm</a:t>
            </a:r>
            <a:r>
              <a:rPr lang="en-GB" sz="2400" dirty="0" smtClean="0"/>
              <a:t> fit()  </a:t>
            </a:r>
          </a:p>
          <a:p>
            <a:endParaRPr lang="en-GB" sz="2400" dirty="0" smtClean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58" y="4009001"/>
            <a:ext cx="11090528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174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Machine Learning Estimator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sz="2400" dirty="0" smtClean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8284" y="1385047"/>
            <a:ext cx="7296150" cy="3990975"/>
          </a:xfrm>
          <a:prstGeom prst="rect">
            <a:avLst/>
          </a:prstGeom>
          <a:ln>
            <a:solidFill>
              <a:srgbClr val="2C3E50"/>
            </a:solidFill>
          </a:ln>
        </p:spPr>
      </p:pic>
    </p:spTree>
    <p:extLst>
      <p:ext uri="{BB962C8B-B14F-4D97-AF65-F5344CB8AC3E}">
        <p14:creationId xmlns:p14="http://schemas.microsoft.com/office/powerpoint/2010/main" val="2131890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Spark Machine Learning Estimator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sz="2400" dirty="0" smtClean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8400" y="1615600"/>
            <a:ext cx="731520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78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Bài</a:t>
            </a:r>
            <a:r>
              <a:rPr lang="en-GB" dirty="0" smtClean="0"/>
              <a:t> </a:t>
            </a:r>
            <a:r>
              <a:rPr lang="en-GB" dirty="0" err="1" smtClean="0"/>
              <a:t>tập</a:t>
            </a:r>
            <a:r>
              <a:rPr lang="en-GB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What are the primary components of Apache Spark's transformer modules, and how do they contribute to the data transformation process?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Can you provide an overview of some commonly used transformer modules in Apache Spark, and their respective functionalities?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How does the concept of </a:t>
            </a:r>
            <a:r>
              <a:rPr lang="en-GB" dirty="0" err="1"/>
              <a:t>DataFrame</a:t>
            </a:r>
            <a:r>
              <a:rPr lang="en-GB" dirty="0"/>
              <a:t> transformations differ from RDD transformations in Apache Spark, and what role do transformer modules play in this context?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What are the advantages of using pre-built transformer modules in Apache Spark compared to implementing custom transformations?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Can you discuss the compatibility of Apache Spark transformer modules with various data formats and sources, such as CSV, Parquet, and JDBC?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322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Bài</a:t>
            </a:r>
            <a:r>
              <a:rPr lang="en-GB" dirty="0" smtClean="0"/>
              <a:t> </a:t>
            </a:r>
            <a:r>
              <a:rPr lang="en-GB" dirty="0" err="1" smtClean="0"/>
              <a:t>tập</a:t>
            </a:r>
            <a:r>
              <a:rPr lang="en-GB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514350" indent="-514350">
              <a:buFont typeface="+mj-lt"/>
              <a:buAutoNum type="arabicPeriod" startAt="6"/>
            </a:pPr>
            <a:r>
              <a:rPr lang="en-GB" dirty="0"/>
              <a:t>How do transformer modules in Apache Spark handle missing or null values during the transformation process, and what strategies are available for dealing with them?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GB" dirty="0"/>
              <a:t>What considerations should be taken into account when selecting transformer modules for specific data transformation tasks, such as data cleansing, feature engineering, or aggregation?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GB" dirty="0"/>
              <a:t>How does the performance of transformer modules in Apache Spark scale with increasing data volume, and what techniques can be employed to optimize their execution in large-scale environments?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GB" dirty="0"/>
              <a:t>Are there any limitations or trade-offs associated with using certain transformer modules in Apache Spark, and how can users navigate them effectively?</a:t>
            </a:r>
          </a:p>
          <a:p>
            <a:pPr marL="514350" indent="-514350">
              <a:buFont typeface="+mj-lt"/>
              <a:buAutoNum type="arabicPeriod" startAt="6"/>
            </a:pPr>
            <a:r>
              <a:rPr lang="en-GB" dirty="0"/>
              <a:t>Can you discuss any recent advancements or updates in Apache Spark's transformer modules that have enhanced their functionality, performance, or ease of use?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792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Linear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err="1"/>
              <a:t>Ví</a:t>
            </a:r>
            <a:r>
              <a:rPr lang="en-GB" sz="2400" dirty="0"/>
              <a:t> </a:t>
            </a:r>
            <a:r>
              <a:rPr lang="en-GB" sz="2400" dirty="0" err="1"/>
              <a:t>dụ</a:t>
            </a:r>
            <a:r>
              <a:rPr lang="en-GB" sz="2400" dirty="0" smtClean="0"/>
              <a:t>: </a:t>
            </a:r>
            <a:r>
              <a:rPr lang="en-GB" sz="2400" dirty="0" err="1" smtClean="0"/>
              <a:t>Tìm</a:t>
            </a:r>
            <a:r>
              <a:rPr lang="en-GB" sz="2400" dirty="0" smtClean="0"/>
              <a:t> </a:t>
            </a:r>
            <a:r>
              <a:rPr lang="en-GB" sz="2400" dirty="0" err="1" smtClean="0"/>
              <a:t>mô</a:t>
            </a:r>
            <a:r>
              <a:rPr lang="en-GB" sz="2400" dirty="0" smtClean="0"/>
              <a:t> </a:t>
            </a:r>
            <a:r>
              <a:rPr lang="en-GB" sz="2400" dirty="0" err="1" smtClean="0"/>
              <a:t>hình</a:t>
            </a:r>
            <a:r>
              <a:rPr lang="en-GB" sz="2400" dirty="0" smtClean="0"/>
              <a:t> </a:t>
            </a:r>
            <a:r>
              <a:rPr lang="en-GB" sz="2400" dirty="0" err="1" smtClean="0"/>
              <a:t>dự</a:t>
            </a:r>
            <a:r>
              <a:rPr lang="en-GB" sz="2400" dirty="0" smtClean="0"/>
              <a:t> </a:t>
            </a:r>
            <a:r>
              <a:rPr lang="en-GB" sz="2400" dirty="0" err="1" smtClean="0"/>
              <a:t>báo</a:t>
            </a:r>
            <a:r>
              <a:rPr lang="en-GB" sz="2400" dirty="0" smtClean="0"/>
              <a:t> </a:t>
            </a:r>
            <a:r>
              <a:rPr lang="en-GB" sz="2400" dirty="0" err="1" smtClean="0"/>
              <a:t>cân</a:t>
            </a:r>
            <a:r>
              <a:rPr lang="en-GB" sz="2400" dirty="0" smtClean="0"/>
              <a:t> </a:t>
            </a:r>
            <a:r>
              <a:rPr lang="en-GB" sz="2400" dirty="0" err="1" smtClean="0"/>
              <a:t>nặng</a:t>
            </a:r>
            <a:r>
              <a:rPr lang="en-GB" sz="2400" dirty="0" smtClean="0"/>
              <a:t> </a:t>
            </a:r>
            <a:r>
              <a:rPr lang="en-GB" sz="2400" dirty="0" err="1" smtClean="0"/>
              <a:t>khi</a:t>
            </a:r>
            <a:r>
              <a:rPr lang="en-GB" sz="2400" dirty="0" smtClean="0"/>
              <a:t> </a:t>
            </a:r>
            <a:r>
              <a:rPr lang="en-GB" sz="2400" dirty="0" err="1" smtClean="0"/>
              <a:t>biết</a:t>
            </a:r>
            <a:r>
              <a:rPr lang="en-GB" sz="2400" dirty="0" smtClean="0"/>
              <a:t> </a:t>
            </a:r>
            <a:r>
              <a:rPr lang="en-GB" sz="2400" dirty="0" err="1" smtClean="0"/>
              <a:t>chiều</a:t>
            </a:r>
            <a:r>
              <a:rPr lang="en-GB" sz="2400" dirty="0" smtClean="0"/>
              <a:t> </a:t>
            </a:r>
            <a:r>
              <a:rPr lang="en-GB" sz="2400" dirty="0" err="1" smtClean="0"/>
              <a:t>cao</a:t>
            </a:r>
            <a:endParaRPr lang="en-GB" sz="2400" dirty="0" smtClean="0"/>
          </a:p>
          <a:p>
            <a:endParaRPr lang="en-GB" sz="2400" dirty="0" smtClean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737" y="2050634"/>
            <a:ext cx="7248525" cy="2209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856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Linear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400" dirty="0" smtClean="0"/>
              <a:t>Y = b</a:t>
            </a:r>
            <a:r>
              <a:rPr lang="en-GB" sz="2400" baseline="-25000" dirty="0" smtClean="0"/>
              <a:t>0</a:t>
            </a:r>
            <a:r>
              <a:rPr lang="en-GB" sz="2400" dirty="0" smtClean="0"/>
              <a:t> + b</a:t>
            </a:r>
            <a:r>
              <a:rPr lang="en-GB" sz="2400" baseline="-25000" dirty="0" smtClean="0"/>
              <a:t>1</a:t>
            </a:r>
            <a:r>
              <a:rPr lang="en-GB" sz="2400" dirty="0" smtClean="0"/>
              <a:t> * x</a:t>
            </a:r>
          </a:p>
          <a:p>
            <a:pPr marL="0" indent="0">
              <a:buNone/>
            </a:pPr>
            <a:r>
              <a:rPr lang="en-GB" sz="2400" dirty="0" smtClean="0"/>
              <a:t>X: </a:t>
            </a:r>
            <a:r>
              <a:rPr lang="en-GB" sz="2400" dirty="0" err="1" smtClean="0"/>
              <a:t>là</a:t>
            </a:r>
            <a:r>
              <a:rPr lang="en-GB" sz="2400" dirty="0" smtClean="0"/>
              <a:t> </a:t>
            </a:r>
            <a:r>
              <a:rPr lang="en-GB" sz="2400" dirty="0" err="1" smtClean="0"/>
              <a:t>chiều</a:t>
            </a:r>
            <a:r>
              <a:rPr lang="en-GB" sz="2400" dirty="0" smtClean="0"/>
              <a:t> </a:t>
            </a:r>
            <a:r>
              <a:rPr lang="en-GB" sz="2400" dirty="0" err="1" smtClean="0"/>
              <a:t>cao</a:t>
            </a:r>
            <a:endParaRPr lang="en-GB" sz="2400" dirty="0" smtClean="0"/>
          </a:p>
          <a:p>
            <a:pPr marL="0" indent="0">
              <a:buNone/>
            </a:pPr>
            <a:r>
              <a:rPr lang="en-GB" sz="2400" dirty="0" smtClean="0"/>
              <a:t>Y: </a:t>
            </a:r>
            <a:r>
              <a:rPr lang="en-GB" sz="2400" dirty="0" err="1" smtClean="0"/>
              <a:t>cân</a:t>
            </a:r>
            <a:r>
              <a:rPr lang="en-GB" sz="2400" dirty="0" smtClean="0"/>
              <a:t> </a:t>
            </a:r>
            <a:r>
              <a:rPr lang="en-GB" sz="2400" dirty="0" err="1" smtClean="0"/>
              <a:t>nặng</a:t>
            </a:r>
            <a:endParaRPr lang="en-GB" sz="2400" dirty="0" smtClean="0"/>
          </a:p>
          <a:p>
            <a:pPr marL="0" indent="0">
              <a:buNone/>
            </a:pPr>
            <a:r>
              <a:rPr lang="en-GB" sz="2400" dirty="0" smtClean="0"/>
              <a:t>b</a:t>
            </a:r>
            <a:r>
              <a:rPr lang="en-GB" sz="2400" baseline="-25000" dirty="0" smtClean="0"/>
              <a:t>0</a:t>
            </a:r>
            <a:r>
              <a:rPr lang="en-GB" sz="2400" dirty="0" smtClean="0"/>
              <a:t>, b</a:t>
            </a:r>
            <a:r>
              <a:rPr lang="en-GB" sz="2400" baseline="-25000" dirty="0" smtClean="0"/>
              <a:t>1</a:t>
            </a:r>
            <a:r>
              <a:rPr lang="en-GB" sz="2400" dirty="0" smtClean="0"/>
              <a:t> : </a:t>
            </a:r>
            <a:r>
              <a:rPr lang="en-GB" sz="2400" dirty="0" err="1" smtClean="0"/>
              <a:t>các</a:t>
            </a:r>
            <a:r>
              <a:rPr lang="en-GB" sz="2400" dirty="0" smtClean="0"/>
              <a:t> </a:t>
            </a:r>
            <a:r>
              <a:rPr lang="en-GB" sz="2400" dirty="0" err="1" smtClean="0"/>
              <a:t>hệ</a:t>
            </a:r>
            <a:r>
              <a:rPr lang="en-GB" sz="2400" dirty="0" smtClean="0"/>
              <a:t> </a:t>
            </a:r>
            <a:r>
              <a:rPr lang="en-GB" sz="2400" dirty="0" err="1" smtClean="0"/>
              <a:t>số</a:t>
            </a:r>
            <a:r>
              <a:rPr lang="en-GB" sz="2400" dirty="0" smtClean="0"/>
              <a:t> </a:t>
            </a:r>
            <a:r>
              <a:rPr lang="en-GB" sz="2400" dirty="0" err="1" smtClean="0"/>
              <a:t>ước</a:t>
            </a:r>
            <a:r>
              <a:rPr lang="en-GB" sz="2400" dirty="0" smtClean="0"/>
              <a:t> </a:t>
            </a:r>
            <a:r>
              <a:rPr lang="en-GB" sz="2400" dirty="0" err="1" smtClean="0"/>
              <a:t>lượng</a:t>
            </a:r>
            <a:r>
              <a:rPr lang="en-GB" sz="2400" dirty="0" smtClean="0"/>
              <a:t> </a:t>
            </a:r>
            <a:r>
              <a:rPr lang="en-GB" sz="2400" dirty="0" err="1" smtClean="0"/>
              <a:t>có</a:t>
            </a:r>
            <a:r>
              <a:rPr lang="en-GB" sz="2400" dirty="0" smtClean="0"/>
              <a:t> </a:t>
            </a:r>
            <a:r>
              <a:rPr lang="en-GB" sz="2400" dirty="0" err="1" smtClean="0"/>
              <a:t>được</a:t>
            </a:r>
            <a:r>
              <a:rPr lang="en-GB" sz="2400" dirty="0" smtClean="0"/>
              <a:t> </a:t>
            </a:r>
            <a:r>
              <a:rPr lang="en-GB" sz="2400" dirty="0" err="1" smtClean="0"/>
              <a:t>từ</a:t>
            </a:r>
            <a:r>
              <a:rPr lang="en-GB" sz="2400" dirty="0" smtClean="0"/>
              <a:t> </a:t>
            </a:r>
            <a:r>
              <a:rPr lang="en-GB" sz="2400" dirty="0" err="1" smtClean="0"/>
              <a:t>việc</a:t>
            </a:r>
            <a:r>
              <a:rPr lang="en-GB" sz="2400" dirty="0" smtClean="0"/>
              <a:t> </a:t>
            </a:r>
            <a:r>
              <a:rPr lang="en-GB" sz="2400" dirty="0" err="1" smtClean="0"/>
              <a:t>huấn</a:t>
            </a:r>
            <a:r>
              <a:rPr lang="en-GB" sz="2400" dirty="0" smtClean="0"/>
              <a:t> </a:t>
            </a:r>
            <a:r>
              <a:rPr lang="en-GB" sz="2400" dirty="0" err="1" smtClean="0"/>
              <a:t>luyện</a:t>
            </a:r>
            <a:r>
              <a:rPr lang="en-GB" sz="2400" dirty="0" smtClean="0"/>
              <a:t> </a:t>
            </a:r>
            <a:r>
              <a:rPr lang="en-GB" sz="2400" dirty="0" err="1" smtClean="0"/>
              <a:t>mô</a:t>
            </a:r>
            <a:r>
              <a:rPr lang="en-GB" sz="2400" dirty="0" smtClean="0"/>
              <a:t> </a:t>
            </a:r>
            <a:r>
              <a:rPr lang="en-GB" sz="2400" dirty="0" err="1" smtClean="0"/>
              <a:t>hình</a:t>
            </a:r>
            <a:endParaRPr lang="en-GB" sz="2400" dirty="0" smtClean="0"/>
          </a:p>
          <a:p>
            <a:endParaRPr lang="en-GB" sz="2400" dirty="0" smtClean="0"/>
          </a:p>
          <a:p>
            <a:endParaRPr lang="en-GB" sz="2400" dirty="0" smtClean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745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Linear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GB" sz="2400" dirty="0" smtClean="0"/>
              <a:t>Y = b</a:t>
            </a:r>
            <a:r>
              <a:rPr lang="en-GB" sz="2400" baseline="-25000" dirty="0" smtClean="0"/>
              <a:t>0</a:t>
            </a:r>
            <a:r>
              <a:rPr lang="en-GB" sz="2400" dirty="0" smtClean="0"/>
              <a:t> + b</a:t>
            </a:r>
            <a:r>
              <a:rPr lang="en-GB" sz="2400" baseline="-25000" dirty="0" smtClean="0"/>
              <a:t>1</a:t>
            </a:r>
            <a:r>
              <a:rPr lang="en-GB" sz="2400" dirty="0" smtClean="0"/>
              <a:t> * x</a:t>
            </a:r>
          </a:p>
          <a:p>
            <a:pPr marL="0" indent="0" algn="ctr">
              <a:buNone/>
            </a:pPr>
            <a:r>
              <a:rPr lang="en-GB" sz="2400" dirty="0" smtClean="0"/>
              <a:t>b</a:t>
            </a:r>
            <a:r>
              <a:rPr lang="en-GB" sz="2400" baseline="-25000" dirty="0"/>
              <a:t>1</a:t>
            </a:r>
            <a:r>
              <a:rPr lang="en-GB" sz="2400" dirty="0" smtClean="0"/>
              <a:t> = sum((x(</a:t>
            </a:r>
            <a:r>
              <a:rPr lang="en-GB" sz="2400" dirty="0" err="1" smtClean="0"/>
              <a:t>i</a:t>
            </a:r>
            <a:r>
              <a:rPr lang="en-GB" sz="2400" dirty="0" smtClean="0"/>
              <a:t>) – mean(x)) * (y(</a:t>
            </a:r>
            <a:r>
              <a:rPr lang="en-GB" sz="2400" dirty="0" err="1" smtClean="0"/>
              <a:t>i</a:t>
            </a:r>
            <a:r>
              <a:rPr lang="en-GB" sz="2400" dirty="0" smtClean="0"/>
              <a:t>) – mean(</a:t>
            </a:r>
            <a:r>
              <a:rPr lang="en-GB" sz="2400" dirty="0" err="1" smtClean="0"/>
              <a:t>i</a:t>
            </a:r>
            <a:r>
              <a:rPr lang="en-GB" sz="2400" dirty="0" smtClean="0"/>
              <a:t>))) / sum((x(</a:t>
            </a:r>
            <a:r>
              <a:rPr lang="en-GB" sz="2400" dirty="0" err="1" smtClean="0"/>
              <a:t>i</a:t>
            </a:r>
            <a:r>
              <a:rPr lang="en-GB" sz="2400" dirty="0" smtClean="0"/>
              <a:t>) – mean(x))</a:t>
            </a:r>
            <a:r>
              <a:rPr lang="en-GB" sz="2400" baseline="30000" dirty="0" smtClean="0"/>
              <a:t>2</a:t>
            </a:r>
            <a:r>
              <a:rPr lang="en-GB" sz="2400" dirty="0" smtClean="0"/>
              <a:t>)</a:t>
            </a:r>
          </a:p>
          <a:p>
            <a:pPr marL="0" indent="0" algn="ctr">
              <a:buNone/>
            </a:pPr>
            <a:r>
              <a:rPr lang="en-GB" sz="2400" dirty="0" smtClean="0"/>
              <a:t>b</a:t>
            </a:r>
            <a:r>
              <a:rPr lang="en-GB" sz="2400" baseline="-25000" dirty="0"/>
              <a:t>0</a:t>
            </a:r>
            <a:r>
              <a:rPr lang="en-GB" sz="2400" dirty="0" smtClean="0"/>
              <a:t> = mean(y)  - b</a:t>
            </a:r>
            <a:r>
              <a:rPr lang="en-GB" sz="2400" baseline="-25000" dirty="0" smtClean="0"/>
              <a:t>1</a:t>
            </a:r>
            <a:r>
              <a:rPr lang="en-GB" sz="2400" dirty="0" smtClean="0"/>
              <a:t> * mean(x)</a:t>
            </a:r>
          </a:p>
          <a:p>
            <a:r>
              <a:rPr lang="en-GB" sz="2400" dirty="0" smtClean="0"/>
              <a:t>VD: x</a:t>
            </a:r>
            <a:r>
              <a:rPr lang="en-GB" sz="2400" baseline="-25000" dirty="0" smtClean="0"/>
              <a:t>1  </a:t>
            </a:r>
            <a:r>
              <a:rPr lang="en-GB" sz="2400" dirty="0" smtClean="0"/>
              <a:t>= 150 (kg)</a:t>
            </a:r>
          </a:p>
          <a:p>
            <a:r>
              <a:rPr lang="en-GB" sz="2400" dirty="0" smtClean="0"/>
              <a:t>Mean(x) = 157.28</a:t>
            </a:r>
          </a:p>
          <a:p>
            <a:r>
              <a:rPr lang="en-GB" sz="2400" dirty="0" smtClean="0"/>
              <a:t>Mean(y) = 54.14</a:t>
            </a:r>
          </a:p>
          <a:p>
            <a:r>
              <a:rPr lang="en-GB" sz="2400" dirty="0" smtClean="0"/>
              <a:t>B</a:t>
            </a:r>
            <a:r>
              <a:rPr lang="en-GB" sz="2400" baseline="-25000" dirty="0" smtClean="0"/>
              <a:t>1</a:t>
            </a:r>
            <a:r>
              <a:rPr lang="en-GB" sz="2400" dirty="0" smtClean="0"/>
              <a:t> = 0.59, B</a:t>
            </a:r>
            <a:r>
              <a:rPr lang="en-GB" sz="2400" baseline="-25000" dirty="0" smtClean="0"/>
              <a:t>0</a:t>
            </a:r>
            <a:r>
              <a:rPr lang="en-GB" sz="2400" dirty="0" smtClean="0"/>
              <a:t> = -38.89, </a:t>
            </a:r>
          </a:p>
          <a:p>
            <a:r>
              <a:rPr lang="en-GB" sz="2400" dirty="0" smtClean="0"/>
              <a:t>Y = -38.89 + 0.59 * 150 = 49.83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572231"/>
            <a:ext cx="4038600" cy="253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11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Linear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0270" y="1385047"/>
            <a:ext cx="8158772" cy="3364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783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dirty="0" smtClean="0"/>
              <a:t>. Logistic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 err="1" smtClean="0"/>
              <a:t>Sử</a:t>
            </a:r>
            <a:r>
              <a:rPr lang="en-GB" sz="2400" dirty="0" smtClean="0"/>
              <a:t> </a:t>
            </a:r>
            <a:r>
              <a:rPr lang="en-GB" sz="2400" dirty="0" err="1" smtClean="0"/>
              <a:t>dụng</a:t>
            </a:r>
            <a:r>
              <a:rPr lang="en-GB" sz="2400" dirty="0" smtClean="0"/>
              <a:t> </a:t>
            </a:r>
            <a:r>
              <a:rPr lang="en-GB" sz="2400" dirty="0" err="1" smtClean="0"/>
              <a:t>nhiều</a:t>
            </a:r>
            <a:r>
              <a:rPr lang="en-GB" sz="2400" dirty="0" smtClean="0"/>
              <a:t> </a:t>
            </a:r>
            <a:r>
              <a:rPr lang="en-GB" sz="2400" dirty="0" err="1" smtClean="0"/>
              <a:t>trong</a:t>
            </a:r>
            <a:r>
              <a:rPr lang="en-GB" sz="2400" dirty="0" smtClean="0"/>
              <a:t> </a:t>
            </a:r>
            <a:r>
              <a:rPr lang="en-GB" sz="2400" dirty="0" err="1" smtClean="0"/>
              <a:t>bài</a:t>
            </a:r>
            <a:r>
              <a:rPr lang="en-GB" sz="2400" dirty="0" smtClean="0"/>
              <a:t> </a:t>
            </a:r>
            <a:r>
              <a:rPr lang="en-GB" sz="2400" dirty="0" err="1" smtClean="0"/>
              <a:t>toán</a:t>
            </a:r>
            <a:r>
              <a:rPr lang="en-GB" sz="2400" dirty="0" smtClean="0"/>
              <a:t> </a:t>
            </a:r>
            <a:r>
              <a:rPr lang="en-GB" sz="2400" dirty="0" err="1" smtClean="0"/>
              <a:t>phân</a:t>
            </a:r>
            <a:r>
              <a:rPr lang="en-GB" sz="2400" dirty="0" smtClean="0"/>
              <a:t> </a:t>
            </a:r>
            <a:r>
              <a:rPr lang="en-GB" sz="2400" dirty="0" err="1" smtClean="0"/>
              <a:t>lớp</a:t>
            </a:r>
            <a:endParaRPr lang="en-GB" sz="2400" dirty="0" smtClean="0"/>
          </a:p>
          <a:p>
            <a:r>
              <a:rPr lang="en-GB" sz="2400" dirty="0" err="1" smtClean="0"/>
              <a:t>Đầu</a:t>
            </a:r>
            <a:r>
              <a:rPr lang="en-GB" sz="2400" dirty="0" smtClean="0"/>
              <a:t> </a:t>
            </a:r>
            <a:r>
              <a:rPr lang="en-GB" sz="2400" dirty="0" err="1" smtClean="0"/>
              <a:t>ra</a:t>
            </a:r>
            <a:r>
              <a:rPr lang="en-GB" sz="2400" dirty="0"/>
              <a:t> (label) </a:t>
            </a:r>
            <a:r>
              <a:rPr lang="en-GB" sz="2400" dirty="0" err="1"/>
              <a:t>thường</a:t>
            </a:r>
            <a:r>
              <a:rPr lang="en-GB" sz="2400" dirty="0"/>
              <a:t> </a:t>
            </a:r>
            <a:r>
              <a:rPr lang="en-GB" sz="2400" dirty="0" err="1" smtClean="0"/>
              <a:t>là</a:t>
            </a:r>
            <a:r>
              <a:rPr lang="en-GB" sz="2400" dirty="0" smtClean="0"/>
              <a:t> </a:t>
            </a:r>
            <a:r>
              <a:rPr lang="en-GB" sz="2400" dirty="0" err="1" smtClean="0"/>
              <a:t>các</a:t>
            </a:r>
            <a:r>
              <a:rPr lang="en-GB" sz="2400" dirty="0" smtClean="0"/>
              <a:t> </a:t>
            </a:r>
            <a:r>
              <a:rPr lang="en-GB" sz="2400" dirty="0" err="1" smtClean="0"/>
              <a:t>số</a:t>
            </a:r>
            <a:r>
              <a:rPr lang="en-GB" sz="2400" dirty="0" smtClean="0"/>
              <a:t> </a:t>
            </a:r>
            <a:r>
              <a:rPr lang="en-GB" sz="2400" dirty="0" err="1" smtClean="0"/>
              <a:t>thực</a:t>
            </a:r>
            <a:r>
              <a:rPr lang="en-GB" sz="2400" dirty="0" smtClean="0"/>
              <a:t> </a:t>
            </a:r>
            <a:r>
              <a:rPr lang="en-GB" sz="2400" dirty="0" err="1" smtClean="0"/>
              <a:t>trong</a:t>
            </a:r>
            <a:r>
              <a:rPr lang="en-GB" sz="2400" dirty="0" smtClean="0"/>
              <a:t> (0, 1)</a:t>
            </a:r>
          </a:p>
          <a:p>
            <a:r>
              <a:rPr lang="en-GB" sz="2400" dirty="0" err="1" smtClean="0"/>
              <a:t>Thường</a:t>
            </a:r>
            <a:r>
              <a:rPr lang="en-GB" sz="2400" dirty="0" smtClean="0"/>
              <a:t> so </a:t>
            </a:r>
            <a:r>
              <a:rPr lang="en-GB" sz="2400" dirty="0" err="1" smtClean="0"/>
              <a:t>sánh</a:t>
            </a:r>
            <a:r>
              <a:rPr lang="en-GB" sz="2400" dirty="0" smtClean="0"/>
              <a:t> </a:t>
            </a:r>
            <a:r>
              <a:rPr lang="en-GB" sz="2400" dirty="0" err="1" smtClean="0"/>
              <a:t>với</a:t>
            </a:r>
            <a:r>
              <a:rPr lang="en-GB" sz="2400" dirty="0" smtClean="0"/>
              <a:t> </a:t>
            </a:r>
            <a:r>
              <a:rPr lang="en-GB" sz="2400" dirty="0" err="1" smtClean="0"/>
              <a:t>ngưỡng</a:t>
            </a:r>
            <a:r>
              <a:rPr lang="en-GB" sz="2400" dirty="0" smtClean="0"/>
              <a:t> 0.5 </a:t>
            </a:r>
            <a:r>
              <a:rPr lang="en-GB" sz="2400" dirty="0" err="1" smtClean="0"/>
              <a:t>để</a:t>
            </a:r>
            <a:r>
              <a:rPr lang="en-GB" sz="2400" dirty="0" smtClean="0"/>
              <a:t> </a:t>
            </a:r>
            <a:r>
              <a:rPr lang="en-GB" sz="2400" dirty="0" err="1" smtClean="0"/>
              <a:t>quyết</a:t>
            </a:r>
            <a:r>
              <a:rPr lang="en-GB" sz="2400" dirty="0" smtClean="0"/>
              <a:t> </a:t>
            </a:r>
            <a:r>
              <a:rPr lang="en-GB" sz="2400" dirty="0" err="1" smtClean="0"/>
              <a:t>định</a:t>
            </a:r>
            <a:r>
              <a:rPr lang="en-GB" sz="2400" dirty="0" smtClean="0"/>
              <a:t> </a:t>
            </a:r>
            <a:r>
              <a:rPr lang="en-GB" sz="2400" dirty="0" err="1" smtClean="0"/>
              <a:t>biến</a:t>
            </a:r>
            <a:r>
              <a:rPr lang="en-GB" sz="2400" dirty="0" smtClean="0"/>
              <a:t> x </a:t>
            </a:r>
            <a:r>
              <a:rPr lang="en-GB" sz="2400" dirty="0" err="1" smtClean="0"/>
              <a:t>thuộc</a:t>
            </a:r>
            <a:r>
              <a:rPr lang="en-GB" sz="2400" dirty="0" smtClean="0"/>
              <a:t> </a:t>
            </a:r>
            <a:r>
              <a:rPr lang="en-GB" sz="2400" dirty="0" err="1" smtClean="0"/>
              <a:t>về</a:t>
            </a:r>
            <a:r>
              <a:rPr lang="en-GB" sz="2400" dirty="0" smtClean="0"/>
              <a:t> label 0 hay 1</a:t>
            </a:r>
          </a:p>
          <a:p>
            <a:endParaRPr lang="en-GB" sz="2400" dirty="0" smtClean="0"/>
          </a:p>
          <a:p>
            <a:endParaRPr lang="en-GB" sz="2400" dirty="0" smtClean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2401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dirty="0" smtClean="0"/>
              <a:t>. Logistic Regression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GB" sz="2400" dirty="0" smtClean="0"/>
          </a:p>
          <a:p>
            <a:endParaRPr lang="en-GB" sz="2400" dirty="0" smtClean="0"/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38" y="1223682"/>
            <a:ext cx="8953056" cy="49532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1691" y="5643562"/>
            <a:ext cx="4069338" cy="694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144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Decision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28600" lvl="1"/>
            <a:r>
              <a:rPr lang="vi-VN" dirty="0" smtClean="0"/>
              <a:t>Cây </a:t>
            </a:r>
            <a:r>
              <a:rPr lang="vi-VN" dirty="0"/>
              <a:t>quyết định là giải thuật dùng cho các tác vụ dự báo và phân lớp. </a:t>
            </a:r>
            <a:endParaRPr lang="en-GB" dirty="0" smtClean="0"/>
          </a:p>
          <a:p>
            <a:pPr marL="228600" lvl="1"/>
            <a:r>
              <a:rPr lang="vi-VN" dirty="0" smtClean="0"/>
              <a:t>Giải </a:t>
            </a:r>
            <a:r>
              <a:rPr lang="vi-VN" dirty="0"/>
              <a:t>thuật có cấu trúc tựa </a:t>
            </a:r>
            <a:r>
              <a:rPr lang="vi-VN" dirty="0" smtClean="0"/>
              <a:t>cây,</a:t>
            </a:r>
            <a:r>
              <a:rPr lang="en-GB" dirty="0" smtClean="0"/>
              <a:t> </a:t>
            </a:r>
            <a:r>
              <a:rPr lang="vi-VN" dirty="0" smtClean="0"/>
              <a:t>trong </a:t>
            </a:r>
            <a:r>
              <a:rPr lang="vi-VN" dirty="0"/>
              <a:t>đó mỗi node trong (internal node) biểu diễn một thuộc tính của dòng dữ liệu đang kiểm tra. </a:t>
            </a:r>
            <a:endParaRPr lang="en-GB" dirty="0" smtClean="0"/>
          </a:p>
          <a:p>
            <a:pPr marL="228600" lvl="1"/>
            <a:r>
              <a:rPr lang="vi-VN" dirty="0" smtClean="0"/>
              <a:t>Mỗi</a:t>
            </a:r>
            <a:r>
              <a:rPr lang="en-GB" dirty="0" smtClean="0"/>
              <a:t> </a:t>
            </a:r>
            <a:r>
              <a:rPr lang="vi-VN" dirty="0" smtClean="0"/>
              <a:t>nhánh </a:t>
            </a:r>
            <a:r>
              <a:rPr lang="vi-VN" dirty="0"/>
              <a:t>biểu diễn đầu ra của dòng dữ liệu đang kiểm tra. </a:t>
            </a:r>
            <a:endParaRPr lang="en-GB" dirty="0" smtClean="0"/>
          </a:p>
          <a:p>
            <a:pPr marL="228600" lvl="1"/>
            <a:r>
              <a:rPr lang="vi-VN" dirty="0" smtClean="0"/>
              <a:t>Node </a:t>
            </a:r>
            <a:r>
              <a:rPr lang="vi-VN" dirty="0"/>
              <a:t>lá (terminal node) lưu giữ nhãn của </a:t>
            </a:r>
            <a:r>
              <a:rPr lang="vi-VN" dirty="0" smtClean="0"/>
              <a:t>dòng</a:t>
            </a:r>
            <a:r>
              <a:rPr lang="en-GB" dirty="0" smtClean="0"/>
              <a:t> </a:t>
            </a:r>
            <a:r>
              <a:rPr lang="vi-VN" dirty="0" smtClean="0"/>
              <a:t>dữ </a:t>
            </a:r>
            <a:r>
              <a:rPr lang="vi-VN" dirty="0"/>
              <a:t>liệu.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83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Decision Tree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7332" y="1384300"/>
            <a:ext cx="8917336" cy="479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465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Decision Tree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6608" y="1384300"/>
            <a:ext cx="8698783" cy="479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44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Decision Tree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549" y="1392846"/>
            <a:ext cx="6132614" cy="37277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03349" y="1504059"/>
            <a:ext cx="5093293" cy="3616550"/>
          </a:xfrm>
          <a:prstGeom prst="rect">
            <a:avLst/>
          </a:prstGeom>
          <a:noFill/>
          <a:ln>
            <a:solidFill>
              <a:srgbClr val="2C3E5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828" y="1658064"/>
            <a:ext cx="4012963" cy="102188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479" y="2960329"/>
            <a:ext cx="4854977" cy="2092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924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Decision Tree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549" y="1392846"/>
            <a:ext cx="6132614" cy="372776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03349" y="1504059"/>
            <a:ext cx="5093293" cy="3693319"/>
          </a:xfrm>
          <a:prstGeom prst="rect">
            <a:avLst/>
          </a:prstGeom>
          <a:noFill/>
          <a:ln>
            <a:solidFill>
              <a:srgbClr val="2C3E50"/>
            </a:solidFill>
          </a:ln>
        </p:spPr>
        <p:txBody>
          <a:bodyPr wrap="square" rtlCol="0">
            <a:spAutoFit/>
          </a:bodyPr>
          <a:lstStyle/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r>
              <a:rPr lang="en-GB" dirty="0" smtClean="0"/>
              <a:t>X = Played football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2828" y="1658064"/>
            <a:ext cx="4012963" cy="10218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715" y="3579029"/>
            <a:ext cx="4965023" cy="386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197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Decision Tree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7921" y="1223682"/>
            <a:ext cx="6132614" cy="372776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80" y="5110118"/>
            <a:ext cx="10850440" cy="47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392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71" y="0"/>
            <a:ext cx="6132614" cy="372776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929" y="3831682"/>
            <a:ext cx="8157004" cy="255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04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71" y="0"/>
            <a:ext cx="6132614" cy="372776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672" y="3725630"/>
            <a:ext cx="8788503" cy="264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4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71" y="0"/>
            <a:ext cx="6132614" cy="372776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604" y="3743582"/>
            <a:ext cx="8116946" cy="266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446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4709" y="367469"/>
            <a:ext cx="6132614" cy="372776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07" y="4667086"/>
            <a:ext cx="11663362" cy="645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846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4709" y="367469"/>
            <a:ext cx="6132614" cy="372776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637" y="4095232"/>
            <a:ext cx="6640757" cy="225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689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4709" y="367469"/>
            <a:ext cx="6132614" cy="372776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637" y="4095232"/>
            <a:ext cx="6640757" cy="225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137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Quora vs. Wikipedia – Q&amp;A not effective in Social Media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856" y="1236757"/>
            <a:ext cx="5037756" cy="4385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808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750" advClick="0">
        <p14:doors dir="vert"/>
      </p:transition>
    </mc:Choice>
    <mc:Fallback xmlns="">
      <p:transition spd="slow" advClick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  <p:tag name="ISPRING_FIRST_PUBLISH" val="1"/>
</p:tagLst>
</file>

<file path=ppt/theme/theme1.xml><?xml version="1.0" encoding="utf-8"?>
<a:theme xmlns:a="http://schemas.openxmlformats.org/drawingml/2006/main" name="包图主题2">
  <a:themeElements>
    <a:clrScheme name="自定义 19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DF213B"/>
      </a:accent1>
      <a:accent2>
        <a:srgbClr val="595959"/>
      </a:accent2>
      <a:accent3>
        <a:srgbClr val="DF213B"/>
      </a:accent3>
      <a:accent4>
        <a:srgbClr val="595959"/>
      </a:accent4>
      <a:accent5>
        <a:srgbClr val="DF213B"/>
      </a:accent5>
      <a:accent6>
        <a:srgbClr val="595959"/>
      </a:accent6>
      <a:hlink>
        <a:srgbClr val="DF213B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包图主题2" id="{50CFA792-C506-47E4-B272-6A6183483AB3}" vid="{CC1AE437-2F7F-4319-9F22-408F5F8C346F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3FFEA69D462A8489DC53120FA1A5AC4" ma:contentTypeVersion="10" ma:contentTypeDescription="Create a new document." ma:contentTypeScope="" ma:versionID="65153b35747b693194d89cdcdb3aa034">
  <xsd:schema xmlns:xsd="http://www.w3.org/2001/XMLSchema" xmlns:xs="http://www.w3.org/2001/XMLSchema" xmlns:p="http://schemas.microsoft.com/office/2006/metadata/properties" xmlns:ns2="880cd698-c4b2-49e1-962a-9df8954da891" xmlns:ns3="5b1d5ade-89ff-4f2a-a121-12e764170acd" targetNamespace="http://schemas.microsoft.com/office/2006/metadata/properties" ma:root="true" ma:fieldsID="6c9e15969a1c30fb368d38c88c6feda5" ns2:_="" ns3:_="">
    <xsd:import namespace="880cd698-c4b2-49e1-962a-9df8954da891"/>
    <xsd:import namespace="5b1d5ade-89ff-4f2a-a121-12e764170a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0cd698-c4b2-49e1-962a-9df8954da8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1d5ade-89ff-4f2a-a121-12e764170ac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5F46CE2-98CE-4FAB-8B65-B5DB3D0088A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9F93DB-8BAE-4DA9-A642-50120CB0C3B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80cd698-c4b2-49e1-962a-9df8954da891"/>
    <ds:schemaRef ds:uri="5b1d5ade-89ff-4f2a-a121-12e764170ac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43E23DE-AB27-4D82-8C31-D22132BF5B58}">
  <ds:schemaRefs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5b1d5ade-89ff-4f2a-a121-12e764170acd"/>
    <ds:schemaRef ds:uri="http://www.w3.org/XML/1998/namespace"/>
    <ds:schemaRef ds:uri="http://schemas.microsoft.com/office/2006/metadata/properties"/>
    <ds:schemaRef ds:uri="880cd698-c4b2-49e1-962a-9df8954da891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包图主题2</Template>
  <TotalTime>7396</TotalTime>
  <Words>1136</Words>
  <Application>Microsoft Office PowerPoint</Application>
  <PresentationFormat>Widescreen</PresentationFormat>
  <Paragraphs>187</Paragraphs>
  <Slides>54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54</vt:i4>
      </vt:variant>
    </vt:vector>
  </HeadingPairs>
  <TitlesOfParts>
    <vt:vector size="65" baseType="lpstr">
      <vt:lpstr>微软雅黑</vt:lpstr>
      <vt:lpstr>Arial</vt:lpstr>
      <vt:lpstr>Calibri</vt:lpstr>
      <vt:lpstr>Calibri Light</vt:lpstr>
      <vt:lpstr>Cambria</vt:lpstr>
      <vt:lpstr>等线</vt:lpstr>
      <vt:lpstr>Tahoma</vt:lpstr>
      <vt:lpstr>Wingdings</vt:lpstr>
      <vt:lpstr>经典综艺体简</vt:lpstr>
      <vt:lpstr>包图主题2</vt:lpstr>
      <vt:lpstr>Custom Design</vt:lpstr>
      <vt:lpstr>PowerPoint Presentation</vt:lpstr>
      <vt:lpstr>PowerPoint Presentation</vt:lpstr>
      <vt:lpstr>Giới thiệu SPARK MLLib</vt:lpstr>
      <vt:lpstr>Giới thiệu SPARK MLLib</vt:lpstr>
      <vt:lpstr>Giới thiệu SPARK MLLib</vt:lpstr>
      <vt:lpstr>Giới thiệu SPARK MLLib</vt:lpstr>
      <vt:lpstr>Giới thiệu SPARK MLLib</vt:lpstr>
      <vt:lpstr>Giới thiệu SPARK MLLib</vt:lpstr>
      <vt:lpstr>Các loại Machine Learning</vt:lpstr>
      <vt:lpstr>Các loại Machine Learning</vt:lpstr>
      <vt:lpstr>Các loại Machine Learning</vt:lpstr>
      <vt:lpstr>Các loại Machine Learning</vt:lpstr>
      <vt:lpstr>Các loại Machine Learning</vt:lpstr>
      <vt:lpstr>Quá trình Machine Learning</vt:lpstr>
      <vt:lpstr>Spark Machine Learning Library</vt:lpstr>
      <vt:lpstr>Spark Machine Learning Library</vt:lpstr>
      <vt:lpstr>Spark Machine Learning Transformer</vt:lpstr>
      <vt:lpstr>Spark Machine Learning Transformer</vt:lpstr>
      <vt:lpstr>Spark Machine Learning Transformer</vt:lpstr>
      <vt:lpstr>Spark Machine Learning Transformer</vt:lpstr>
      <vt:lpstr>Spark Machine Learning Transformer</vt:lpstr>
      <vt:lpstr>Spark Machine Learning Transformer</vt:lpstr>
      <vt:lpstr>Spark Machine Learning Transformer</vt:lpstr>
      <vt:lpstr>Spark Machine Learning Transformer</vt:lpstr>
      <vt:lpstr>Spark Machine Learning Transformer</vt:lpstr>
      <vt:lpstr>Spark Machine Learning Transformer</vt:lpstr>
      <vt:lpstr>Spark Machine Learning Transformer</vt:lpstr>
      <vt:lpstr>Spark Machine Learning Transformer</vt:lpstr>
      <vt:lpstr>Spark Machine Learning Transformer</vt:lpstr>
      <vt:lpstr>Spark Machine Learning Transformer</vt:lpstr>
      <vt:lpstr>Spark Machine Learning Estimator</vt:lpstr>
      <vt:lpstr>Spark Machine Learning Estimator</vt:lpstr>
      <vt:lpstr>Spark Machine Learning Estimator</vt:lpstr>
      <vt:lpstr>Bài tập </vt:lpstr>
      <vt:lpstr>Bài tập </vt:lpstr>
      <vt:lpstr>1. Linear regression</vt:lpstr>
      <vt:lpstr>1. Linear regression</vt:lpstr>
      <vt:lpstr>1. Linear regression</vt:lpstr>
      <vt:lpstr>1. Linear regression</vt:lpstr>
      <vt:lpstr>2. Logistic Regression</vt:lpstr>
      <vt:lpstr>2. Logistic Regression</vt:lpstr>
      <vt:lpstr>3. Decision Tree</vt:lpstr>
      <vt:lpstr>3. Decision Tree</vt:lpstr>
      <vt:lpstr>3. Decision Tree</vt:lpstr>
      <vt:lpstr>3. Decision Tree</vt:lpstr>
      <vt:lpstr>3. Decision Tree</vt:lpstr>
      <vt:lpstr>3. Decision Tree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逆流的小鱼</dc:creator>
  <cp:lastModifiedBy>Phan Hồ Viết Trường - Khoa Công nghệ Thông tin - VLTECH</cp:lastModifiedBy>
  <cp:revision>1356</cp:revision>
  <dcterms:created xsi:type="dcterms:W3CDTF">2017-09-22T08:16:39Z</dcterms:created>
  <dcterms:modified xsi:type="dcterms:W3CDTF">2024-02-16T14:18:33Z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0x010100B3FFEA69D462A8489DC53120FA1A5AC4</vt:lpwstr>
  </property>
</Properties>
</file>